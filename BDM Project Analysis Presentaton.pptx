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handoutMasterIdLst>
    <p:handoutMasterId r:id="rId16"/>
  </p:handoutMasterIdLst>
  <p:sldIdLst>
    <p:sldId id="256" r:id="rId5"/>
    <p:sldId id="288" r:id="rId6"/>
    <p:sldId id="289" r:id="rId7"/>
    <p:sldId id="290" r:id="rId8"/>
    <p:sldId id="297" r:id="rId9"/>
    <p:sldId id="294" r:id="rId10"/>
    <p:sldId id="295" r:id="rId11"/>
    <p:sldId id="296" r:id="rId12"/>
    <p:sldId id="298" r:id="rId13"/>
    <p:sldId id="29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52" autoAdjust="0"/>
  </p:normalViewPr>
  <p:slideViewPr>
    <p:cSldViewPr snapToGrid="0" showGuides="1">
      <p:cViewPr varScale="1">
        <p:scale>
          <a:sx n="108" d="100"/>
          <a:sy n="108" d="100"/>
        </p:scale>
        <p:origin x="630" y="78"/>
      </p:cViewPr>
      <p:guideLst>
        <p:guide orient="horz" pos="2328"/>
        <p:guide pos="3864"/>
        <p:guide pos="7512"/>
        <p:guide pos="144"/>
        <p:guide orient="horz" pos="624"/>
        <p:guide orient="horz" pos="4056"/>
      </p:guideLst>
    </p:cSldViewPr>
  </p:slideViewPr>
  <p:notesTextViewPr>
    <p:cViewPr>
      <p:scale>
        <a:sx n="3" d="2"/>
        <a:sy n="3" d="2"/>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8/26/2025</a:t>
            </a:fld>
            <a:endParaRPr lang="en-US" dirty="0"/>
          </a:p>
        </p:txBody>
      </p:sp>
      <p:sp>
        <p:nvSpPr>
          <p:cNvPr id="4" name="Footer Placeholder 3">
            <a:extLst>
              <a:ext uri="{FF2B5EF4-FFF2-40B4-BE49-F238E27FC236}">
                <a16:creationId xmlns:a16="http://schemas.microsoft.com/office/drawing/2014/main"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8/26/2025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extLst>
      <p:ext uri="{BB962C8B-B14F-4D97-AF65-F5344CB8AC3E}">
        <p14:creationId xmlns:p14="http://schemas.microsoft.com/office/powerpoint/2010/main" val="1773527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58CE7-DDEB-4EC6-B417-6DE8CB5CC7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271A54-B176-10ED-622D-B4E6B57FB2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D782DB-640D-FD2F-599F-ECDDF32BC9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00AA82-5682-D954-4D75-A3E39ED8763B}"/>
              </a:ext>
            </a:extLst>
          </p:cNvPr>
          <p:cNvSpPr>
            <a:spLocks noGrp="1"/>
          </p:cNvSpPr>
          <p:nvPr>
            <p:ph type="sldNum" sz="quarter" idx="5"/>
          </p:nvPr>
        </p:nvSpPr>
        <p:spPr/>
        <p:txBody>
          <a:bodyPr/>
          <a:lstStyle/>
          <a:p>
            <a:fld id="{BE60DC36-8EFA-4378-9855-E019C55AC472}" type="slidenum">
              <a:rPr lang="en-US" smtClean="0"/>
              <a:t>3</a:t>
            </a:fld>
            <a:endParaRPr lang="en-US" dirty="0"/>
          </a:p>
        </p:txBody>
      </p:sp>
    </p:spTree>
    <p:extLst>
      <p:ext uri="{BB962C8B-B14F-4D97-AF65-F5344CB8AC3E}">
        <p14:creationId xmlns:p14="http://schemas.microsoft.com/office/powerpoint/2010/main" val="9331627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7CB11-630C-ABDB-7C1C-1D648E362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DEA34C-E1F9-CD54-A0EC-81EDACFFAD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9345B3-9940-F5BC-A232-1BA691558D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A812D3-233A-98C2-F29F-EBC27CD66F63}"/>
              </a:ext>
            </a:extLst>
          </p:cNvPr>
          <p:cNvSpPr>
            <a:spLocks noGrp="1"/>
          </p:cNvSpPr>
          <p:nvPr>
            <p:ph type="sldNum" sz="quarter" idx="5"/>
          </p:nvPr>
        </p:nvSpPr>
        <p:spPr/>
        <p:txBody>
          <a:bodyPr/>
          <a:lstStyle/>
          <a:p>
            <a:fld id="{BE60DC36-8EFA-4378-9855-E019C55AC472}" type="slidenum">
              <a:rPr lang="en-US" smtClean="0"/>
              <a:t>4</a:t>
            </a:fld>
            <a:endParaRPr lang="en-US" dirty="0"/>
          </a:p>
        </p:txBody>
      </p:sp>
    </p:spTree>
    <p:extLst>
      <p:ext uri="{BB962C8B-B14F-4D97-AF65-F5344CB8AC3E}">
        <p14:creationId xmlns:p14="http://schemas.microsoft.com/office/powerpoint/2010/main" val="142000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F0C59-3CC7-E511-2879-322C3E90FA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FBAF2D-5DB8-5723-C265-4C4F0914BC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C3B288-AC9D-D2C5-B3F7-0E529B215C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559D79-9AE8-30D1-4163-BF6B0CDE307D}"/>
              </a:ext>
            </a:extLst>
          </p:cNvPr>
          <p:cNvSpPr>
            <a:spLocks noGrp="1"/>
          </p:cNvSpPr>
          <p:nvPr>
            <p:ph type="sldNum" sz="quarter" idx="5"/>
          </p:nvPr>
        </p:nvSpPr>
        <p:spPr/>
        <p:txBody>
          <a:bodyPr/>
          <a:lstStyle/>
          <a:p>
            <a:fld id="{BE60DC36-8EFA-4378-9855-E019C55AC472}" type="slidenum">
              <a:rPr lang="en-US" smtClean="0"/>
              <a:t>5</a:t>
            </a:fld>
            <a:endParaRPr lang="en-US" dirty="0"/>
          </a:p>
        </p:txBody>
      </p:sp>
    </p:spTree>
    <p:extLst>
      <p:ext uri="{BB962C8B-B14F-4D97-AF65-F5344CB8AC3E}">
        <p14:creationId xmlns:p14="http://schemas.microsoft.com/office/powerpoint/2010/main" val="3051966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753F0-463D-9115-3008-100A3A3A90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BE3A1A-5685-9967-2B23-EE73677449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7CDC53-395F-1C0A-1324-16098A9E18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C94275-ACC8-461E-1358-7E5592402E98}"/>
              </a:ext>
            </a:extLst>
          </p:cNvPr>
          <p:cNvSpPr>
            <a:spLocks noGrp="1"/>
          </p:cNvSpPr>
          <p:nvPr>
            <p:ph type="sldNum" sz="quarter" idx="5"/>
          </p:nvPr>
        </p:nvSpPr>
        <p:spPr/>
        <p:txBody>
          <a:bodyPr/>
          <a:lstStyle/>
          <a:p>
            <a:fld id="{BE60DC36-8EFA-4378-9855-E019C55AC472}" type="slidenum">
              <a:rPr lang="en-US" smtClean="0"/>
              <a:t>6</a:t>
            </a:fld>
            <a:endParaRPr lang="en-US" dirty="0"/>
          </a:p>
        </p:txBody>
      </p:sp>
    </p:spTree>
    <p:extLst>
      <p:ext uri="{BB962C8B-B14F-4D97-AF65-F5344CB8AC3E}">
        <p14:creationId xmlns:p14="http://schemas.microsoft.com/office/powerpoint/2010/main" val="23884396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CB266-22FE-3CB7-149A-6A34FBCF8F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FD03B8-E489-CDAF-C7DF-C687DE2546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268932-C5ED-1332-8CF5-62A6A87279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A29305-77E5-DA4C-4515-336389DBDE51}"/>
              </a:ext>
            </a:extLst>
          </p:cNvPr>
          <p:cNvSpPr>
            <a:spLocks noGrp="1"/>
          </p:cNvSpPr>
          <p:nvPr>
            <p:ph type="sldNum" sz="quarter" idx="5"/>
          </p:nvPr>
        </p:nvSpPr>
        <p:spPr/>
        <p:txBody>
          <a:bodyPr/>
          <a:lstStyle/>
          <a:p>
            <a:fld id="{BE60DC36-8EFA-4378-9855-E019C55AC472}" type="slidenum">
              <a:rPr lang="en-US" smtClean="0"/>
              <a:t>7</a:t>
            </a:fld>
            <a:endParaRPr lang="en-US" dirty="0"/>
          </a:p>
        </p:txBody>
      </p:sp>
    </p:spTree>
    <p:extLst>
      <p:ext uri="{BB962C8B-B14F-4D97-AF65-F5344CB8AC3E}">
        <p14:creationId xmlns:p14="http://schemas.microsoft.com/office/powerpoint/2010/main" val="13569363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5E881-68B2-6739-AF99-346FBDFA2F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3DF51C-50E9-C2D9-369B-FAC3561683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A78E49-FD00-7CC0-8972-5E0FE92420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3E0038-0FE8-C970-D32F-35A944DDFF78}"/>
              </a:ext>
            </a:extLst>
          </p:cNvPr>
          <p:cNvSpPr>
            <a:spLocks noGrp="1"/>
          </p:cNvSpPr>
          <p:nvPr>
            <p:ph type="sldNum" sz="quarter" idx="5"/>
          </p:nvPr>
        </p:nvSpPr>
        <p:spPr/>
        <p:txBody>
          <a:bodyPr/>
          <a:lstStyle/>
          <a:p>
            <a:fld id="{BE60DC36-8EFA-4378-9855-E019C55AC472}" type="slidenum">
              <a:rPr lang="en-US" smtClean="0"/>
              <a:t>8</a:t>
            </a:fld>
            <a:endParaRPr lang="en-US" dirty="0"/>
          </a:p>
        </p:txBody>
      </p:sp>
    </p:spTree>
    <p:extLst>
      <p:ext uri="{BB962C8B-B14F-4D97-AF65-F5344CB8AC3E}">
        <p14:creationId xmlns:p14="http://schemas.microsoft.com/office/powerpoint/2010/main" val="29828190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DA3C6-5CFB-9ED9-ED2A-38A905A6C7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FD27B5-4BC7-923F-B053-B132CF7E8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562770-F504-3C1F-8C2A-F6B0B5EE86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188C99-17C0-C17F-E9FD-C5C78B5A8504}"/>
              </a:ext>
            </a:extLst>
          </p:cNvPr>
          <p:cNvSpPr>
            <a:spLocks noGrp="1"/>
          </p:cNvSpPr>
          <p:nvPr>
            <p:ph type="sldNum" sz="quarter" idx="5"/>
          </p:nvPr>
        </p:nvSpPr>
        <p:spPr/>
        <p:txBody>
          <a:bodyPr/>
          <a:lstStyle/>
          <a:p>
            <a:fld id="{BE60DC36-8EFA-4378-9855-E019C55AC472}" type="slidenum">
              <a:rPr lang="en-US" smtClean="0"/>
              <a:t>9</a:t>
            </a:fld>
            <a:endParaRPr lang="en-US" dirty="0"/>
          </a:p>
        </p:txBody>
      </p:sp>
    </p:spTree>
    <p:extLst>
      <p:ext uri="{BB962C8B-B14F-4D97-AF65-F5344CB8AC3E}">
        <p14:creationId xmlns:p14="http://schemas.microsoft.com/office/powerpoint/2010/main" val="18450723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45D2C-4173-3878-E1F5-7E406CBA20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50B631-DA81-40EC-1220-393AA14FE9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C05B75-0088-1A87-7288-36872A52EF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929F42-09B3-0351-D65B-E55FC5CBBD5F}"/>
              </a:ext>
            </a:extLst>
          </p:cNvPr>
          <p:cNvSpPr>
            <a:spLocks noGrp="1"/>
          </p:cNvSpPr>
          <p:nvPr>
            <p:ph type="sldNum" sz="quarter" idx="5"/>
          </p:nvPr>
        </p:nvSpPr>
        <p:spPr/>
        <p:txBody>
          <a:bodyPr/>
          <a:lstStyle/>
          <a:p>
            <a:fld id="{BE60DC36-8EFA-4378-9855-E019C55AC472}" type="slidenum">
              <a:rPr lang="en-US" smtClean="0"/>
              <a:t>10</a:t>
            </a:fld>
            <a:endParaRPr lang="en-US" dirty="0"/>
          </a:p>
        </p:txBody>
      </p:sp>
    </p:spTree>
    <p:extLst>
      <p:ext uri="{BB962C8B-B14F-4D97-AF65-F5344CB8AC3E}">
        <p14:creationId xmlns:p14="http://schemas.microsoft.com/office/powerpoint/2010/main" val="7387358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F864C-44C4-4000-952D-01F31BFB3F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392E06-C914-467E-9D4F-BD763EDA2D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BEFBAF-82E9-49AD-B2CF-7D154E024431}"/>
              </a:ext>
            </a:extLst>
          </p:cNvPr>
          <p:cNvSpPr>
            <a:spLocks noGrp="1"/>
          </p:cNvSpPr>
          <p:nvPr>
            <p:ph type="dt" sz="half" idx="10"/>
          </p:nvPr>
        </p:nvSpPr>
        <p:spPr/>
        <p:txBody>
          <a:bodyPr/>
          <a:lstStyle/>
          <a:p>
            <a:fld id="{CBC4F04E-7777-46DF-BD3E-7F2FFD214362}" type="datetime1">
              <a:rPr lang="en-US" smtClean="0"/>
              <a:t>8/26/2025</a:t>
            </a:fld>
            <a:endParaRPr lang="en-US" dirty="0"/>
          </a:p>
        </p:txBody>
      </p:sp>
      <p:sp>
        <p:nvSpPr>
          <p:cNvPr id="5" name="Footer Placeholder 4">
            <a:extLst>
              <a:ext uri="{FF2B5EF4-FFF2-40B4-BE49-F238E27FC236}">
                <a16:creationId xmlns:a16="http://schemas.microsoft.com/office/drawing/2014/main" id="{5AD8006A-94B1-44F7-972D-56767EDE3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E7BFAB-D84B-45E1-A0BD-2516AC14F8AC}"/>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8564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07FBE-061D-452C-A8A6-213063CFD6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3A3535-1708-499D-B5D2-7D8F9FD182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B06063-A112-49AB-80C8-504D99ECD771}"/>
              </a:ext>
            </a:extLst>
          </p:cNvPr>
          <p:cNvSpPr>
            <a:spLocks noGrp="1"/>
          </p:cNvSpPr>
          <p:nvPr>
            <p:ph type="dt" sz="half" idx="10"/>
          </p:nvPr>
        </p:nvSpPr>
        <p:spPr/>
        <p:txBody>
          <a:bodyPr/>
          <a:lstStyle/>
          <a:p>
            <a:fld id="{8CB3E78B-ECE4-439C-87E9-E1B624CF21DC}" type="datetime1">
              <a:rPr lang="en-US" smtClean="0"/>
              <a:t>8/26/2025</a:t>
            </a:fld>
            <a:endParaRPr lang="en-US" dirty="0"/>
          </a:p>
        </p:txBody>
      </p:sp>
      <p:sp>
        <p:nvSpPr>
          <p:cNvPr id="5" name="Footer Placeholder 4">
            <a:extLst>
              <a:ext uri="{FF2B5EF4-FFF2-40B4-BE49-F238E27FC236}">
                <a16:creationId xmlns:a16="http://schemas.microsoft.com/office/drawing/2014/main" id="{6344C8D5-F898-4318-A76D-1FBD8732919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976EC76-E8E8-4FFA-B671-7FA2F3EF5DE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789287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2CABF-E3C1-431A-A69C-D4881CC43F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584226-69DA-4211-B2C8-C29FD05A4A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FF82DB-B518-40FD-8A66-44B874C055FB}"/>
              </a:ext>
            </a:extLst>
          </p:cNvPr>
          <p:cNvSpPr>
            <a:spLocks noGrp="1"/>
          </p:cNvSpPr>
          <p:nvPr>
            <p:ph type="dt" sz="half" idx="10"/>
          </p:nvPr>
        </p:nvSpPr>
        <p:spPr/>
        <p:txBody>
          <a:bodyPr/>
          <a:lstStyle/>
          <a:p>
            <a:fld id="{276208C0-A6C5-40C8-8678-F7CE3A0B7B5A}" type="datetime1">
              <a:rPr lang="en-US" smtClean="0"/>
              <a:t>8/26/2025</a:t>
            </a:fld>
            <a:endParaRPr lang="en-US" dirty="0"/>
          </a:p>
        </p:txBody>
      </p:sp>
      <p:sp>
        <p:nvSpPr>
          <p:cNvPr id="5" name="Footer Placeholder 4">
            <a:extLst>
              <a:ext uri="{FF2B5EF4-FFF2-40B4-BE49-F238E27FC236}">
                <a16:creationId xmlns:a16="http://schemas.microsoft.com/office/drawing/2014/main" id="{FCC1CCEE-725F-4745-837B-87EFB70E71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561522A-E0E6-406B-BF30-A7C7A57294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230041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C9BDC-6F21-4EF5-A8DD-E35E27EACA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968D5F-2AB6-42D3-A54E-AB3E603251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65AB07F-D5F7-402A-AE4E-027BF1CA91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108EDC-3863-43B9-93C7-37465DC73B28}"/>
              </a:ext>
            </a:extLst>
          </p:cNvPr>
          <p:cNvSpPr>
            <a:spLocks noGrp="1"/>
          </p:cNvSpPr>
          <p:nvPr>
            <p:ph type="dt" sz="half" idx="10"/>
          </p:nvPr>
        </p:nvSpPr>
        <p:spPr/>
        <p:txBody>
          <a:bodyPr/>
          <a:lstStyle/>
          <a:p>
            <a:fld id="{B4A5F116-6E64-46DF-AC41-AEC0C8DDD1FC}" type="datetime1">
              <a:rPr lang="en-US" smtClean="0"/>
              <a:t>8/26/2025</a:t>
            </a:fld>
            <a:endParaRPr lang="en-US" dirty="0"/>
          </a:p>
        </p:txBody>
      </p:sp>
      <p:sp>
        <p:nvSpPr>
          <p:cNvPr id="6" name="Footer Placeholder 5">
            <a:extLst>
              <a:ext uri="{FF2B5EF4-FFF2-40B4-BE49-F238E27FC236}">
                <a16:creationId xmlns:a16="http://schemas.microsoft.com/office/drawing/2014/main" id="{A777D452-958D-4159-A9A4-16DD29680A0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89654B6-1460-48B9-AC7E-592F68BAB276}"/>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7404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C848-926A-4FD3-A311-A100A2662B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ECD90-B4F0-4DFB-BB3D-F231020789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5A6C3A-033E-474B-AB97-D8291A04E7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32B928-3A23-4FCA-AD1F-E45A467B54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DC8376-6FC6-4A11-B0DB-9A148E9C00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80206F-8846-425C-A56E-16FFBA442014}"/>
              </a:ext>
            </a:extLst>
          </p:cNvPr>
          <p:cNvSpPr>
            <a:spLocks noGrp="1"/>
          </p:cNvSpPr>
          <p:nvPr>
            <p:ph type="dt" sz="half" idx="10"/>
          </p:nvPr>
        </p:nvSpPr>
        <p:spPr/>
        <p:txBody>
          <a:bodyPr/>
          <a:lstStyle/>
          <a:p>
            <a:fld id="{C5DE9789-1058-455E-BEDC-8D7DF17ED8DF}" type="datetime1">
              <a:rPr lang="en-US" smtClean="0"/>
              <a:t>8/26/2025</a:t>
            </a:fld>
            <a:endParaRPr lang="en-US" dirty="0"/>
          </a:p>
        </p:txBody>
      </p:sp>
      <p:sp>
        <p:nvSpPr>
          <p:cNvPr id="8" name="Footer Placeholder 7">
            <a:extLst>
              <a:ext uri="{FF2B5EF4-FFF2-40B4-BE49-F238E27FC236}">
                <a16:creationId xmlns:a16="http://schemas.microsoft.com/office/drawing/2014/main" id="{6A45E89F-12CF-4561-A5F2-1E05783A306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EB4DFE4-927C-43B1-A061-5CB97FFB33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69058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0E367-8DA0-4655-BCBC-F4280D8642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EF9592-AA3C-4CF8-A5DB-4D010195A438}"/>
              </a:ext>
            </a:extLst>
          </p:cNvPr>
          <p:cNvSpPr>
            <a:spLocks noGrp="1"/>
          </p:cNvSpPr>
          <p:nvPr>
            <p:ph type="dt" sz="half" idx="10"/>
          </p:nvPr>
        </p:nvSpPr>
        <p:spPr/>
        <p:txBody>
          <a:bodyPr/>
          <a:lstStyle/>
          <a:p>
            <a:fld id="{F4CB71FE-D81C-4047-9968-DFBD975D344F}" type="datetime1">
              <a:rPr lang="en-US" smtClean="0"/>
              <a:t>8/26/2025</a:t>
            </a:fld>
            <a:endParaRPr lang="en-US" dirty="0"/>
          </a:p>
        </p:txBody>
      </p:sp>
      <p:sp>
        <p:nvSpPr>
          <p:cNvPr id="4" name="Footer Placeholder 3">
            <a:extLst>
              <a:ext uri="{FF2B5EF4-FFF2-40B4-BE49-F238E27FC236}">
                <a16:creationId xmlns:a16="http://schemas.microsoft.com/office/drawing/2014/main" id="{3C2C9377-F93E-4515-852A-26470775515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AED076D-476B-42BA-8795-14FE6C1E6974}"/>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625551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A599B4-6AB2-4190-82B5-7667EE1E922A}"/>
              </a:ext>
            </a:extLst>
          </p:cNvPr>
          <p:cNvSpPr>
            <a:spLocks noGrp="1"/>
          </p:cNvSpPr>
          <p:nvPr>
            <p:ph type="dt" sz="half" idx="10"/>
          </p:nvPr>
        </p:nvSpPr>
        <p:spPr/>
        <p:txBody>
          <a:bodyPr/>
          <a:lstStyle/>
          <a:p>
            <a:fld id="{6941D885-EE3B-4105-87E0-D74DD9F447A4}" type="datetime1">
              <a:rPr lang="en-US" smtClean="0"/>
              <a:t>8/26/2025</a:t>
            </a:fld>
            <a:endParaRPr lang="en-US" dirty="0"/>
          </a:p>
        </p:txBody>
      </p:sp>
      <p:sp>
        <p:nvSpPr>
          <p:cNvPr id="3" name="Footer Placeholder 2">
            <a:extLst>
              <a:ext uri="{FF2B5EF4-FFF2-40B4-BE49-F238E27FC236}">
                <a16:creationId xmlns:a16="http://schemas.microsoft.com/office/drawing/2014/main" id="{1B8FBFB3-AD86-4E39-B8AE-B4EC1452815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9A4AF55-C114-4B60-9A20-56B00A11B3B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05820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3DA1-5CB8-405D-9613-8A9B7BC56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42BB15-A24D-42E9-9CAE-BB8272263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F0849D-D3C3-462A-9751-4EAB0B914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80DD20-7A20-4574-98A4-427795876739}"/>
              </a:ext>
            </a:extLst>
          </p:cNvPr>
          <p:cNvSpPr>
            <a:spLocks noGrp="1"/>
          </p:cNvSpPr>
          <p:nvPr>
            <p:ph type="dt" sz="half" idx="10"/>
          </p:nvPr>
        </p:nvSpPr>
        <p:spPr/>
        <p:txBody>
          <a:bodyPr/>
          <a:lstStyle/>
          <a:p>
            <a:fld id="{F66F7C44-085C-4A98-BA8E-AE660B33FC04}" type="datetime1">
              <a:rPr lang="en-US" smtClean="0"/>
              <a:t>8/26/2025</a:t>
            </a:fld>
            <a:endParaRPr lang="en-US" dirty="0"/>
          </a:p>
        </p:txBody>
      </p:sp>
      <p:sp>
        <p:nvSpPr>
          <p:cNvPr id="6" name="Footer Placeholder 5">
            <a:extLst>
              <a:ext uri="{FF2B5EF4-FFF2-40B4-BE49-F238E27FC236}">
                <a16:creationId xmlns:a16="http://schemas.microsoft.com/office/drawing/2014/main" id="{54D0ED2B-71C4-421A-9DB0-676E00C10BD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8C4572A-ADFC-4C53-BCA2-42BDF693BC4D}"/>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3095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5C67-EEEC-4AB0-9653-0F80D6B10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D50D6D-5277-4324-AF23-5FAF007834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5275657-2BF9-4761-96B6-50EE3CFCF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3C3F7B-A4C8-4F9D-8165-BC5186EA0929}"/>
              </a:ext>
            </a:extLst>
          </p:cNvPr>
          <p:cNvSpPr>
            <a:spLocks noGrp="1"/>
          </p:cNvSpPr>
          <p:nvPr>
            <p:ph type="dt" sz="half" idx="10"/>
          </p:nvPr>
        </p:nvSpPr>
        <p:spPr/>
        <p:txBody>
          <a:bodyPr/>
          <a:lstStyle/>
          <a:p>
            <a:fld id="{DC14F319-0C46-4D7A-BE23-BE39A104AB06}" type="datetime1">
              <a:rPr lang="en-US" smtClean="0"/>
              <a:t>8/26/2025</a:t>
            </a:fld>
            <a:endParaRPr lang="en-US" dirty="0"/>
          </a:p>
        </p:txBody>
      </p:sp>
      <p:sp>
        <p:nvSpPr>
          <p:cNvPr id="6" name="Footer Placeholder 5">
            <a:extLst>
              <a:ext uri="{FF2B5EF4-FFF2-40B4-BE49-F238E27FC236}">
                <a16:creationId xmlns:a16="http://schemas.microsoft.com/office/drawing/2014/main" id="{DE696EA5-2FA2-464D-982F-C53E6426A8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911B398-191B-4AB1-86ED-00D0046EACF5}"/>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58660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7B869-BFB2-4C20-8AB1-46704BB3D1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F007DB-4F12-4428-9C48-5120DF0704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FFA8DA-0E31-4CA6-BBFC-2467AAD1D30B}"/>
              </a:ext>
            </a:extLst>
          </p:cNvPr>
          <p:cNvSpPr>
            <a:spLocks noGrp="1"/>
          </p:cNvSpPr>
          <p:nvPr>
            <p:ph type="dt" sz="half" idx="10"/>
          </p:nvPr>
        </p:nvSpPr>
        <p:spPr/>
        <p:txBody>
          <a:bodyPr/>
          <a:lstStyle/>
          <a:p>
            <a:fld id="{7703921A-5A69-4D57-8E1C-4FBBA8CB1586}" type="datetime1">
              <a:rPr lang="en-US" smtClean="0"/>
              <a:t>8/26/2025</a:t>
            </a:fld>
            <a:endParaRPr lang="en-US" dirty="0"/>
          </a:p>
        </p:txBody>
      </p:sp>
      <p:sp>
        <p:nvSpPr>
          <p:cNvPr id="5" name="Footer Placeholder 4">
            <a:extLst>
              <a:ext uri="{FF2B5EF4-FFF2-40B4-BE49-F238E27FC236}">
                <a16:creationId xmlns:a16="http://schemas.microsoft.com/office/drawing/2014/main" id="{064974BD-9845-459A-9AAA-12731E2507C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2A71B0A-FDFB-4B2C-A9EC-2334C590013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31409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0B5D73-1652-4A8E-B5A3-101523D729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B7FB99-7425-444D-B602-01B672BCE8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EEA9C5-552A-48A1-AB54-ED54209B3B48}"/>
              </a:ext>
            </a:extLst>
          </p:cNvPr>
          <p:cNvSpPr>
            <a:spLocks noGrp="1"/>
          </p:cNvSpPr>
          <p:nvPr>
            <p:ph type="dt" sz="half" idx="10"/>
          </p:nvPr>
        </p:nvSpPr>
        <p:spPr/>
        <p:txBody>
          <a:bodyPr/>
          <a:lstStyle/>
          <a:p>
            <a:fld id="{9729A486-463E-4D34-A95D-6B9606378806}" type="datetime1">
              <a:rPr lang="en-US" smtClean="0"/>
              <a:t>8/26/2025</a:t>
            </a:fld>
            <a:endParaRPr lang="en-US" dirty="0"/>
          </a:p>
        </p:txBody>
      </p:sp>
      <p:sp>
        <p:nvSpPr>
          <p:cNvPr id="5" name="Footer Placeholder 4">
            <a:extLst>
              <a:ext uri="{FF2B5EF4-FFF2-40B4-BE49-F238E27FC236}">
                <a16:creationId xmlns:a16="http://schemas.microsoft.com/office/drawing/2014/main" id="{1A83AAA3-4155-48FB-8F00-16DBE0C9C25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694EAE-CB3C-4DEF-A66D-583C7AAC92D8}"/>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746804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3445CA-54C1-4DDE-A216-DD2414E3F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06395A-6879-4E93-B24E-067F88AC1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50FF5B-A6A6-4F0F-AA5D-3F0F69A43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E36254-C553-4F41-BA60-6D995027EE11}" type="datetime1">
              <a:rPr lang="en-US" smtClean="0"/>
              <a:t>8/26/2025</a:t>
            </a:fld>
            <a:endParaRPr lang="en-US" dirty="0"/>
          </a:p>
        </p:txBody>
      </p:sp>
      <p:sp>
        <p:nvSpPr>
          <p:cNvPr id="5" name="Footer Placeholder 4">
            <a:extLst>
              <a:ext uri="{FF2B5EF4-FFF2-40B4-BE49-F238E27FC236}">
                <a16:creationId xmlns:a16="http://schemas.microsoft.com/office/drawing/2014/main" id="{FA798FAA-76CC-42EF-8BE0-466A41BBA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149FF02-6890-4E10-B958-1097AD32C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260378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data.telangana.gov.in/search/?page=2&amp;theme=Industries"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00AEF-1595-4419-801B-6E36A33BB8CF}"/>
              </a:ext>
            </a:extLst>
          </p:cNvPr>
          <p:cNvSpPr>
            <a:spLocks noGrp="1"/>
          </p:cNvSpPr>
          <p:nvPr>
            <p:ph type="ctrTitle"/>
          </p:nvPr>
        </p:nvSpPr>
        <p:spPr>
          <a:xfrm>
            <a:off x="1523999" y="2287838"/>
            <a:ext cx="9144000" cy="1883593"/>
          </a:xfrm>
        </p:spPr>
        <p:txBody>
          <a:bodyPr lIns="0" tIns="0" rIns="0" bIns="0" anchor="t">
            <a:spAutoFit/>
          </a:bodyPr>
          <a:lstStyle/>
          <a:p>
            <a:r>
              <a:rPr lang="en-US" sz="3600" b="1" dirty="0">
                <a:solidFill>
                  <a:schemeClr val="bg1"/>
                </a:solidFill>
              </a:rPr>
              <a:t>INDUSTRIAL GROWTH IN TELANGANA BACKWARD DISTRICTS</a:t>
            </a:r>
            <a:r>
              <a:rPr lang="en-US" b="1" dirty="0">
                <a:solidFill>
                  <a:schemeClr val="bg1"/>
                </a:solidFill>
              </a:rPr>
              <a:t>.</a:t>
            </a:r>
            <a:br>
              <a:rPr lang="en-US" dirty="0">
                <a:solidFill>
                  <a:schemeClr val="bg1"/>
                </a:solidFill>
              </a:rPr>
            </a:br>
            <a:r>
              <a:rPr lang="en-US" sz="4000" dirty="0">
                <a:solidFill>
                  <a:schemeClr val="accent4"/>
                </a:solidFill>
              </a:rPr>
              <a:t>BDM Capstone Project</a:t>
            </a:r>
          </a:p>
        </p:txBody>
      </p:sp>
      <p:sp>
        <p:nvSpPr>
          <p:cNvPr id="4" name="Diamond 3">
            <a:extLst>
              <a:ext uri="{FF2B5EF4-FFF2-40B4-BE49-F238E27FC236}">
                <a16:creationId xmlns:a16="http://schemas.microsoft.com/office/drawing/2014/main" id="{1C59176D-59A8-4C02-B448-EE01232FB3E7}"/>
              </a:ext>
              <a:ext uri="{C183D7F6-B498-43B3-948B-1728B52AA6E4}">
                <adec:decorative xmlns:adec="http://schemas.microsoft.com/office/drawing/2017/decorative" val="1"/>
              </a:ext>
            </a:extLst>
          </p:cNvPr>
          <p:cNvSpPr/>
          <p:nvPr/>
        </p:nvSpPr>
        <p:spPr>
          <a:xfrm>
            <a:off x="4792319" y="-608242"/>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iamond 4">
            <a:extLst>
              <a:ext uri="{FF2B5EF4-FFF2-40B4-BE49-F238E27FC236}">
                <a16:creationId xmlns:a16="http://schemas.microsoft.com/office/drawing/2014/main" id="{A50B1817-3C7F-41BC-8557-7A00C928EE16}"/>
              </a:ext>
              <a:ext uri="{C183D7F6-B498-43B3-948B-1728B52AA6E4}">
                <adec:decorative xmlns:adec="http://schemas.microsoft.com/office/drawing/2017/decorative" val="1"/>
              </a:ext>
            </a:extLst>
          </p:cNvPr>
          <p:cNvSpPr/>
          <p:nvPr/>
        </p:nvSpPr>
        <p:spPr>
          <a:xfrm>
            <a:off x="4325258" y="-1770743"/>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descr="Icon of chart. ">
            <a:extLst>
              <a:ext uri="{FF2B5EF4-FFF2-40B4-BE49-F238E27FC236}">
                <a16:creationId xmlns:a16="http://schemas.microsoft.com/office/drawing/2014/main" id="{B95DF07A-CE7E-4D89-9AA0-25F4FFF3B9C7}"/>
              </a:ext>
            </a:extLst>
          </p:cNvPr>
          <p:cNvGrpSpPr/>
          <p:nvPr/>
        </p:nvGrpSpPr>
        <p:grpSpPr>
          <a:xfrm>
            <a:off x="11275278" y="6093442"/>
            <a:ext cx="489958" cy="492680"/>
            <a:chOff x="2025650" y="4786313"/>
            <a:chExt cx="285750" cy="287338"/>
          </a:xfrm>
          <a:solidFill>
            <a:schemeClr val="bg1"/>
          </a:solidFill>
        </p:grpSpPr>
        <p:sp>
          <p:nvSpPr>
            <p:cNvPr id="8" name="Freeform 565">
              <a:extLst>
                <a:ext uri="{FF2B5EF4-FFF2-40B4-BE49-F238E27FC236}">
                  <a16:creationId xmlns:a16="http://schemas.microsoft.com/office/drawing/2014/main" id="{548FC78B-EF83-4185-A63D-1A5A85640B62}"/>
                </a:ext>
              </a:extLst>
            </p:cNvPr>
            <p:cNvSpPr>
              <a:spLocks noEditPoints="1"/>
            </p:cNvSpPr>
            <p:nvPr/>
          </p:nvSpPr>
          <p:spPr bwMode="auto">
            <a:xfrm>
              <a:off x="2025650" y="4786313"/>
              <a:ext cx="285750" cy="287338"/>
            </a:xfrm>
            <a:custGeom>
              <a:avLst/>
              <a:gdLst>
                <a:gd name="T0" fmla="*/ 812 w 903"/>
                <a:gd name="T1" fmla="*/ 500 h 903"/>
                <a:gd name="T2" fmla="*/ 810 w 903"/>
                <a:gd name="T3" fmla="*/ 505 h 903"/>
                <a:gd name="T4" fmla="*/ 806 w 903"/>
                <a:gd name="T5" fmla="*/ 509 h 903"/>
                <a:gd name="T6" fmla="*/ 800 w 903"/>
                <a:gd name="T7" fmla="*/ 511 h 903"/>
                <a:gd name="T8" fmla="*/ 105 w 903"/>
                <a:gd name="T9" fmla="*/ 511 h 903"/>
                <a:gd name="T10" fmla="*/ 99 w 903"/>
                <a:gd name="T11" fmla="*/ 510 h 903"/>
                <a:gd name="T12" fmla="*/ 95 w 903"/>
                <a:gd name="T13" fmla="*/ 507 h 903"/>
                <a:gd name="T14" fmla="*/ 92 w 903"/>
                <a:gd name="T15" fmla="*/ 502 h 903"/>
                <a:gd name="T16" fmla="*/ 90 w 903"/>
                <a:gd name="T17" fmla="*/ 496 h 903"/>
                <a:gd name="T18" fmla="*/ 90 w 903"/>
                <a:gd name="T19" fmla="*/ 105 h 903"/>
                <a:gd name="T20" fmla="*/ 92 w 903"/>
                <a:gd name="T21" fmla="*/ 100 h 903"/>
                <a:gd name="T22" fmla="*/ 95 w 903"/>
                <a:gd name="T23" fmla="*/ 94 h 903"/>
                <a:gd name="T24" fmla="*/ 99 w 903"/>
                <a:gd name="T25" fmla="*/ 91 h 903"/>
                <a:gd name="T26" fmla="*/ 105 w 903"/>
                <a:gd name="T27" fmla="*/ 90 h 903"/>
                <a:gd name="T28" fmla="*/ 800 w 903"/>
                <a:gd name="T29" fmla="*/ 90 h 903"/>
                <a:gd name="T30" fmla="*/ 806 w 903"/>
                <a:gd name="T31" fmla="*/ 92 h 903"/>
                <a:gd name="T32" fmla="*/ 810 w 903"/>
                <a:gd name="T33" fmla="*/ 96 h 903"/>
                <a:gd name="T34" fmla="*/ 812 w 903"/>
                <a:gd name="T35" fmla="*/ 102 h 903"/>
                <a:gd name="T36" fmla="*/ 813 w 903"/>
                <a:gd name="T37" fmla="*/ 496 h 903"/>
                <a:gd name="T38" fmla="*/ 15 w 903"/>
                <a:gd name="T39" fmla="*/ 0 h 903"/>
                <a:gd name="T40" fmla="*/ 9 w 903"/>
                <a:gd name="T41" fmla="*/ 1 h 903"/>
                <a:gd name="T42" fmla="*/ 5 w 903"/>
                <a:gd name="T43" fmla="*/ 4 h 903"/>
                <a:gd name="T44" fmla="*/ 1 w 903"/>
                <a:gd name="T45" fmla="*/ 8 h 903"/>
                <a:gd name="T46" fmla="*/ 0 w 903"/>
                <a:gd name="T47" fmla="*/ 15 h 903"/>
                <a:gd name="T48" fmla="*/ 0 w 903"/>
                <a:gd name="T49" fmla="*/ 590 h 903"/>
                <a:gd name="T50" fmla="*/ 2 w 903"/>
                <a:gd name="T51" fmla="*/ 595 h 903"/>
                <a:gd name="T52" fmla="*/ 7 w 903"/>
                <a:gd name="T53" fmla="*/ 599 h 903"/>
                <a:gd name="T54" fmla="*/ 12 w 903"/>
                <a:gd name="T55" fmla="*/ 602 h 903"/>
                <a:gd name="T56" fmla="*/ 437 w 903"/>
                <a:gd name="T57" fmla="*/ 602 h 903"/>
                <a:gd name="T58" fmla="*/ 260 w 903"/>
                <a:gd name="T59" fmla="*/ 877 h 903"/>
                <a:gd name="T60" fmla="*/ 257 w 903"/>
                <a:gd name="T61" fmla="*/ 883 h 903"/>
                <a:gd name="T62" fmla="*/ 256 w 903"/>
                <a:gd name="T63" fmla="*/ 888 h 903"/>
                <a:gd name="T64" fmla="*/ 257 w 903"/>
                <a:gd name="T65" fmla="*/ 893 h 903"/>
                <a:gd name="T66" fmla="*/ 260 w 903"/>
                <a:gd name="T67" fmla="*/ 899 h 903"/>
                <a:gd name="T68" fmla="*/ 265 w 903"/>
                <a:gd name="T69" fmla="*/ 902 h 903"/>
                <a:gd name="T70" fmla="*/ 271 w 903"/>
                <a:gd name="T71" fmla="*/ 903 h 903"/>
                <a:gd name="T72" fmla="*/ 277 w 903"/>
                <a:gd name="T73" fmla="*/ 902 h 903"/>
                <a:gd name="T74" fmla="*/ 281 w 903"/>
                <a:gd name="T75" fmla="*/ 899 h 903"/>
                <a:gd name="T76" fmla="*/ 621 w 903"/>
                <a:gd name="T77" fmla="*/ 899 h 903"/>
                <a:gd name="T78" fmla="*/ 627 w 903"/>
                <a:gd name="T79" fmla="*/ 902 h 903"/>
                <a:gd name="T80" fmla="*/ 632 w 903"/>
                <a:gd name="T81" fmla="*/ 903 h 903"/>
                <a:gd name="T82" fmla="*/ 637 w 903"/>
                <a:gd name="T83" fmla="*/ 902 h 903"/>
                <a:gd name="T84" fmla="*/ 643 w 903"/>
                <a:gd name="T85" fmla="*/ 899 h 903"/>
                <a:gd name="T86" fmla="*/ 646 w 903"/>
                <a:gd name="T87" fmla="*/ 893 h 903"/>
                <a:gd name="T88" fmla="*/ 647 w 903"/>
                <a:gd name="T89" fmla="*/ 888 h 903"/>
                <a:gd name="T90" fmla="*/ 646 w 903"/>
                <a:gd name="T91" fmla="*/ 883 h 903"/>
                <a:gd name="T92" fmla="*/ 643 w 903"/>
                <a:gd name="T93" fmla="*/ 877 h 903"/>
                <a:gd name="T94" fmla="*/ 467 w 903"/>
                <a:gd name="T95" fmla="*/ 602 h 903"/>
                <a:gd name="T96" fmla="*/ 892 w 903"/>
                <a:gd name="T97" fmla="*/ 602 h 903"/>
                <a:gd name="T98" fmla="*/ 897 w 903"/>
                <a:gd name="T99" fmla="*/ 599 h 903"/>
                <a:gd name="T100" fmla="*/ 900 w 903"/>
                <a:gd name="T101" fmla="*/ 595 h 903"/>
                <a:gd name="T102" fmla="*/ 902 w 903"/>
                <a:gd name="T103" fmla="*/ 590 h 903"/>
                <a:gd name="T104" fmla="*/ 903 w 903"/>
                <a:gd name="T105" fmla="*/ 15 h 903"/>
                <a:gd name="T106" fmla="*/ 902 w 903"/>
                <a:gd name="T107" fmla="*/ 8 h 903"/>
                <a:gd name="T108" fmla="*/ 899 w 903"/>
                <a:gd name="T109" fmla="*/ 4 h 903"/>
                <a:gd name="T110" fmla="*/ 894 w 903"/>
                <a:gd name="T111" fmla="*/ 1 h 903"/>
                <a:gd name="T112" fmla="*/ 888 w 903"/>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3" h="903">
                  <a:moveTo>
                    <a:pt x="813" y="496"/>
                  </a:moveTo>
                  <a:lnTo>
                    <a:pt x="812" y="500"/>
                  </a:lnTo>
                  <a:lnTo>
                    <a:pt x="811" y="502"/>
                  </a:lnTo>
                  <a:lnTo>
                    <a:pt x="810" y="505"/>
                  </a:lnTo>
                  <a:lnTo>
                    <a:pt x="808" y="507"/>
                  </a:lnTo>
                  <a:lnTo>
                    <a:pt x="806" y="509"/>
                  </a:lnTo>
                  <a:lnTo>
                    <a:pt x="804" y="510"/>
                  </a:lnTo>
                  <a:lnTo>
                    <a:pt x="800" y="511"/>
                  </a:lnTo>
                  <a:lnTo>
                    <a:pt x="797" y="511"/>
                  </a:lnTo>
                  <a:lnTo>
                    <a:pt x="105" y="511"/>
                  </a:lnTo>
                  <a:lnTo>
                    <a:pt x="102" y="511"/>
                  </a:lnTo>
                  <a:lnTo>
                    <a:pt x="99" y="510"/>
                  </a:lnTo>
                  <a:lnTo>
                    <a:pt x="97" y="509"/>
                  </a:lnTo>
                  <a:lnTo>
                    <a:pt x="95" y="507"/>
                  </a:lnTo>
                  <a:lnTo>
                    <a:pt x="93" y="505"/>
                  </a:lnTo>
                  <a:lnTo>
                    <a:pt x="92" y="502"/>
                  </a:lnTo>
                  <a:lnTo>
                    <a:pt x="90" y="500"/>
                  </a:lnTo>
                  <a:lnTo>
                    <a:pt x="90" y="496"/>
                  </a:lnTo>
                  <a:lnTo>
                    <a:pt x="90" y="316"/>
                  </a:lnTo>
                  <a:lnTo>
                    <a:pt x="90" y="105"/>
                  </a:lnTo>
                  <a:lnTo>
                    <a:pt x="90" y="102"/>
                  </a:lnTo>
                  <a:lnTo>
                    <a:pt x="92" y="100"/>
                  </a:lnTo>
                  <a:lnTo>
                    <a:pt x="93" y="96"/>
                  </a:lnTo>
                  <a:lnTo>
                    <a:pt x="95" y="94"/>
                  </a:lnTo>
                  <a:lnTo>
                    <a:pt x="97" y="92"/>
                  </a:lnTo>
                  <a:lnTo>
                    <a:pt x="99" y="91"/>
                  </a:lnTo>
                  <a:lnTo>
                    <a:pt x="102" y="90"/>
                  </a:lnTo>
                  <a:lnTo>
                    <a:pt x="105" y="90"/>
                  </a:lnTo>
                  <a:lnTo>
                    <a:pt x="798" y="90"/>
                  </a:lnTo>
                  <a:lnTo>
                    <a:pt x="800" y="90"/>
                  </a:lnTo>
                  <a:lnTo>
                    <a:pt x="804" y="91"/>
                  </a:lnTo>
                  <a:lnTo>
                    <a:pt x="806" y="92"/>
                  </a:lnTo>
                  <a:lnTo>
                    <a:pt x="808" y="94"/>
                  </a:lnTo>
                  <a:lnTo>
                    <a:pt x="810" y="96"/>
                  </a:lnTo>
                  <a:lnTo>
                    <a:pt x="811" y="100"/>
                  </a:lnTo>
                  <a:lnTo>
                    <a:pt x="812" y="102"/>
                  </a:lnTo>
                  <a:lnTo>
                    <a:pt x="813" y="105"/>
                  </a:lnTo>
                  <a:lnTo>
                    <a:pt x="813" y="496"/>
                  </a:lnTo>
                  <a:close/>
                  <a:moveTo>
                    <a:pt x="888" y="0"/>
                  </a:moveTo>
                  <a:lnTo>
                    <a:pt x="15" y="0"/>
                  </a:lnTo>
                  <a:lnTo>
                    <a:pt x="12" y="0"/>
                  </a:lnTo>
                  <a:lnTo>
                    <a:pt x="9" y="1"/>
                  </a:lnTo>
                  <a:lnTo>
                    <a:pt x="7" y="2"/>
                  </a:lnTo>
                  <a:lnTo>
                    <a:pt x="5" y="4"/>
                  </a:lnTo>
                  <a:lnTo>
                    <a:pt x="2" y="6"/>
                  </a:lnTo>
                  <a:lnTo>
                    <a:pt x="1" y="8"/>
                  </a:lnTo>
                  <a:lnTo>
                    <a:pt x="0" y="12"/>
                  </a:lnTo>
                  <a:lnTo>
                    <a:pt x="0" y="15"/>
                  </a:lnTo>
                  <a:lnTo>
                    <a:pt x="0" y="587"/>
                  </a:lnTo>
                  <a:lnTo>
                    <a:pt x="0" y="590"/>
                  </a:lnTo>
                  <a:lnTo>
                    <a:pt x="1" y="593"/>
                  </a:lnTo>
                  <a:lnTo>
                    <a:pt x="2" y="595"/>
                  </a:lnTo>
                  <a:lnTo>
                    <a:pt x="5" y="597"/>
                  </a:lnTo>
                  <a:lnTo>
                    <a:pt x="7" y="599"/>
                  </a:lnTo>
                  <a:lnTo>
                    <a:pt x="9" y="601"/>
                  </a:lnTo>
                  <a:lnTo>
                    <a:pt x="12" y="602"/>
                  </a:lnTo>
                  <a:lnTo>
                    <a:pt x="15" y="602"/>
                  </a:lnTo>
                  <a:lnTo>
                    <a:pt x="437" y="602"/>
                  </a:lnTo>
                  <a:lnTo>
                    <a:pt x="437" y="701"/>
                  </a:lnTo>
                  <a:lnTo>
                    <a:pt x="260" y="877"/>
                  </a:lnTo>
                  <a:lnTo>
                    <a:pt x="259" y="879"/>
                  </a:lnTo>
                  <a:lnTo>
                    <a:pt x="257" y="883"/>
                  </a:lnTo>
                  <a:lnTo>
                    <a:pt x="256" y="885"/>
                  </a:lnTo>
                  <a:lnTo>
                    <a:pt x="256" y="888"/>
                  </a:lnTo>
                  <a:lnTo>
                    <a:pt x="256" y="891"/>
                  </a:lnTo>
                  <a:lnTo>
                    <a:pt x="257" y="893"/>
                  </a:lnTo>
                  <a:lnTo>
                    <a:pt x="259" y="897"/>
                  </a:lnTo>
                  <a:lnTo>
                    <a:pt x="260" y="899"/>
                  </a:lnTo>
                  <a:lnTo>
                    <a:pt x="263" y="901"/>
                  </a:lnTo>
                  <a:lnTo>
                    <a:pt x="265" y="902"/>
                  </a:lnTo>
                  <a:lnTo>
                    <a:pt x="268" y="903"/>
                  </a:lnTo>
                  <a:lnTo>
                    <a:pt x="271" y="903"/>
                  </a:lnTo>
                  <a:lnTo>
                    <a:pt x="274" y="903"/>
                  </a:lnTo>
                  <a:lnTo>
                    <a:pt x="277" y="902"/>
                  </a:lnTo>
                  <a:lnTo>
                    <a:pt x="279" y="901"/>
                  </a:lnTo>
                  <a:lnTo>
                    <a:pt x="281" y="899"/>
                  </a:lnTo>
                  <a:lnTo>
                    <a:pt x="452" y="728"/>
                  </a:lnTo>
                  <a:lnTo>
                    <a:pt x="621" y="899"/>
                  </a:lnTo>
                  <a:lnTo>
                    <a:pt x="623" y="901"/>
                  </a:lnTo>
                  <a:lnTo>
                    <a:pt x="627" y="902"/>
                  </a:lnTo>
                  <a:lnTo>
                    <a:pt x="629" y="903"/>
                  </a:lnTo>
                  <a:lnTo>
                    <a:pt x="632" y="903"/>
                  </a:lnTo>
                  <a:lnTo>
                    <a:pt x="635" y="903"/>
                  </a:lnTo>
                  <a:lnTo>
                    <a:pt x="637" y="902"/>
                  </a:lnTo>
                  <a:lnTo>
                    <a:pt x="641" y="901"/>
                  </a:lnTo>
                  <a:lnTo>
                    <a:pt x="643" y="899"/>
                  </a:lnTo>
                  <a:lnTo>
                    <a:pt x="645" y="897"/>
                  </a:lnTo>
                  <a:lnTo>
                    <a:pt x="646" y="893"/>
                  </a:lnTo>
                  <a:lnTo>
                    <a:pt x="647" y="891"/>
                  </a:lnTo>
                  <a:lnTo>
                    <a:pt x="647" y="888"/>
                  </a:lnTo>
                  <a:lnTo>
                    <a:pt x="647" y="885"/>
                  </a:lnTo>
                  <a:lnTo>
                    <a:pt x="646" y="883"/>
                  </a:lnTo>
                  <a:lnTo>
                    <a:pt x="645" y="879"/>
                  </a:lnTo>
                  <a:lnTo>
                    <a:pt x="643" y="877"/>
                  </a:lnTo>
                  <a:lnTo>
                    <a:pt x="467" y="701"/>
                  </a:lnTo>
                  <a:lnTo>
                    <a:pt x="467" y="602"/>
                  </a:lnTo>
                  <a:lnTo>
                    <a:pt x="888" y="602"/>
                  </a:lnTo>
                  <a:lnTo>
                    <a:pt x="892" y="602"/>
                  </a:lnTo>
                  <a:lnTo>
                    <a:pt x="894" y="601"/>
                  </a:lnTo>
                  <a:lnTo>
                    <a:pt x="897" y="599"/>
                  </a:lnTo>
                  <a:lnTo>
                    <a:pt x="899" y="597"/>
                  </a:lnTo>
                  <a:lnTo>
                    <a:pt x="900" y="595"/>
                  </a:lnTo>
                  <a:lnTo>
                    <a:pt x="902" y="593"/>
                  </a:lnTo>
                  <a:lnTo>
                    <a:pt x="902" y="590"/>
                  </a:lnTo>
                  <a:lnTo>
                    <a:pt x="903" y="587"/>
                  </a:lnTo>
                  <a:lnTo>
                    <a:pt x="903" y="15"/>
                  </a:lnTo>
                  <a:lnTo>
                    <a:pt x="902" y="12"/>
                  </a:lnTo>
                  <a:lnTo>
                    <a:pt x="902" y="8"/>
                  </a:lnTo>
                  <a:lnTo>
                    <a:pt x="900" y="6"/>
                  </a:lnTo>
                  <a:lnTo>
                    <a:pt x="899" y="4"/>
                  </a:lnTo>
                  <a:lnTo>
                    <a:pt x="897" y="2"/>
                  </a:lnTo>
                  <a:lnTo>
                    <a:pt x="894" y="1"/>
                  </a:lnTo>
                  <a:lnTo>
                    <a:pt x="892" y="0"/>
                  </a:lnTo>
                  <a:lnTo>
                    <a:pt x="8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566">
              <a:extLst>
                <a:ext uri="{FF2B5EF4-FFF2-40B4-BE49-F238E27FC236}">
                  <a16:creationId xmlns:a16="http://schemas.microsoft.com/office/drawing/2014/main" id="{B7B50F87-A3AA-4FB6-9692-24BF5512FC5B}"/>
                </a:ext>
              </a:extLst>
            </p:cNvPr>
            <p:cNvSpPr>
              <a:spLocks/>
            </p:cNvSpPr>
            <p:nvPr/>
          </p:nvSpPr>
          <p:spPr bwMode="auto">
            <a:xfrm>
              <a:off x="2054225" y="4843463"/>
              <a:ext cx="200025" cy="73025"/>
            </a:xfrm>
            <a:custGeom>
              <a:avLst/>
              <a:gdLst>
                <a:gd name="T0" fmla="*/ 151 w 632"/>
                <a:gd name="T1" fmla="*/ 151 h 226"/>
                <a:gd name="T2" fmla="*/ 157 w 632"/>
                <a:gd name="T3" fmla="*/ 149 h 226"/>
                <a:gd name="T4" fmla="*/ 161 w 632"/>
                <a:gd name="T5" fmla="*/ 146 h 226"/>
                <a:gd name="T6" fmla="*/ 288 w 632"/>
                <a:gd name="T7" fmla="*/ 217 h 226"/>
                <a:gd name="T8" fmla="*/ 292 w 632"/>
                <a:gd name="T9" fmla="*/ 223 h 226"/>
                <a:gd name="T10" fmla="*/ 299 w 632"/>
                <a:gd name="T11" fmla="*/ 226 h 226"/>
                <a:gd name="T12" fmla="*/ 302 w 632"/>
                <a:gd name="T13" fmla="*/ 226 h 226"/>
                <a:gd name="T14" fmla="*/ 307 w 632"/>
                <a:gd name="T15" fmla="*/ 225 h 226"/>
                <a:gd name="T16" fmla="*/ 313 w 632"/>
                <a:gd name="T17" fmla="*/ 222 h 226"/>
                <a:gd name="T18" fmla="*/ 471 w 632"/>
                <a:gd name="T19" fmla="*/ 191 h 226"/>
                <a:gd name="T20" fmla="*/ 477 w 632"/>
                <a:gd name="T21" fmla="*/ 195 h 226"/>
                <a:gd name="T22" fmla="*/ 483 w 632"/>
                <a:gd name="T23" fmla="*/ 196 h 226"/>
                <a:gd name="T24" fmla="*/ 488 w 632"/>
                <a:gd name="T25" fmla="*/ 194 h 226"/>
                <a:gd name="T26" fmla="*/ 494 w 632"/>
                <a:gd name="T27" fmla="*/ 191 h 226"/>
                <a:gd name="T28" fmla="*/ 631 w 632"/>
                <a:gd name="T29" fmla="*/ 23 h 226"/>
                <a:gd name="T30" fmla="*/ 632 w 632"/>
                <a:gd name="T31" fmla="*/ 16 h 226"/>
                <a:gd name="T32" fmla="*/ 632 w 632"/>
                <a:gd name="T33" fmla="*/ 11 h 226"/>
                <a:gd name="T34" fmla="*/ 629 w 632"/>
                <a:gd name="T35" fmla="*/ 5 h 226"/>
                <a:gd name="T36" fmla="*/ 625 w 632"/>
                <a:gd name="T37" fmla="*/ 2 h 226"/>
                <a:gd name="T38" fmla="*/ 619 w 632"/>
                <a:gd name="T39" fmla="*/ 0 h 226"/>
                <a:gd name="T40" fmla="*/ 613 w 632"/>
                <a:gd name="T41" fmla="*/ 1 h 226"/>
                <a:gd name="T42" fmla="*/ 607 w 632"/>
                <a:gd name="T43" fmla="*/ 3 h 226"/>
                <a:gd name="T44" fmla="*/ 481 w 632"/>
                <a:gd name="T45" fmla="*/ 159 h 226"/>
                <a:gd name="T46" fmla="*/ 415 w 632"/>
                <a:gd name="T47" fmla="*/ 93 h 226"/>
                <a:gd name="T48" fmla="*/ 409 w 632"/>
                <a:gd name="T49" fmla="*/ 91 h 226"/>
                <a:gd name="T50" fmla="*/ 404 w 632"/>
                <a:gd name="T51" fmla="*/ 91 h 226"/>
                <a:gd name="T52" fmla="*/ 398 w 632"/>
                <a:gd name="T53" fmla="*/ 93 h 226"/>
                <a:gd name="T54" fmla="*/ 307 w 632"/>
                <a:gd name="T55" fmla="*/ 185 h 226"/>
                <a:gd name="T56" fmla="*/ 247 w 632"/>
                <a:gd name="T57" fmla="*/ 39 h 226"/>
                <a:gd name="T58" fmla="*/ 242 w 632"/>
                <a:gd name="T59" fmla="*/ 34 h 226"/>
                <a:gd name="T60" fmla="*/ 234 w 632"/>
                <a:gd name="T61" fmla="*/ 33 h 226"/>
                <a:gd name="T62" fmla="*/ 227 w 632"/>
                <a:gd name="T63" fmla="*/ 35 h 226"/>
                <a:gd name="T64" fmla="*/ 144 w 632"/>
                <a:gd name="T65" fmla="*/ 121 h 226"/>
                <a:gd name="T66" fmla="*/ 12 w 632"/>
                <a:gd name="T67" fmla="*/ 121 h 226"/>
                <a:gd name="T68" fmla="*/ 7 w 632"/>
                <a:gd name="T69" fmla="*/ 123 h 226"/>
                <a:gd name="T70" fmla="*/ 3 w 632"/>
                <a:gd name="T71" fmla="*/ 128 h 226"/>
                <a:gd name="T72" fmla="*/ 0 w 632"/>
                <a:gd name="T73" fmla="*/ 133 h 226"/>
                <a:gd name="T74" fmla="*/ 0 w 632"/>
                <a:gd name="T75" fmla="*/ 138 h 226"/>
                <a:gd name="T76" fmla="*/ 3 w 632"/>
                <a:gd name="T77" fmla="*/ 144 h 226"/>
                <a:gd name="T78" fmla="*/ 7 w 632"/>
                <a:gd name="T79" fmla="*/ 148 h 226"/>
                <a:gd name="T80" fmla="*/ 12 w 632"/>
                <a:gd name="T81" fmla="*/ 150 h 226"/>
                <a:gd name="T82" fmla="*/ 15 w 632"/>
                <a:gd name="T83" fmla="*/ 15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226">
                  <a:moveTo>
                    <a:pt x="15" y="151"/>
                  </a:moveTo>
                  <a:lnTo>
                    <a:pt x="151" y="151"/>
                  </a:lnTo>
                  <a:lnTo>
                    <a:pt x="154" y="150"/>
                  </a:lnTo>
                  <a:lnTo>
                    <a:pt x="157" y="149"/>
                  </a:lnTo>
                  <a:lnTo>
                    <a:pt x="159" y="148"/>
                  </a:lnTo>
                  <a:lnTo>
                    <a:pt x="161" y="146"/>
                  </a:lnTo>
                  <a:lnTo>
                    <a:pt x="230" y="75"/>
                  </a:lnTo>
                  <a:lnTo>
                    <a:pt x="288" y="217"/>
                  </a:lnTo>
                  <a:lnTo>
                    <a:pt x="289" y="220"/>
                  </a:lnTo>
                  <a:lnTo>
                    <a:pt x="292" y="223"/>
                  </a:lnTo>
                  <a:lnTo>
                    <a:pt x="294" y="224"/>
                  </a:lnTo>
                  <a:lnTo>
                    <a:pt x="299" y="226"/>
                  </a:lnTo>
                  <a:lnTo>
                    <a:pt x="300" y="226"/>
                  </a:lnTo>
                  <a:lnTo>
                    <a:pt x="302" y="226"/>
                  </a:lnTo>
                  <a:lnTo>
                    <a:pt x="304" y="226"/>
                  </a:lnTo>
                  <a:lnTo>
                    <a:pt x="307" y="225"/>
                  </a:lnTo>
                  <a:lnTo>
                    <a:pt x="309" y="223"/>
                  </a:lnTo>
                  <a:lnTo>
                    <a:pt x="313" y="222"/>
                  </a:lnTo>
                  <a:lnTo>
                    <a:pt x="407" y="127"/>
                  </a:lnTo>
                  <a:lnTo>
                    <a:pt x="471" y="191"/>
                  </a:lnTo>
                  <a:lnTo>
                    <a:pt x="473" y="193"/>
                  </a:lnTo>
                  <a:lnTo>
                    <a:pt x="477" y="195"/>
                  </a:lnTo>
                  <a:lnTo>
                    <a:pt x="480" y="196"/>
                  </a:lnTo>
                  <a:lnTo>
                    <a:pt x="483" y="196"/>
                  </a:lnTo>
                  <a:lnTo>
                    <a:pt x="486" y="195"/>
                  </a:lnTo>
                  <a:lnTo>
                    <a:pt x="488" y="194"/>
                  </a:lnTo>
                  <a:lnTo>
                    <a:pt x="492" y="193"/>
                  </a:lnTo>
                  <a:lnTo>
                    <a:pt x="494" y="191"/>
                  </a:lnTo>
                  <a:lnTo>
                    <a:pt x="629" y="25"/>
                  </a:lnTo>
                  <a:lnTo>
                    <a:pt x="631" y="23"/>
                  </a:lnTo>
                  <a:lnTo>
                    <a:pt x="632" y="19"/>
                  </a:lnTo>
                  <a:lnTo>
                    <a:pt x="632" y="16"/>
                  </a:lnTo>
                  <a:lnTo>
                    <a:pt x="632" y="14"/>
                  </a:lnTo>
                  <a:lnTo>
                    <a:pt x="632" y="11"/>
                  </a:lnTo>
                  <a:lnTo>
                    <a:pt x="631" y="9"/>
                  </a:lnTo>
                  <a:lnTo>
                    <a:pt x="629" y="5"/>
                  </a:lnTo>
                  <a:lnTo>
                    <a:pt x="627" y="3"/>
                  </a:lnTo>
                  <a:lnTo>
                    <a:pt x="625" y="2"/>
                  </a:lnTo>
                  <a:lnTo>
                    <a:pt x="621" y="1"/>
                  </a:lnTo>
                  <a:lnTo>
                    <a:pt x="619" y="0"/>
                  </a:lnTo>
                  <a:lnTo>
                    <a:pt x="616" y="0"/>
                  </a:lnTo>
                  <a:lnTo>
                    <a:pt x="613" y="1"/>
                  </a:lnTo>
                  <a:lnTo>
                    <a:pt x="611" y="2"/>
                  </a:lnTo>
                  <a:lnTo>
                    <a:pt x="607" y="3"/>
                  </a:lnTo>
                  <a:lnTo>
                    <a:pt x="605" y="5"/>
                  </a:lnTo>
                  <a:lnTo>
                    <a:pt x="481" y="159"/>
                  </a:lnTo>
                  <a:lnTo>
                    <a:pt x="418" y="95"/>
                  </a:lnTo>
                  <a:lnTo>
                    <a:pt x="415" y="93"/>
                  </a:lnTo>
                  <a:lnTo>
                    <a:pt x="412" y="91"/>
                  </a:lnTo>
                  <a:lnTo>
                    <a:pt x="409" y="91"/>
                  </a:lnTo>
                  <a:lnTo>
                    <a:pt x="407" y="90"/>
                  </a:lnTo>
                  <a:lnTo>
                    <a:pt x="404" y="91"/>
                  </a:lnTo>
                  <a:lnTo>
                    <a:pt x="400" y="91"/>
                  </a:lnTo>
                  <a:lnTo>
                    <a:pt x="398" y="93"/>
                  </a:lnTo>
                  <a:lnTo>
                    <a:pt x="396" y="95"/>
                  </a:lnTo>
                  <a:lnTo>
                    <a:pt x="307" y="185"/>
                  </a:lnTo>
                  <a:lnTo>
                    <a:pt x="249" y="42"/>
                  </a:lnTo>
                  <a:lnTo>
                    <a:pt x="247" y="39"/>
                  </a:lnTo>
                  <a:lnTo>
                    <a:pt x="244" y="36"/>
                  </a:lnTo>
                  <a:lnTo>
                    <a:pt x="242" y="34"/>
                  </a:lnTo>
                  <a:lnTo>
                    <a:pt x="237" y="33"/>
                  </a:lnTo>
                  <a:lnTo>
                    <a:pt x="234" y="33"/>
                  </a:lnTo>
                  <a:lnTo>
                    <a:pt x="230" y="33"/>
                  </a:lnTo>
                  <a:lnTo>
                    <a:pt x="227" y="35"/>
                  </a:lnTo>
                  <a:lnTo>
                    <a:pt x="224" y="38"/>
                  </a:lnTo>
                  <a:lnTo>
                    <a:pt x="144" y="121"/>
                  </a:lnTo>
                  <a:lnTo>
                    <a:pt x="15" y="121"/>
                  </a:lnTo>
                  <a:lnTo>
                    <a:pt x="12" y="121"/>
                  </a:lnTo>
                  <a:lnTo>
                    <a:pt x="9" y="122"/>
                  </a:lnTo>
                  <a:lnTo>
                    <a:pt x="7" y="123"/>
                  </a:lnTo>
                  <a:lnTo>
                    <a:pt x="5" y="126"/>
                  </a:lnTo>
                  <a:lnTo>
                    <a:pt x="3" y="128"/>
                  </a:lnTo>
                  <a:lnTo>
                    <a:pt x="2" y="130"/>
                  </a:lnTo>
                  <a:lnTo>
                    <a:pt x="0" y="133"/>
                  </a:lnTo>
                  <a:lnTo>
                    <a:pt x="0" y="136"/>
                  </a:lnTo>
                  <a:lnTo>
                    <a:pt x="0" y="138"/>
                  </a:lnTo>
                  <a:lnTo>
                    <a:pt x="2" y="142"/>
                  </a:lnTo>
                  <a:lnTo>
                    <a:pt x="3" y="144"/>
                  </a:lnTo>
                  <a:lnTo>
                    <a:pt x="5" y="146"/>
                  </a:lnTo>
                  <a:lnTo>
                    <a:pt x="7" y="148"/>
                  </a:lnTo>
                  <a:lnTo>
                    <a:pt x="9" y="150"/>
                  </a:lnTo>
                  <a:lnTo>
                    <a:pt x="12" y="150"/>
                  </a:lnTo>
                  <a:lnTo>
                    <a:pt x="15" y="151"/>
                  </a:lnTo>
                  <a:lnTo>
                    <a:pt x="15" y="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pic>
        <p:nvPicPr>
          <p:cNvPr id="6" name="Picture 5" descr="A logo with a flower in the middle&#10;&#10;AI-generated content may be incorrect.">
            <a:extLst>
              <a:ext uri="{FF2B5EF4-FFF2-40B4-BE49-F238E27FC236}">
                <a16:creationId xmlns:a16="http://schemas.microsoft.com/office/drawing/2014/main" id="{C1A5C0A7-1144-A7B8-5BE5-AED06F1A03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9" y="4688526"/>
            <a:ext cx="1828800" cy="1828800"/>
          </a:xfrm>
          <a:prstGeom prst="rect">
            <a:avLst/>
          </a:prstGeom>
        </p:spPr>
      </p:pic>
      <p:sp>
        <p:nvSpPr>
          <p:cNvPr id="22" name="TextBox 21">
            <a:extLst>
              <a:ext uri="{FF2B5EF4-FFF2-40B4-BE49-F238E27FC236}">
                <a16:creationId xmlns:a16="http://schemas.microsoft.com/office/drawing/2014/main" id="{DD084A25-93A8-4825-44ED-1B3ABD19E8A7}"/>
              </a:ext>
            </a:extLst>
          </p:cNvPr>
          <p:cNvSpPr txBox="1"/>
          <p:nvPr/>
        </p:nvSpPr>
        <p:spPr>
          <a:xfrm>
            <a:off x="10367003" y="5236557"/>
            <a:ext cx="1653362" cy="738664"/>
          </a:xfrm>
          <a:prstGeom prst="rect">
            <a:avLst/>
          </a:prstGeom>
          <a:noFill/>
        </p:spPr>
        <p:txBody>
          <a:bodyPr wrap="square" rtlCol="0">
            <a:spAutoFit/>
          </a:bodyPr>
          <a:lstStyle/>
          <a:p>
            <a:endParaRPr lang="en-US" dirty="0"/>
          </a:p>
          <a:p>
            <a:r>
              <a:rPr lang="en-US" dirty="0"/>
              <a:t> </a:t>
            </a:r>
            <a:r>
              <a:rPr lang="en-US" sz="2400" dirty="0">
                <a:solidFill>
                  <a:schemeClr val="bg1"/>
                </a:solidFill>
              </a:rPr>
              <a:t>BSMS2001</a:t>
            </a:r>
            <a:r>
              <a:rPr lang="en-US" dirty="0"/>
              <a:t> </a:t>
            </a:r>
          </a:p>
        </p:txBody>
      </p:sp>
      <p:sp>
        <p:nvSpPr>
          <p:cNvPr id="23" name="TextBox 22">
            <a:extLst>
              <a:ext uri="{FF2B5EF4-FFF2-40B4-BE49-F238E27FC236}">
                <a16:creationId xmlns:a16="http://schemas.microsoft.com/office/drawing/2014/main" id="{4E69AE2C-9AE0-E966-FAB9-57433E163F16}"/>
              </a:ext>
            </a:extLst>
          </p:cNvPr>
          <p:cNvSpPr txBox="1"/>
          <p:nvPr/>
        </p:nvSpPr>
        <p:spPr>
          <a:xfrm>
            <a:off x="10067596" y="271878"/>
            <a:ext cx="2017554" cy="707886"/>
          </a:xfrm>
          <a:prstGeom prst="rect">
            <a:avLst/>
          </a:prstGeom>
          <a:noFill/>
        </p:spPr>
        <p:txBody>
          <a:bodyPr wrap="square" rtlCol="0">
            <a:spAutoFit/>
          </a:bodyPr>
          <a:lstStyle/>
          <a:p>
            <a:r>
              <a:rPr lang="en-US" sz="2000" dirty="0">
                <a:solidFill>
                  <a:schemeClr val="accent2">
                    <a:lumMod val="20000"/>
                    <a:lumOff val="80000"/>
                  </a:schemeClr>
                </a:solidFill>
                <a:latin typeface="Abadi" panose="020B0604020104020204" pitchFamily="34" charset="0"/>
              </a:rPr>
              <a:t>23f3003307</a:t>
            </a:r>
          </a:p>
          <a:p>
            <a:r>
              <a:rPr lang="en-US" sz="2000" dirty="0">
                <a:solidFill>
                  <a:schemeClr val="accent2">
                    <a:lumMod val="20000"/>
                    <a:lumOff val="80000"/>
                  </a:schemeClr>
                </a:solidFill>
                <a:latin typeface="Abadi" panose="020B0604020104020204" pitchFamily="34" charset="0"/>
              </a:rPr>
              <a:t> Sri Kruthin P</a:t>
            </a:r>
          </a:p>
        </p:txBody>
      </p:sp>
      <p:sp>
        <p:nvSpPr>
          <p:cNvPr id="3" name="Slide Number Placeholder 2">
            <a:extLst>
              <a:ext uri="{FF2B5EF4-FFF2-40B4-BE49-F238E27FC236}">
                <a16:creationId xmlns:a16="http://schemas.microsoft.com/office/drawing/2014/main" id="{F2074EAB-4A34-B65E-50C7-58634DB492E9}"/>
              </a:ext>
            </a:extLst>
          </p:cNvPr>
          <p:cNvSpPr>
            <a:spLocks noGrp="1"/>
          </p:cNvSpPr>
          <p:nvPr>
            <p:ph type="sldNum" sz="quarter" idx="12"/>
          </p:nvPr>
        </p:nvSpPr>
        <p:spPr/>
        <p:txBody>
          <a:bodyPr/>
          <a:lstStyle/>
          <a:p>
            <a:fld id="{06FEDF93-2BFD-41CA-ABC7-B039102F3792}" type="slidenum">
              <a:rPr lang="en-US" smtClean="0"/>
              <a:t>1</a:t>
            </a:fld>
            <a:endParaRPr lang="en-US" dirty="0"/>
          </a:p>
        </p:txBody>
      </p:sp>
    </p:spTree>
    <p:extLst>
      <p:ext uri="{BB962C8B-B14F-4D97-AF65-F5344CB8AC3E}">
        <p14:creationId xmlns:p14="http://schemas.microsoft.com/office/powerpoint/2010/main" val="238784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EE7BF08-8935-5DF5-FCA5-9F5182BD4D5B}"/>
              </a:ext>
            </a:extLst>
          </p:cNvPr>
          <p:cNvSpPr txBox="1">
            <a:spLocks/>
          </p:cNvSpPr>
          <p:nvPr/>
        </p:nvSpPr>
        <p:spPr>
          <a:xfrm>
            <a:off x="228600" y="190500"/>
            <a:ext cx="11734800" cy="6647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Organizational Background</a:t>
            </a:r>
            <a:br>
              <a:rPr lang="en-US" sz="2800" dirty="0">
                <a:solidFill>
                  <a:schemeClr val="tx1">
                    <a:lumMod val="75000"/>
                    <a:lumOff val="25000"/>
                  </a:schemeClr>
                </a:solidFill>
              </a:rPr>
            </a:br>
            <a:r>
              <a:rPr lang="en-US" sz="2000" dirty="0">
                <a:solidFill>
                  <a:schemeClr val="tx1">
                    <a:lumMod val="75000"/>
                    <a:lumOff val="25000"/>
                  </a:schemeClr>
                </a:solidFill>
              </a:rPr>
              <a:t> </a:t>
            </a:r>
            <a:endParaRPr lang="en-US" sz="2800" dirty="0">
              <a:solidFill>
                <a:schemeClr val="tx1">
                  <a:lumMod val="75000"/>
                  <a:lumOff val="25000"/>
                </a:schemeClr>
              </a:solidFill>
            </a:endParaRPr>
          </a:p>
        </p:txBody>
      </p:sp>
      <p:cxnSp>
        <p:nvCxnSpPr>
          <p:cNvPr id="5" name="Straight Connector 4">
            <a:extLst>
              <a:ext uri="{FF2B5EF4-FFF2-40B4-BE49-F238E27FC236}">
                <a16:creationId xmlns:a16="http://schemas.microsoft.com/office/drawing/2014/main" id="{867DD19B-AA0E-DB5F-BB1C-955533B795D5}"/>
              </a:ext>
              <a:ext uri="{C183D7F6-B498-43B3-948B-1728B52AA6E4}">
                <adec:decorative xmlns:adec="http://schemas.microsoft.com/office/drawing/2017/decorative" val="1"/>
              </a:ext>
            </a:extLst>
          </p:cNvPr>
          <p:cNvCxnSpPr>
            <a:cxnSpLocks/>
          </p:cNvCxnSpPr>
          <p:nvPr/>
        </p:nvCxnSpPr>
        <p:spPr>
          <a:xfrm>
            <a:off x="0" y="522898"/>
            <a:ext cx="3471169"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F3929528-F98B-8A24-A4C3-A7CF903A6751}"/>
              </a:ext>
              <a:ext uri="{C183D7F6-B498-43B3-948B-1728B52AA6E4}">
                <adec:decorative xmlns:adec="http://schemas.microsoft.com/office/drawing/2017/decorative" val="1"/>
              </a:ext>
            </a:extLst>
          </p:cNvPr>
          <p:cNvCxnSpPr>
            <a:cxnSpLocks/>
          </p:cNvCxnSpPr>
          <p:nvPr/>
        </p:nvCxnSpPr>
        <p:spPr>
          <a:xfrm>
            <a:off x="8797771" y="522898"/>
            <a:ext cx="3394229"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5" name="Content Placeholder 9">
            <a:extLst>
              <a:ext uri="{FF2B5EF4-FFF2-40B4-BE49-F238E27FC236}">
                <a16:creationId xmlns:a16="http://schemas.microsoft.com/office/drawing/2014/main" id="{17F9EAA3-E100-2864-87EC-6461618D610C}"/>
              </a:ext>
            </a:extLst>
          </p:cNvPr>
          <p:cNvSpPr txBox="1">
            <a:spLocks/>
          </p:cNvSpPr>
          <p:nvPr/>
        </p:nvSpPr>
        <p:spPr bwMode="white">
          <a:xfrm>
            <a:off x="8479503" y="1690689"/>
            <a:ext cx="2983732" cy="19224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100"/>
              </a:spcBef>
              <a:buNone/>
            </a:pPr>
            <a:r>
              <a:rPr lang="en-US" sz="1900" b="1" dirty="0"/>
              <a:t>Exports</a:t>
            </a:r>
          </a:p>
          <a:p>
            <a:pPr marL="0" marR="5080" indent="0">
              <a:lnSpc>
                <a:spcPct val="100000"/>
              </a:lnSpc>
              <a:spcBef>
                <a:spcPts val="600"/>
              </a:spcBef>
              <a:buNone/>
            </a:pPr>
            <a:r>
              <a:rPr lang="en-US" sz="1400" i="1" spc="-15" dirty="0">
                <a:cs typeface="Arial"/>
              </a:rPr>
              <a:t>The total export of 858,57,10,19,087 (INR) (i.e. 10,26,08,52,215 USD) between April -2024 To October -2024.</a:t>
            </a:r>
          </a:p>
        </p:txBody>
      </p:sp>
      <p:sp>
        <p:nvSpPr>
          <p:cNvPr id="16" name="Content Placeholder 8">
            <a:extLst>
              <a:ext uri="{FF2B5EF4-FFF2-40B4-BE49-F238E27FC236}">
                <a16:creationId xmlns:a16="http://schemas.microsoft.com/office/drawing/2014/main" id="{F09508F6-1DC7-0E66-78DE-CF935F1D396B}"/>
              </a:ext>
            </a:extLst>
          </p:cNvPr>
          <p:cNvSpPr txBox="1">
            <a:spLocks/>
          </p:cNvSpPr>
          <p:nvPr/>
        </p:nvSpPr>
        <p:spPr bwMode="white">
          <a:xfrm>
            <a:off x="4843363" y="1702826"/>
            <a:ext cx="3148965" cy="19224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100"/>
              </a:spcBef>
              <a:buNone/>
            </a:pPr>
            <a:r>
              <a:rPr lang="en-US" sz="1900" b="1" dirty="0"/>
              <a:t>TS-</a:t>
            </a:r>
            <a:r>
              <a:rPr lang="en-US" sz="1900" b="1" dirty="0" err="1"/>
              <a:t>iPASS</a:t>
            </a:r>
            <a:endParaRPr lang="en-US" sz="1900" b="1" dirty="0"/>
          </a:p>
          <a:p>
            <a:pPr marL="0" marR="5080" indent="0">
              <a:lnSpc>
                <a:spcPct val="100000"/>
              </a:lnSpc>
              <a:spcBef>
                <a:spcPts val="600"/>
              </a:spcBef>
              <a:buNone/>
            </a:pPr>
            <a:r>
              <a:rPr lang="en-US" sz="1400" i="1" spc="-15" dirty="0">
                <a:cs typeface="Arial"/>
              </a:rPr>
              <a:t>The TS-</a:t>
            </a:r>
            <a:r>
              <a:rPr lang="en-US" sz="1400" i="1" spc="-15" dirty="0" err="1">
                <a:cs typeface="Arial"/>
              </a:rPr>
              <a:t>iPASS</a:t>
            </a:r>
            <a:r>
              <a:rPr lang="en-US" sz="1400" i="1" spc="-15" dirty="0">
                <a:cs typeface="Arial"/>
              </a:rPr>
              <a:t> is a single-window clearance system for investors in Telangana, simplifying business approvals and promoting ease of doing business.</a:t>
            </a:r>
          </a:p>
        </p:txBody>
      </p:sp>
      <p:sp>
        <p:nvSpPr>
          <p:cNvPr id="17" name="Content Placeholder 6">
            <a:extLst>
              <a:ext uri="{FF2B5EF4-FFF2-40B4-BE49-F238E27FC236}">
                <a16:creationId xmlns:a16="http://schemas.microsoft.com/office/drawing/2014/main" id="{20AAD593-D756-7F63-4314-50A9D4F99D74}"/>
              </a:ext>
            </a:extLst>
          </p:cNvPr>
          <p:cNvSpPr>
            <a:spLocks noGrp="1"/>
          </p:cNvSpPr>
          <p:nvPr>
            <p:ph sz="half" idx="1"/>
          </p:nvPr>
        </p:nvSpPr>
        <p:spPr bwMode="white">
          <a:xfrm>
            <a:off x="1337076" y="1702825"/>
            <a:ext cx="3148965" cy="2146629"/>
          </a:xfrm>
        </p:spPr>
        <p:txBody>
          <a:bodyPr>
            <a:noAutofit/>
          </a:bodyPr>
          <a:lstStyle/>
          <a:p>
            <a:pPr marL="0" indent="0">
              <a:lnSpc>
                <a:spcPct val="120000"/>
              </a:lnSpc>
              <a:spcBef>
                <a:spcPts val="100"/>
              </a:spcBef>
              <a:buNone/>
            </a:pPr>
            <a:r>
              <a:rPr lang="en-US" sz="1900" b="1" dirty="0"/>
              <a:t>Department</a:t>
            </a:r>
          </a:p>
          <a:p>
            <a:pPr marL="0" marR="5080" indent="0">
              <a:lnSpc>
                <a:spcPct val="100000"/>
              </a:lnSpc>
              <a:spcBef>
                <a:spcPts val="600"/>
              </a:spcBef>
              <a:buNone/>
            </a:pPr>
            <a:r>
              <a:rPr lang="en-US" sz="1400" i="1" spc="-15" dirty="0">
                <a:cs typeface="Arial"/>
              </a:rPr>
              <a:t>The Industries &amp; Commerce Department, Telangana, looking after the Sections like Mines, Handlooms &amp; Textiles, Industrial Establishment – Sugar Industries &amp; Commerce, Export &amp; Promotion, INF &amp; IP (Infrastructure &amp; Industrial Promotion), MSME-FP- Biotech.</a:t>
            </a:r>
            <a:endParaRPr lang="en-US" sz="1800" i="1" spc="-15" dirty="0">
              <a:cs typeface="Arial"/>
            </a:endParaRPr>
          </a:p>
        </p:txBody>
      </p:sp>
      <p:sp>
        <p:nvSpPr>
          <p:cNvPr id="18" name="Content Placeholder 10">
            <a:extLst>
              <a:ext uri="{FF2B5EF4-FFF2-40B4-BE49-F238E27FC236}">
                <a16:creationId xmlns:a16="http://schemas.microsoft.com/office/drawing/2014/main" id="{1AED44BB-C976-5DF9-6B97-055A6CE93CB4}"/>
              </a:ext>
            </a:extLst>
          </p:cNvPr>
          <p:cNvSpPr txBox="1">
            <a:spLocks/>
          </p:cNvSpPr>
          <p:nvPr/>
        </p:nvSpPr>
        <p:spPr bwMode="white">
          <a:xfrm>
            <a:off x="8479503" y="3849456"/>
            <a:ext cx="2983732" cy="19224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100"/>
              </a:spcBef>
              <a:buNone/>
            </a:pPr>
            <a:r>
              <a:rPr lang="en-US" sz="1900" b="1" dirty="0"/>
              <a:t>Data Set</a:t>
            </a:r>
          </a:p>
          <a:p>
            <a:pPr marL="0" marR="5080" indent="0">
              <a:lnSpc>
                <a:spcPct val="100000"/>
              </a:lnSpc>
              <a:spcBef>
                <a:spcPts val="600"/>
              </a:spcBef>
              <a:buNone/>
            </a:pPr>
            <a:r>
              <a:rPr lang="en-US" sz="1400" i="1" spc="-15" dirty="0">
                <a:cs typeface="Arial"/>
              </a:rPr>
              <a:t>Data collected from the Telangana Government’s Open Data Portal.</a:t>
            </a:r>
          </a:p>
          <a:p>
            <a:pPr marL="0" marR="5080" indent="0">
              <a:lnSpc>
                <a:spcPct val="100000"/>
              </a:lnSpc>
              <a:spcBef>
                <a:spcPts val="600"/>
              </a:spcBef>
              <a:buNone/>
            </a:pPr>
            <a:r>
              <a:rPr lang="en-US" sz="1400" i="1" spc="-15" dirty="0">
                <a:solidFill>
                  <a:srgbClr val="0000FF"/>
                </a:solidFill>
                <a:cs typeface="Arial"/>
                <a:hlinkClick r:id="rId2">
                  <a:extLst>
                    <a:ext uri="{A12FA001-AC4F-418D-AE19-62706E023703}">
                      <ahyp:hlinkClr xmlns:ahyp="http://schemas.microsoft.com/office/drawing/2018/hyperlinkcolor" val="tx"/>
                    </a:ext>
                  </a:extLst>
                </a:hlinkClick>
              </a:rPr>
              <a:t>https://data.telangana.gov.in/search/?page=2&amp;theme=Industries</a:t>
            </a:r>
            <a:r>
              <a:rPr lang="en-US" sz="1400" i="1" spc="-15" dirty="0">
                <a:solidFill>
                  <a:srgbClr val="0000FF"/>
                </a:solidFill>
                <a:cs typeface="Arial"/>
              </a:rPr>
              <a:t>  </a:t>
            </a:r>
          </a:p>
        </p:txBody>
      </p:sp>
      <p:sp>
        <p:nvSpPr>
          <p:cNvPr id="19" name="Content Placeholder 11">
            <a:extLst>
              <a:ext uri="{FF2B5EF4-FFF2-40B4-BE49-F238E27FC236}">
                <a16:creationId xmlns:a16="http://schemas.microsoft.com/office/drawing/2014/main" id="{9226F9DC-6CCA-8627-8A5D-7C3D54550282}"/>
              </a:ext>
            </a:extLst>
          </p:cNvPr>
          <p:cNvSpPr txBox="1">
            <a:spLocks/>
          </p:cNvSpPr>
          <p:nvPr/>
        </p:nvSpPr>
        <p:spPr bwMode="white">
          <a:xfrm>
            <a:off x="4843363" y="3849456"/>
            <a:ext cx="3168023" cy="281804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100"/>
              </a:spcBef>
              <a:buNone/>
            </a:pPr>
            <a:r>
              <a:rPr lang="en-US" sz="1900" b="1" dirty="0"/>
              <a:t>Schemes</a:t>
            </a:r>
          </a:p>
          <a:p>
            <a:pPr marL="0" marR="5080" indent="0">
              <a:lnSpc>
                <a:spcPct val="100000"/>
              </a:lnSpc>
              <a:spcBef>
                <a:spcPts val="600"/>
              </a:spcBef>
              <a:buNone/>
            </a:pPr>
            <a:r>
              <a:rPr lang="en-US" sz="1400" i="1" spc="-15" dirty="0">
                <a:cs typeface="Arial"/>
              </a:rPr>
              <a:t>Composite Loan Scheme</a:t>
            </a:r>
          </a:p>
          <a:p>
            <a:pPr marL="0" marR="5080" indent="0">
              <a:lnSpc>
                <a:spcPct val="100000"/>
              </a:lnSpc>
              <a:spcBef>
                <a:spcPts val="600"/>
              </a:spcBef>
              <a:buNone/>
            </a:pPr>
            <a:r>
              <a:rPr lang="en-US" sz="1400" i="1" spc="-15" dirty="0">
                <a:cs typeface="Arial"/>
              </a:rPr>
              <a:t>Scheme for Acquisition of ISO series Certification by SSI Unit (RISO 9000)</a:t>
            </a:r>
          </a:p>
          <a:p>
            <a:pPr marL="0" marR="5080" indent="0">
              <a:lnSpc>
                <a:spcPct val="100000"/>
              </a:lnSpc>
              <a:spcBef>
                <a:spcPts val="600"/>
              </a:spcBef>
              <a:buNone/>
            </a:pPr>
            <a:r>
              <a:rPr lang="en-US" sz="1400" i="1" spc="-15" dirty="0">
                <a:cs typeface="Arial"/>
              </a:rPr>
              <a:t>National Equity Fund Scheme (NEF)</a:t>
            </a:r>
          </a:p>
          <a:p>
            <a:pPr marL="0" marR="5080" indent="0">
              <a:lnSpc>
                <a:spcPct val="100000"/>
              </a:lnSpc>
              <a:spcBef>
                <a:spcPts val="600"/>
              </a:spcBef>
              <a:buNone/>
            </a:pPr>
            <a:r>
              <a:rPr lang="en-US" sz="1400" i="1" spc="-15" dirty="0">
                <a:cs typeface="Arial"/>
              </a:rPr>
              <a:t>Scheme for Women Entrepreneurs (MUN)</a:t>
            </a:r>
          </a:p>
          <a:p>
            <a:pPr marL="0" marR="5080" indent="0">
              <a:lnSpc>
                <a:spcPct val="100000"/>
              </a:lnSpc>
              <a:spcBef>
                <a:spcPts val="600"/>
              </a:spcBef>
              <a:buNone/>
            </a:pPr>
            <a:r>
              <a:rPr lang="en-US" sz="1400" i="1" spc="-15" dirty="0">
                <a:cs typeface="Arial"/>
              </a:rPr>
              <a:t>Scheme for Technology Development and Modernization (RTDM)</a:t>
            </a:r>
          </a:p>
          <a:p>
            <a:pPr marL="0" marR="5080" indent="0">
              <a:lnSpc>
                <a:spcPct val="100000"/>
              </a:lnSpc>
              <a:spcBef>
                <a:spcPts val="600"/>
              </a:spcBef>
              <a:buNone/>
            </a:pPr>
            <a:r>
              <a:rPr lang="en-US" sz="1400" i="1" spc="-15" dirty="0">
                <a:cs typeface="Arial"/>
              </a:rPr>
              <a:t>Scheme for Textile Industry under Technology Upgradation Fund (RTUF)</a:t>
            </a:r>
          </a:p>
        </p:txBody>
      </p:sp>
      <p:pic>
        <p:nvPicPr>
          <p:cNvPr id="20" name="Picture Placeholder 35" descr="Check icon">
            <a:extLst>
              <a:ext uri="{FF2B5EF4-FFF2-40B4-BE49-F238E27FC236}">
                <a16:creationId xmlns:a16="http://schemas.microsoft.com/office/drawing/2014/main" id="{91B4856C-853E-0748-9901-0EA1EA2E4AD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white">
          <a:xfrm>
            <a:off x="838200" y="1679575"/>
            <a:ext cx="576000" cy="576000"/>
          </a:xfrm>
          <a:prstGeom prst="rect">
            <a:avLst/>
          </a:prstGeom>
        </p:spPr>
      </p:pic>
      <p:pic>
        <p:nvPicPr>
          <p:cNvPr id="21" name="Picture Placeholder 37" descr="Check icon">
            <a:extLst>
              <a:ext uri="{FF2B5EF4-FFF2-40B4-BE49-F238E27FC236}">
                <a16:creationId xmlns:a16="http://schemas.microsoft.com/office/drawing/2014/main" id="{E947C998-1ED4-7A75-990F-FA89804E4BE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white">
          <a:xfrm>
            <a:off x="4378157" y="1679575"/>
            <a:ext cx="576000" cy="576000"/>
          </a:xfrm>
          <a:prstGeom prst="rect">
            <a:avLst/>
          </a:prstGeom>
        </p:spPr>
      </p:pic>
      <p:pic>
        <p:nvPicPr>
          <p:cNvPr id="22" name="Picture Placeholder 39" descr="Check icon">
            <a:extLst>
              <a:ext uri="{FF2B5EF4-FFF2-40B4-BE49-F238E27FC236}">
                <a16:creationId xmlns:a16="http://schemas.microsoft.com/office/drawing/2014/main" id="{2311ED0C-BAC1-1867-BD86-11F37442D60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white">
          <a:xfrm>
            <a:off x="8015029" y="1679575"/>
            <a:ext cx="576000" cy="576000"/>
          </a:xfrm>
          <a:prstGeom prst="rect">
            <a:avLst/>
          </a:prstGeom>
        </p:spPr>
      </p:pic>
      <p:pic>
        <p:nvPicPr>
          <p:cNvPr id="23" name="Picture Placeholder 33" descr="Check icon">
            <a:extLst>
              <a:ext uri="{FF2B5EF4-FFF2-40B4-BE49-F238E27FC236}">
                <a16:creationId xmlns:a16="http://schemas.microsoft.com/office/drawing/2014/main" id="{B83F6C44-A78C-5725-2E74-D8215649C3F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white">
          <a:xfrm>
            <a:off x="838200" y="3792079"/>
            <a:ext cx="576000" cy="576000"/>
          </a:xfrm>
          <a:prstGeom prst="rect">
            <a:avLst/>
          </a:prstGeom>
        </p:spPr>
      </p:pic>
      <p:pic>
        <p:nvPicPr>
          <p:cNvPr id="24" name="Picture Placeholder 41" descr="Check icon">
            <a:extLst>
              <a:ext uri="{FF2B5EF4-FFF2-40B4-BE49-F238E27FC236}">
                <a16:creationId xmlns:a16="http://schemas.microsoft.com/office/drawing/2014/main" id="{2CF1E743-764C-7726-A256-EF052194483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white">
          <a:xfrm>
            <a:off x="8015029" y="3792078"/>
            <a:ext cx="576000" cy="576000"/>
          </a:xfrm>
          <a:prstGeom prst="rect">
            <a:avLst/>
          </a:prstGeom>
        </p:spPr>
      </p:pic>
      <p:sp>
        <p:nvSpPr>
          <p:cNvPr id="25" name="object 5" descr="Beige rectangle">
            <a:extLst>
              <a:ext uri="{FF2B5EF4-FFF2-40B4-BE49-F238E27FC236}">
                <a16:creationId xmlns:a16="http://schemas.microsoft.com/office/drawing/2014/main" id="{143178B1-B44D-44F8-8DE7-D812707EE4AB}"/>
              </a:ext>
            </a:extLst>
          </p:cNvPr>
          <p:cNvSpPr/>
          <p:nvPr/>
        </p:nvSpPr>
        <p:spPr bwMode="ltGray">
          <a:xfrm>
            <a:off x="929705" y="1339122"/>
            <a:ext cx="3060000" cy="0"/>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pic>
        <p:nvPicPr>
          <p:cNvPr id="26" name="Picture Placeholder 31" descr="Check icon">
            <a:extLst>
              <a:ext uri="{FF2B5EF4-FFF2-40B4-BE49-F238E27FC236}">
                <a16:creationId xmlns:a16="http://schemas.microsoft.com/office/drawing/2014/main" id="{314E1B9E-D3BD-FAA9-8F06-9DB38BF2C8D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white">
          <a:xfrm>
            <a:off x="4378157" y="3792078"/>
            <a:ext cx="576000" cy="576000"/>
          </a:xfrm>
          <a:prstGeom prst="rect">
            <a:avLst/>
          </a:prstGeom>
        </p:spPr>
      </p:pic>
      <p:sp>
        <p:nvSpPr>
          <p:cNvPr id="27" name="Content Placeholder 11">
            <a:extLst>
              <a:ext uri="{FF2B5EF4-FFF2-40B4-BE49-F238E27FC236}">
                <a16:creationId xmlns:a16="http://schemas.microsoft.com/office/drawing/2014/main" id="{89811125-002E-1A06-52CF-3DB62D3D3BA8}"/>
              </a:ext>
            </a:extLst>
          </p:cNvPr>
          <p:cNvSpPr txBox="1">
            <a:spLocks/>
          </p:cNvSpPr>
          <p:nvPr/>
        </p:nvSpPr>
        <p:spPr bwMode="white">
          <a:xfrm>
            <a:off x="1283776" y="3849454"/>
            <a:ext cx="3094381" cy="19224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100"/>
              </a:spcBef>
              <a:buNone/>
            </a:pPr>
            <a:r>
              <a:rPr lang="en-US" sz="1900" b="1" dirty="0"/>
              <a:t>MSMEs in Telangana</a:t>
            </a:r>
          </a:p>
          <a:p>
            <a:pPr marL="0" marR="5080" indent="0">
              <a:lnSpc>
                <a:spcPct val="100000"/>
              </a:lnSpc>
              <a:spcBef>
                <a:spcPts val="600"/>
              </a:spcBef>
              <a:buNone/>
            </a:pPr>
            <a:r>
              <a:rPr lang="en-US" sz="1400" i="1" spc="-15" dirty="0">
                <a:cs typeface="Arial"/>
              </a:rPr>
              <a:t>Micro: 25,94,000</a:t>
            </a:r>
          </a:p>
          <a:p>
            <a:pPr marL="0" marR="5080" indent="0">
              <a:lnSpc>
                <a:spcPct val="100000"/>
              </a:lnSpc>
              <a:spcBef>
                <a:spcPts val="600"/>
              </a:spcBef>
              <a:buNone/>
            </a:pPr>
            <a:r>
              <a:rPr lang="en-US" sz="1400" i="1" spc="-15" dirty="0">
                <a:cs typeface="Arial"/>
              </a:rPr>
              <a:t>Small: 10,000</a:t>
            </a:r>
          </a:p>
          <a:p>
            <a:pPr marL="0" marR="5080" indent="0">
              <a:lnSpc>
                <a:spcPct val="100000"/>
              </a:lnSpc>
              <a:spcBef>
                <a:spcPts val="600"/>
              </a:spcBef>
              <a:buNone/>
            </a:pPr>
            <a:r>
              <a:rPr lang="en-US" sz="1400" i="1" spc="-15" dirty="0">
                <a:cs typeface="Arial"/>
              </a:rPr>
              <a:t>Medium: 1,000</a:t>
            </a:r>
          </a:p>
        </p:txBody>
      </p:sp>
      <p:pic>
        <p:nvPicPr>
          <p:cNvPr id="29" name="Picture 28">
            <a:extLst>
              <a:ext uri="{FF2B5EF4-FFF2-40B4-BE49-F238E27FC236}">
                <a16:creationId xmlns:a16="http://schemas.microsoft.com/office/drawing/2014/main" id="{2FEA29F9-FA73-DBD3-A6A4-9A692830C430}"/>
              </a:ext>
            </a:extLst>
          </p:cNvPr>
          <p:cNvPicPr>
            <a:picLocks noChangeAspect="1"/>
          </p:cNvPicPr>
          <p:nvPr/>
        </p:nvPicPr>
        <p:blipFill>
          <a:blip r:embed="rId5"/>
          <a:stretch>
            <a:fillRect/>
          </a:stretch>
        </p:blipFill>
        <p:spPr>
          <a:xfrm>
            <a:off x="1126200" y="5144691"/>
            <a:ext cx="2830454" cy="1702783"/>
          </a:xfrm>
          <a:prstGeom prst="rect">
            <a:avLst/>
          </a:prstGeom>
        </p:spPr>
      </p:pic>
      <p:sp>
        <p:nvSpPr>
          <p:cNvPr id="2" name="Slide Number Placeholder 1">
            <a:extLst>
              <a:ext uri="{FF2B5EF4-FFF2-40B4-BE49-F238E27FC236}">
                <a16:creationId xmlns:a16="http://schemas.microsoft.com/office/drawing/2014/main" id="{F869F73F-5FF3-3B92-5BF5-03D2D1111619}"/>
              </a:ext>
            </a:extLst>
          </p:cNvPr>
          <p:cNvSpPr>
            <a:spLocks noGrp="1"/>
          </p:cNvSpPr>
          <p:nvPr>
            <p:ph type="sldNum" sz="quarter" idx="12"/>
          </p:nvPr>
        </p:nvSpPr>
        <p:spPr/>
        <p:txBody>
          <a:bodyPr/>
          <a:lstStyle/>
          <a:p>
            <a:fld id="{06FEDF93-2BFD-41CA-ABC7-B039102F3792}" type="slidenum">
              <a:rPr lang="en-US" smtClean="0"/>
              <a:t>2</a:t>
            </a:fld>
            <a:endParaRPr lang="en-US" dirty="0"/>
          </a:p>
        </p:txBody>
      </p:sp>
    </p:spTree>
    <p:extLst>
      <p:ext uri="{BB962C8B-B14F-4D97-AF65-F5344CB8AC3E}">
        <p14:creationId xmlns:p14="http://schemas.microsoft.com/office/powerpoint/2010/main" val="2266121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82049-2B3B-F9E4-6D99-148E64DFC2A2}"/>
            </a:ext>
          </a:extLst>
        </p:cNvPr>
        <p:cNvGrpSpPr/>
        <p:nvPr/>
      </p:nvGrpSpPr>
      <p:grpSpPr>
        <a:xfrm>
          <a:off x="0" y="0"/>
          <a:ext cx="0" cy="0"/>
          <a:chOff x="0" y="0"/>
          <a:chExt cx="0" cy="0"/>
        </a:xfrm>
      </p:grpSpPr>
      <p:sp>
        <p:nvSpPr>
          <p:cNvPr id="9" name="Title 8" hidden="1">
            <a:extLst>
              <a:ext uri="{FF2B5EF4-FFF2-40B4-BE49-F238E27FC236}">
                <a16:creationId xmlns:a16="http://schemas.microsoft.com/office/drawing/2014/main" id="{5F88861D-5D23-8F81-B298-8C5C777C9636}"/>
              </a:ext>
            </a:extLst>
          </p:cNvPr>
          <p:cNvSpPr>
            <a:spLocks noGrp="1"/>
          </p:cNvSpPr>
          <p:nvPr>
            <p:ph type="title" idx="4294967295"/>
          </p:nvPr>
        </p:nvSpPr>
        <p:spPr>
          <a:xfrm>
            <a:off x="0" y="365125"/>
            <a:ext cx="10515600" cy="1325563"/>
          </a:xfrm>
        </p:spPr>
        <p:txBody>
          <a:bodyPr/>
          <a:lstStyle/>
          <a:p>
            <a:r>
              <a:rPr lang="en-US" dirty="0"/>
              <a:t>Project analysis slide 3</a:t>
            </a:r>
          </a:p>
        </p:txBody>
      </p:sp>
      <p:cxnSp>
        <p:nvCxnSpPr>
          <p:cNvPr id="8" name="Straight Connector 7">
            <a:extLst>
              <a:ext uri="{FF2B5EF4-FFF2-40B4-BE49-F238E27FC236}">
                <a16:creationId xmlns:a16="http://schemas.microsoft.com/office/drawing/2014/main" id="{9606F04D-FE02-D993-AD8E-A23A79FEC7AD}"/>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9EDAB246-DFBB-5BF7-20E9-2525ADA17E80}"/>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Defining Problem</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5A5A62F5-4A56-7797-92D9-8D644C6B9DE1}"/>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3" name="Trapezoid 42">
            <a:extLst>
              <a:ext uri="{FF2B5EF4-FFF2-40B4-BE49-F238E27FC236}">
                <a16:creationId xmlns:a16="http://schemas.microsoft.com/office/drawing/2014/main" id="{CE208157-B63E-EE87-85BA-A95B490A6062}"/>
              </a:ext>
              <a:ext uri="{C183D7F6-B498-43B3-948B-1728B52AA6E4}">
                <adec:decorative xmlns:adec="http://schemas.microsoft.com/office/drawing/2017/decorative" val="1"/>
              </a:ext>
            </a:extLst>
          </p:cNvPr>
          <p:cNvSpPr/>
          <p:nvPr/>
        </p:nvSpPr>
        <p:spPr>
          <a:xfrm rot="5400000">
            <a:off x="1523943" y="2436168"/>
            <a:ext cx="4336142" cy="2519064"/>
          </a:xfrm>
          <a:prstGeom prst="trapezoid">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Trapezoid 43">
            <a:extLst>
              <a:ext uri="{FF2B5EF4-FFF2-40B4-BE49-F238E27FC236}">
                <a16:creationId xmlns:a16="http://schemas.microsoft.com/office/drawing/2014/main" id="{0DC839E1-7B22-4957-D9B9-C5B5EB02F481}"/>
              </a:ext>
              <a:ext uri="{C183D7F6-B498-43B3-948B-1728B52AA6E4}">
                <adec:decorative xmlns:adec="http://schemas.microsoft.com/office/drawing/2017/decorative" val="1"/>
              </a:ext>
            </a:extLst>
          </p:cNvPr>
          <p:cNvSpPr/>
          <p:nvPr/>
        </p:nvSpPr>
        <p:spPr>
          <a:xfrm rot="5400000">
            <a:off x="4096168" y="2529329"/>
            <a:ext cx="4336142" cy="2332741"/>
          </a:xfrm>
          <a:prstGeom prst="trapezoid">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Trapezoid 44">
            <a:extLst>
              <a:ext uri="{FF2B5EF4-FFF2-40B4-BE49-F238E27FC236}">
                <a16:creationId xmlns:a16="http://schemas.microsoft.com/office/drawing/2014/main" id="{9062B0C7-20E9-5D44-BC24-D32652B83DE0}"/>
              </a:ext>
              <a:ext uri="{C183D7F6-B498-43B3-948B-1728B52AA6E4}">
                <adec:decorative xmlns:adec="http://schemas.microsoft.com/office/drawing/2017/decorative" val="1"/>
              </a:ext>
            </a:extLst>
          </p:cNvPr>
          <p:cNvSpPr/>
          <p:nvPr/>
        </p:nvSpPr>
        <p:spPr>
          <a:xfrm rot="5400000">
            <a:off x="6780171" y="2446690"/>
            <a:ext cx="4336142" cy="2413828"/>
          </a:xfrm>
          <a:prstGeom prst="trapezoid">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9FF3DEA6-B355-6353-57D0-63FA33CD3BA5}"/>
              </a:ext>
            </a:extLst>
          </p:cNvPr>
          <p:cNvSpPr/>
          <p:nvPr/>
        </p:nvSpPr>
        <p:spPr>
          <a:xfrm>
            <a:off x="2552330" y="2612692"/>
            <a:ext cx="2279367" cy="738664"/>
          </a:xfrm>
          <a:prstGeom prst="rect">
            <a:avLst/>
          </a:prstGeom>
        </p:spPr>
        <p:txBody>
          <a:bodyPr wrap="square" lIns="0" tIns="0" rIns="0" bIns="0">
            <a:spAutoFit/>
          </a:bodyPr>
          <a:lstStyle/>
          <a:p>
            <a:pPr algn="ctr"/>
            <a:r>
              <a:rPr lang="en-US" sz="1600" b="1" dirty="0">
                <a:solidFill>
                  <a:schemeClr val="bg1"/>
                </a:solidFill>
              </a:rPr>
              <a:t>Low exports despite high investments received in some areas.</a:t>
            </a:r>
          </a:p>
        </p:txBody>
      </p:sp>
      <p:sp>
        <p:nvSpPr>
          <p:cNvPr id="48" name="Rectangle 47">
            <a:extLst>
              <a:ext uri="{FF2B5EF4-FFF2-40B4-BE49-F238E27FC236}">
                <a16:creationId xmlns:a16="http://schemas.microsoft.com/office/drawing/2014/main" id="{1076B74D-34AA-C8E7-A1AA-6FA0E266D07A}"/>
              </a:ext>
            </a:extLst>
          </p:cNvPr>
          <p:cNvSpPr/>
          <p:nvPr/>
        </p:nvSpPr>
        <p:spPr>
          <a:xfrm>
            <a:off x="5315595" y="2611348"/>
            <a:ext cx="1937460" cy="738664"/>
          </a:xfrm>
          <a:prstGeom prst="rect">
            <a:avLst/>
          </a:prstGeom>
        </p:spPr>
        <p:txBody>
          <a:bodyPr wrap="square" lIns="0" tIns="0" rIns="0" bIns="0">
            <a:spAutoFit/>
          </a:bodyPr>
          <a:lstStyle/>
          <a:p>
            <a:pPr algn="ctr"/>
            <a:r>
              <a:rPr lang="en-US" sz="1600" b="1" dirty="0">
                <a:solidFill>
                  <a:schemeClr val="bg1"/>
                </a:solidFill>
              </a:rPr>
              <a:t>Investment concentrated in only few districts. (3 of 31)</a:t>
            </a:r>
          </a:p>
        </p:txBody>
      </p:sp>
      <p:sp>
        <p:nvSpPr>
          <p:cNvPr id="49" name="Rectangle 48">
            <a:extLst>
              <a:ext uri="{FF2B5EF4-FFF2-40B4-BE49-F238E27FC236}">
                <a16:creationId xmlns:a16="http://schemas.microsoft.com/office/drawing/2014/main" id="{B50092B9-19F8-1A6C-60C6-843651B8BFEB}"/>
              </a:ext>
            </a:extLst>
          </p:cNvPr>
          <p:cNvSpPr/>
          <p:nvPr/>
        </p:nvSpPr>
        <p:spPr>
          <a:xfrm>
            <a:off x="7959442" y="2621486"/>
            <a:ext cx="1997476" cy="492443"/>
          </a:xfrm>
          <a:prstGeom prst="rect">
            <a:avLst/>
          </a:prstGeom>
        </p:spPr>
        <p:txBody>
          <a:bodyPr wrap="square" lIns="0" tIns="0" rIns="0" bIns="0">
            <a:spAutoFit/>
          </a:bodyPr>
          <a:lstStyle/>
          <a:p>
            <a:pPr algn="ctr"/>
            <a:r>
              <a:rPr lang="en-US" sz="1600" b="1" dirty="0">
                <a:solidFill>
                  <a:schemeClr val="bg1"/>
                </a:solidFill>
              </a:rPr>
              <a:t>Lack of awareness of government incentives.</a:t>
            </a:r>
          </a:p>
        </p:txBody>
      </p:sp>
      <p:sp>
        <p:nvSpPr>
          <p:cNvPr id="52" name="Rectangle 51">
            <a:extLst>
              <a:ext uri="{FF2B5EF4-FFF2-40B4-BE49-F238E27FC236}">
                <a16:creationId xmlns:a16="http://schemas.microsoft.com/office/drawing/2014/main" id="{A56A2FCC-A224-66EE-A9E7-D7CA22E067B2}"/>
              </a:ext>
            </a:extLst>
          </p:cNvPr>
          <p:cNvSpPr/>
          <p:nvPr/>
        </p:nvSpPr>
        <p:spPr>
          <a:xfrm>
            <a:off x="2672179" y="3653603"/>
            <a:ext cx="2133045" cy="954364"/>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Certain districts like Jayshankar, Khammam have high investment, but exports are quite low.</a:t>
            </a:r>
          </a:p>
        </p:txBody>
      </p:sp>
      <p:sp>
        <p:nvSpPr>
          <p:cNvPr id="53" name="Rectangle 52">
            <a:extLst>
              <a:ext uri="{FF2B5EF4-FFF2-40B4-BE49-F238E27FC236}">
                <a16:creationId xmlns:a16="http://schemas.microsoft.com/office/drawing/2014/main" id="{2E14CB13-EFD8-F704-477F-87CD1661A45A}"/>
              </a:ext>
            </a:extLst>
          </p:cNvPr>
          <p:cNvSpPr/>
          <p:nvPr/>
        </p:nvSpPr>
        <p:spPr>
          <a:xfrm>
            <a:off x="5219978" y="3653603"/>
            <a:ext cx="2033077" cy="1198020"/>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Few districts getting huge amount for investment whereas remaining are getting less than 5% of investment.</a:t>
            </a:r>
          </a:p>
        </p:txBody>
      </p:sp>
      <p:sp>
        <p:nvSpPr>
          <p:cNvPr id="54" name="Rectangle 53">
            <a:extLst>
              <a:ext uri="{FF2B5EF4-FFF2-40B4-BE49-F238E27FC236}">
                <a16:creationId xmlns:a16="http://schemas.microsoft.com/office/drawing/2014/main" id="{8ADA92BC-6232-7324-E3B6-4071330D34DB}"/>
              </a:ext>
            </a:extLst>
          </p:cNvPr>
          <p:cNvSpPr/>
          <p:nvPr/>
        </p:nvSpPr>
        <p:spPr>
          <a:xfrm>
            <a:off x="7936637" y="3653603"/>
            <a:ext cx="2072198" cy="954364"/>
          </a:xfrm>
          <a:prstGeom prst="rect">
            <a:avLst/>
          </a:prstGeom>
        </p:spPr>
        <p:txBody>
          <a:bodyPr wrap="square" lIns="0" tIns="0" rIns="0" bIns="0" anchor="t">
            <a:spAutoFit/>
          </a:bodyPr>
          <a:lstStyle/>
          <a:p>
            <a:pPr algn="ctr">
              <a:lnSpc>
                <a:spcPts val="1900"/>
              </a:lnSpc>
            </a:pPr>
            <a:r>
              <a:rPr lang="en-US" sz="1400" dirty="0">
                <a:solidFill>
                  <a:schemeClr val="bg1"/>
                </a:solidFill>
                <a:cs typeface="Segoe UI" panose="020B0502040204020203" pitchFamily="34" charset="0"/>
              </a:rPr>
              <a:t>Many local entrepreneurs don’t have proper awareness of govt incentives.</a:t>
            </a:r>
          </a:p>
        </p:txBody>
      </p:sp>
      <p:sp>
        <p:nvSpPr>
          <p:cNvPr id="57" name="Freeform 4344" descr="Icon of wrench. ">
            <a:extLst>
              <a:ext uri="{FF2B5EF4-FFF2-40B4-BE49-F238E27FC236}">
                <a16:creationId xmlns:a16="http://schemas.microsoft.com/office/drawing/2014/main" id="{8D3BF6CB-E78A-1200-F166-B6E38B7E05FC}"/>
              </a:ext>
            </a:extLst>
          </p:cNvPr>
          <p:cNvSpPr>
            <a:spLocks/>
          </p:cNvSpPr>
          <p:nvPr/>
        </p:nvSpPr>
        <p:spPr bwMode="auto">
          <a:xfrm>
            <a:off x="3431491" y="1998502"/>
            <a:ext cx="373996" cy="373996"/>
          </a:xfrm>
          <a:custGeom>
            <a:avLst/>
            <a:gdLst>
              <a:gd name="T0" fmla="*/ 853 w 886"/>
              <a:gd name="T1" fmla="*/ 137 h 886"/>
              <a:gd name="T2" fmla="*/ 842 w 886"/>
              <a:gd name="T3" fmla="*/ 134 h 886"/>
              <a:gd name="T4" fmla="*/ 833 w 886"/>
              <a:gd name="T5" fmla="*/ 138 h 886"/>
              <a:gd name="T6" fmla="*/ 646 w 886"/>
              <a:gd name="T7" fmla="*/ 172 h 886"/>
              <a:gd name="T8" fmla="*/ 754 w 886"/>
              <a:gd name="T9" fmla="*/ 46 h 886"/>
              <a:gd name="T10" fmla="*/ 754 w 886"/>
              <a:gd name="T11" fmla="*/ 37 h 886"/>
              <a:gd name="T12" fmla="*/ 747 w 886"/>
              <a:gd name="T13" fmla="*/ 29 h 886"/>
              <a:gd name="T14" fmla="*/ 704 w 886"/>
              <a:gd name="T15" fmla="*/ 12 h 886"/>
              <a:gd name="T16" fmla="*/ 659 w 886"/>
              <a:gd name="T17" fmla="*/ 2 h 886"/>
              <a:gd name="T18" fmla="*/ 615 w 886"/>
              <a:gd name="T19" fmla="*/ 0 h 886"/>
              <a:gd name="T20" fmla="*/ 577 w 886"/>
              <a:gd name="T21" fmla="*/ 6 h 886"/>
              <a:gd name="T22" fmla="*/ 539 w 886"/>
              <a:gd name="T23" fmla="*/ 15 h 886"/>
              <a:gd name="T24" fmla="*/ 505 w 886"/>
              <a:gd name="T25" fmla="*/ 31 h 886"/>
              <a:gd name="T26" fmla="*/ 473 w 886"/>
              <a:gd name="T27" fmla="*/ 52 h 886"/>
              <a:gd name="T28" fmla="*/ 443 w 886"/>
              <a:gd name="T29" fmla="*/ 76 h 886"/>
              <a:gd name="T30" fmla="*/ 405 w 886"/>
              <a:gd name="T31" fmla="*/ 124 h 886"/>
              <a:gd name="T32" fmla="*/ 380 w 886"/>
              <a:gd name="T33" fmla="*/ 178 h 886"/>
              <a:gd name="T34" fmla="*/ 368 w 886"/>
              <a:gd name="T35" fmla="*/ 235 h 886"/>
              <a:gd name="T36" fmla="*/ 368 w 886"/>
              <a:gd name="T37" fmla="*/ 293 h 886"/>
              <a:gd name="T38" fmla="*/ 382 w 886"/>
              <a:gd name="T39" fmla="*/ 351 h 886"/>
              <a:gd name="T40" fmla="*/ 21 w 886"/>
              <a:gd name="T41" fmla="*/ 738 h 886"/>
              <a:gd name="T42" fmla="*/ 7 w 886"/>
              <a:gd name="T43" fmla="*/ 762 h 886"/>
              <a:gd name="T44" fmla="*/ 1 w 886"/>
              <a:gd name="T45" fmla="*/ 787 h 886"/>
              <a:gd name="T46" fmla="*/ 2 w 886"/>
              <a:gd name="T47" fmla="*/ 813 h 886"/>
              <a:gd name="T48" fmla="*/ 11 w 886"/>
              <a:gd name="T49" fmla="*/ 838 h 886"/>
              <a:gd name="T50" fmla="*/ 27 w 886"/>
              <a:gd name="T51" fmla="*/ 860 h 886"/>
              <a:gd name="T52" fmla="*/ 48 w 886"/>
              <a:gd name="T53" fmla="*/ 875 h 886"/>
              <a:gd name="T54" fmla="*/ 73 w 886"/>
              <a:gd name="T55" fmla="*/ 884 h 886"/>
              <a:gd name="T56" fmla="*/ 99 w 886"/>
              <a:gd name="T57" fmla="*/ 885 h 886"/>
              <a:gd name="T58" fmla="*/ 125 w 886"/>
              <a:gd name="T59" fmla="*/ 879 h 886"/>
              <a:gd name="T60" fmla="*/ 148 w 886"/>
              <a:gd name="T61" fmla="*/ 866 h 886"/>
              <a:gd name="T62" fmla="*/ 530 w 886"/>
              <a:gd name="T63" fmla="*/ 502 h 886"/>
              <a:gd name="T64" fmla="*/ 570 w 886"/>
              <a:gd name="T65" fmla="*/ 515 h 886"/>
              <a:gd name="T66" fmla="*/ 612 w 886"/>
              <a:gd name="T67" fmla="*/ 520 h 886"/>
              <a:gd name="T68" fmla="*/ 626 w 886"/>
              <a:gd name="T69" fmla="*/ 520 h 886"/>
              <a:gd name="T70" fmla="*/ 664 w 886"/>
              <a:gd name="T71" fmla="*/ 518 h 886"/>
              <a:gd name="T72" fmla="*/ 702 w 886"/>
              <a:gd name="T73" fmla="*/ 509 h 886"/>
              <a:gd name="T74" fmla="*/ 737 w 886"/>
              <a:gd name="T75" fmla="*/ 496 h 886"/>
              <a:gd name="T76" fmla="*/ 769 w 886"/>
              <a:gd name="T77" fmla="*/ 477 h 886"/>
              <a:gd name="T78" fmla="*/ 800 w 886"/>
              <a:gd name="T79" fmla="*/ 454 h 886"/>
              <a:gd name="T80" fmla="*/ 837 w 886"/>
              <a:gd name="T81" fmla="*/ 413 h 886"/>
              <a:gd name="T82" fmla="*/ 867 w 886"/>
              <a:gd name="T83" fmla="*/ 360 h 886"/>
              <a:gd name="T84" fmla="*/ 883 w 886"/>
              <a:gd name="T85" fmla="*/ 301 h 886"/>
              <a:gd name="T86" fmla="*/ 885 w 886"/>
              <a:gd name="T87" fmla="*/ 241 h 886"/>
              <a:gd name="T88" fmla="*/ 873 w 886"/>
              <a:gd name="T89" fmla="*/ 181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86" h="886">
                <a:moveTo>
                  <a:pt x="857" y="143"/>
                </a:moveTo>
                <a:lnTo>
                  <a:pt x="855" y="139"/>
                </a:lnTo>
                <a:lnTo>
                  <a:pt x="853" y="137"/>
                </a:lnTo>
                <a:lnTo>
                  <a:pt x="849" y="135"/>
                </a:lnTo>
                <a:lnTo>
                  <a:pt x="846" y="133"/>
                </a:lnTo>
                <a:lnTo>
                  <a:pt x="842" y="134"/>
                </a:lnTo>
                <a:lnTo>
                  <a:pt x="839" y="135"/>
                </a:lnTo>
                <a:lnTo>
                  <a:pt x="836" y="136"/>
                </a:lnTo>
                <a:lnTo>
                  <a:pt x="833" y="138"/>
                </a:lnTo>
                <a:lnTo>
                  <a:pt x="712" y="259"/>
                </a:lnTo>
                <a:lnTo>
                  <a:pt x="646" y="259"/>
                </a:lnTo>
                <a:lnTo>
                  <a:pt x="646" y="172"/>
                </a:lnTo>
                <a:lnTo>
                  <a:pt x="751" y="53"/>
                </a:lnTo>
                <a:lnTo>
                  <a:pt x="753" y="49"/>
                </a:lnTo>
                <a:lnTo>
                  <a:pt x="754" y="46"/>
                </a:lnTo>
                <a:lnTo>
                  <a:pt x="755" y="43"/>
                </a:lnTo>
                <a:lnTo>
                  <a:pt x="755" y="39"/>
                </a:lnTo>
                <a:lnTo>
                  <a:pt x="754" y="37"/>
                </a:lnTo>
                <a:lnTo>
                  <a:pt x="752" y="33"/>
                </a:lnTo>
                <a:lnTo>
                  <a:pt x="750" y="31"/>
                </a:lnTo>
                <a:lnTo>
                  <a:pt x="747" y="29"/>
                </a:lnTo>
                <a:lnTo>
                  <a:pt x="733" y="23"/>
                </a:lnTo>
                <a:lnTo>
                  <a:pt x="719" y="16"/>
                </a:lnTo>
                <a:lnTo>
                  <a:pt x="704" y="12"/>
                </a:lnTo>
                <a:lnTo>
                  <a:pt x="689" y="8"/>
                </a:lnTo>
                <a:lnTo>
                  <a:pt x="674" y="5"/>
                </a:lnTo>
                <a:lnTo>
                  <a:pt x="659" y="2"/>
                </a:lnTo>
                <a:lnTo>
                  <a:pt x="643" y="1"/>
                </a:lnTo>
                <a:lnTo>
                  <a:pt x="628" y="0"/>
                </a:lnTo>
                <a:lnTo>
                  <a:pt x="615" y="0"/>
                </a:lnTo>
                <a:lnTo>
                  <a:pt x="602" y="1"/>
                </a:lnTo>
                <a:lnTo>
                  <a:pt x="589" y="3"/>
                </a:lnTo>
                <a:lnTo>
                  <a:pt x="577" y="6"/>
                </a:lnTo>
                <a:lnTo>
                  <a:pt x="564" y="8"/>
                </a:lnTo>
                <a:lnTo>
                  <a:pt x="552" y="11"/>
                </a:lnTo>
                <a:lnTo>
                  <a:pt x="539" y="15"/>
                </a:lnTo>
                <a:lnTo>
                  <a:pt x="527" y="19"/>
                </a:lnTo>
                <a:lnTo>
                  <a:pt x="516" y="25"/>
                </a:lnTo>
                <a:lnTo>
                  <a:pt x="505" y="31"/>
                </a:lnTo>
                <a:lnTo>
                  <a:pt x="493" y="37"/>
                </a:lnTo>
                <a:lnTo>
                  <a:pt x="482" y="44"/>
                </a:lnTo>
                <a:lnTo>
                  <a:pt x="473" y="52"/>
                </a:lnTo>
                <a:lnTo>
                  <a:pt x="462" y="59"/>
                </a:lnTo>
                <a:lnTo>
                  <a:pt x="452" y="68"/>
                </a:lnTo>
                <a:lnTo>
                  <a:pt x="443" y="76"/>
                </a:lnTo>
                <a:lnTo>
                  <a:pt x="429" y="91"/>
                </a:lnTo>
                <a:lnTo>
                  <a:pt x="416" y="107"/>
                </a:lnTo>
                <a:lnTo>
                  <a:pt x="405" y="124"/>
                </a:lnTo>
                <a:lnTo>
                  <a:pt x="396" y="141"/>
                </a:lnTo>
                <a:lnTo>
                  <a:pt x="387" y="160"/>
                </a:lnTo>
                <a:lnTo>
                  <a:pt x="380" y="178"/>
                </a:lnTo>
                <a:lnTo>
                  <a:pt x="374" y="196"/>
                </a:lnTo>
                <a:lnTo>
                  <a:pt x="370" y="215"/>
                </a:lnTo>
                <a:lnTo>
                  <a:pt x="368" y="235"/>
                </a:lnTo>
                <a:lnTo>
                  <a:pt x="366" y="254"/>
                </a:lnTo>
                <a:lnTo>
                  <a:pt x="367" y="274"/>
                </a:lnTo>
                <a:lnTo>
                  <a:pt x="368" y="293"/>
                </a:lnTo>
                <a:lnTo>
                  <a:pt x="371" y="313"/>
                </a:lnTo>
                <a:lnTo>
                  <a:pt x="376" y="332"/>
                </a:lnTo>
                <a:lnTo>
                  <a:pt x="382" y="351"/>
                </a:lnTo>
                <a:lnTo>
                  <a:pt x="390" y="369"/>
                </a:lnTo>
                <a:lnTo>
                  <a:pt x="27" y="732"/>
                </a:lnTo>
                <a:lnTo>
                  <a:pt x="21" y="738"/>
                </a:lnTo>
                <a:lnTo>
                  <a:pt x="16" y="746"/>
                </a:lnTo>
                <a:lnTo>
                  <a:pt x="11" y="753"/>
                </a:lnTo>
                <a:lnTo>
                  <a:pt x="7" y="762"/>
                </a:lnTo>
                <a:lnTo>
                  <a:pt x="4" y="769"/>
                </a:lnTo>
                <a:lnTo>
                  <a:pt x="2" y="778"/>
                </a:lnTo>
                <a:lnTo>
                  <a:pt x="1" y="787"/>
                </a:lnTo>
                <a:lnTo>
                  <a:pt x="0" y="796"/>
                </a:lnTo>
                <a:lnTo>
                  <a:pt x="1" y="805"/>
                </a:lnTo>
                <a:lnTo>
                  <a:pt x="2" y="813"/>
                </a:lnTo>
                <a:lnTo>
                  <a:pt x="4" y="822"/>
                </a:lnTo>
                <a:lnTo>
                  <a:pt x="7" y="830"/>
                </a:lnTo>
                <a:lnTo>
                  <a:pt x="11" y="838"/>
                </a:lnTo>
                <a:lnTo>
                  <a:pt x="15" y="845"/>
                </a:lnTo>
                <a:lnTo>
                  <a:pt x="20" y="853"/>
                </a:lnTo>
                <a:lnTo>
                  <a:pt x="27" y="860"/>
                </a:lnTo>
                <a:lnTo>
                  <a:pt x="33" y="866"/>
                </a:lnTo>
                <a:lnTo>
                  <a:pt x="41" y="871"/>
                </a:lnTo>
                <a:lnTo>
                  <a:pt x="48" y="875"/>
                </a:lnTo>
                <a:lnTo>
                  <a:pt x="55" y="879"/>
                </a:lnTo>
                <a:lnTo>
                  <a:pt x="64" y="882"/>
                </a:lnTo>
                <a:lnTo>
                  <a:pt x="73" y="884"/>
                </a:lnTo>
                <a:lnTo>
                  <a:pt x="81" y="885"/>
                </a:lnTo>
                <a:lnTo>
                  <a:pt x="91" y="886"/>
                </a:lnTo>
                <a:lnTo>
                  <a:pt x="99" y="885"/>
                </a:lnTo>
                <a:lnTo>
                  <a:pt x="108" y="884"/>
                </a:lnTo>
                <a:lnTo>
                  <a:pt x="116" y="882"/>
                </a:lnTo>
                <a:lnTo>
                  <a:pt x="125" y="879"/>
                </a:lnTo>
                <a:lnTo>
                  <a:pt x="133" y="875"/>
                </a:lnTo>
                <a:lnTo>
                  <a:pt x="140" y="871"/>
                </a:lnTo>
                <a:lnTo>
                  <a:pt x="148" y="866"/>
                </a:lnTo>
                <a:lnTo>
                  <a:pt x="154" y="860"/>
                </a:lnTo>
                <a:lnTo>
                  <a:pt x="517" y="497"/>
                </a:lnTo>
                <a:lnTo>
                  <a:pt x="530" y="502"/>
                </a:lnTo>
                <a:lnTo>
                  <a:pt x="543" y="507"/>
                </a:lnTo>
                <a:lnTo>
                  <a:pt x="556" y="512"/>
                </a:lnTo>
                <a:lnTo>
                  <a:pt x="570" y="515"/>
                </a:lnTo>
                <a:lnTo>
                  <a:pt x="584" y="517"/>
                </a:lnTo>
                <a:lnTo>
                  <a:pt x="598" y="519"/>
                </a:lnTo>
                <a:lnTo>
                  <a:pt x="612" y="520"/>
                </a:lnTo>
                <a:lnTo>
                  <a:pt x="626" y="520"/>
                </a:lnTo>
                <a:lnTo>
                  <a:pt x="626" y="520"/>
                </a:lnTo>
                <a:lnTo>
                  <a:pt x="626" y="520"/>
                </a:lnTo>
                <a:lnTo>
                  <a:pt x="639" y="520"/>
                </a:lnTo>
                <a:lnTo>
                  <a:pt x="651" y="519"/>
                </a:lnTo>
                <a:lnTo>
                  <a:pt x="664" y="518"/>
                </a:lnTo>
                <a:lnTo>
                  <a:pt x="677" y="516"/>
                </a:lnTo>
                <a:lnTo>
                  <a:pt x="689" y="513"/>
                </a:lnTo>
                <a:lnTo>
                  <a:pt x="702" y="509"/>
                </a:lnTo>
                <a:lnTo>
                  <a:pt x="714" y="505"/>
                </a:lnTo>
                <a:lnTo>
                  <a:pt x="725" y="501"/>
                </a:lnTo>
                <a:lnTo>
                  <a:pt x="737" y="496"/>
                </a:lnTo>
                <a:lnTo>
                  <a:pt x="748" y="490"/>
                </a:lnTo>
                <a:lnTo>
                  <a:pt x="758" y="484"/>
                </a:lnTo>
                <a:lnTo>
                  <a:pt x="769" y="477"/>
                </a:lnTo>
                <a:lnTo>
                  <a:pt x="780" y="470"/>
                </a:lnTo>
                <a:lnTo>
                  <a:pt x="791" y="462"/>
                </a:lnTo>
                <a:lnTo>
                  <a:pt x="800" y="454"/>
                </a:lnTo>
                <a:lnTo>
                  <a:pt x="810" y="444"/>
                </a:lnTo>
                <a:lnTo>
                  <a:pt x="824" y="429"/>
                </a:lnTo>
                <a:lnTo>
                  <a:pt x="837" y="413"/>
                </a:lnTo>
                <a:lnTo>
                  <a:pt x="848" y="396"/>
                </a:lnTo>
                <a:lnTo>
                  <a:pt x="858" y="378"/>
                </a:lnTo>
                <a:lnTo>
                  <a:pt x="867" y="360"/>
                </a:lnTo>
                <a:lnTo>
                  <a:pt x="873" y="340"/>
                </a:lnTo>
                <a:lnTo>
                  <a:pt x="878" y="321"/>
                </a:lnTo>
                <a:lnTo>
                  <a:pt x="883" y="301"/>
                </a:lnTo>
                <a:lnTo>
                  <a:pt x="885" y="282"/>
                </a:lnTo>
                <a:lnTo>
                  <a:pt x="886" y="261"/>
                </a:lnTo>
                <a:lnTo>
                  <a:pt x="885" y="241"/>
                </a:lnTo>
                <a:lnTo>
                  <a:pt x="883" y="221"/>
                </a:lnTo>
                <a:lnTo>
                  <a:pt x="878" y="200"/>
                </a:lnTo>
                <a:lnTo>
                  <a:pt x="873" y="181"/>
                </a:lnTo>
                <a:lnTo>
                  <a:pt x="865" y="162"/>
                </a:lnTo>
                <a:lnTo>
                  <a:pt x="857" y="14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8" name="Group 57" descr="Icon of money. ">
            <a:extLst>
              <a:ext uri="{FF2B5EF4-FFF2-40B4-BE49-F238E27FC236}">
                <a16:creationId xmlns:a16="http://schemas.microsoft.com/office/drawing/2014/main" id="{AD4045FF-6121-4FED-DB42-75A6BEA547A7}"/>
              </a:ext>
            </a:extLst>
          </p:cNvPr>
          <p:cNvGrpSpPr/>
          <p:nvPr/>
        </p:nvGrpSpPr>
        <p:grpSpPr>
          <a:xfrm>
            <a:off x="6110026" y="2003152"/>
            <a:ext cx="380334" cy="382447"/>
            <a:chOff x="3746500" y="1344613"/>
            <a:chExt cx="285750" cy="287338"/>
          </a:xfrm>
          <a:solidFill>
            <a:schemeClr val="bg1"/>
          </a:solidFill>
        </p:grpSpPr>
        <p:sp>
          <p:nvSpPr>
            <p:cNvPr id="59" name="Freeform 497">
              <a:extLst>
                <a:ext uri="{FF2B5EF4-FFF2-40B4-BE49-F238E27FC236}">
                  <a16:creationId xmlns:a16="http://schemas.microsoft.com/office/drawing/2014/main" id="{AB7368FE-92A5-5EA5-7579-ECD9AAEF6A1E}"/>
                </a:ext>
              </a:extLst>
            </p:cNvPr>
            <p:cNvSpPr>
              <a:spLocks/>
            </p:cNvSpPr>
            <p:nvPr/>
          </p:nvSpPr>
          <p:spPr bwMode="auto">
            <a:xfrm>
              <a:off x="3746500" y="1344613"/>
              <a:ext cx="285750" cy="182563"/>
            </a:xfrm>
            <a:custGeom>
              <a:avLst/>
              <a:gdLst>
                <a:gd name="T0" fmla="*/ 0 w 903"/>
                <a:gd name="T1" fmla="*/ 0 h 573"/>
                <a:gd name="T2" fmla="*/ 0 w 903"/>
                <a:gd name="T3" fmla="*/ 467 h 573"/>
                <a:gd name="T4" fmla="*/ 1 w 903"/>
                <a:gd name="T5" fmla="*/ 459 h 573"/>
                <a:gd name="T6" fmla="*/ 2 w 903"/>
                <a:gd name="T7" fmla="*/ 453 h 573"/>
                <a:gd name="T8" fmla="*/ 5 w 903"/>
                <a:gd name="T9" fmla="*/ 446 h 573"/>
                <a:gd name="T10" fmla="*/ 8 w 903"/>
                <a:gd name="T11" fmla="*/ 440 h 573"/>
                <a:gd name="T12" fmla="*/ 12 w 903"/>
                <a:gd name="T13" fmla="*/ 434 h 573"/>
                <a:gd name="T14" fmla="*/ 18 w 903"/>
                <a:gd name="T15" fmla="*/ 428 h 573"/>
                <a:gd name="T16" fmla="*/ 23 w 903"/>
                <a:gd name="T17" fmla="*/ 423 h 573"/>
                <a:gd name="T18" fmla="*/ 30 w 903"/>
                <a:gd name="T19" fmla="*/ 419 h 573"/>
                <a:gd name="T20" fmla="*/ 30 w 903"/>
                <a:gd name="T21" fmla="*/ 30 h 573"/>
                <a:gd name="T22" fmla="*/ 873 w 903"/>
                <a:gd name="T23" fmla="*/ 30 h 573"/>
                <a:gd name="T24" fmla="*/ 873 w 903"/>
                <a:gd name="T25" fmla="*/ 543 h 573"/>
                <a:gd name="T26" fmla="*/ 481 w 903"/>
                <a:gd name="T27" fmla="*/ 543 h 573"/>
                <a:gd name="T28" fmla="*/ 481 w 903"/>
                <a:gd name="T29" fmla="*/ 573 h 573"/>
                <a:gd name="T30" fmla="*/ 903 w 903"/>
                <a:gd name="T31" fmla="*/ 573 h 573"/>
                <a:gd name="T32" fmla="*/ 903 w 903"/>
                <a:gd name="T33" fmla="*/ 0 h 573"/>
                <a:gd name="T34" fmla="*/ 0 w 903"/>
                <a:gd name="T35" fmla="*/ 0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3" h="573">
                  <a:moveTo>
                    <a:pt x="0" y="0"/>
                  </a:moveTo>
                  <a:lnTo>
                    <a:pt x="0" y="467"/>
                  </a:lnTo>
                  <a:lnTo>
                    <a:pt x="1" y="459"/>
                  </a:lnTo>
                  <a:lnTo>
                    <a:pt x="2" y="453"/>
                  </a:lnTo>
                  <a:lnTo>
                    <a:pt x="5" y="446"/>
                  </a:lnTo>
                  <a:lnTo>
                    <a:pt x="8" y="440"/>
                  </a:lnTo>
                  <a:lnTo>
                    <a:pt x="12" y="434"/>
                  </a:lnTo>
                  <a:lnTo>
                    <a:pt x="18" y="428"/>
                  </a:lnTo>
                  <a:lnTo>
                    <a:pt x="23" y="423"/>
                  </a:lnTo>
                  <a:lnTo>
                    <a:pt x="30" y="419"/>
                  </a:lnTo>
                  <a:lnTo>
                    <a:pt x="30" y="30"/>
                  </a:lnTo>
                  <a:lnTo>
                    <a:pt x="873" y="30"/>
                  </a:lnTo>
                  <a:lnTo>
                    <a:pt x="873" y="543"/>
                  </a:lnTo>
                  <a:lnTo>
                    <a:pt x="481" y="543"/>
                  </a:lnTo>
                  <a:lnTo>
                    <a:pt x="481" y="573"/>
                  </a:lnTo>
                  <a:lnTo>
                    <a:pt x="903" y="573"/>
                  </a:lnTo>
                  <a:lnTo>
                    <a:pt x="903"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498">
              <a:extLst>
                <a:ext uri="{FF2B5EF4-FFF2-40B4-BE49-F238E27FC236}">
                  <a16:creationId xmlns:a16="http://schemas.microsoft.com/office/drawing/2014/main" id="{392DBFD6-0119-137A-60D2-62BFEDAF8CE0}"/>
                </a:ext>
              </a:extLst>
            </p:cNvPr>
            <p:cNvSpPr>
              <a:spLocks noEditPoints="1"/>
            </p:cNvSpPr>
            <p:nvPr/>
          </p:nvSpPr>
          <p:spPr bwMode="auto">
            <a:xfrm>
              <a:off x="3775075" y="1373188"/>
              <a:ext cx="228600" cy="125413"/>
            </a:xfrm>
            <a:custGeom>
              <a:avLst/>
              <a:gdLst>
                <a:gd name="T0" fmla="*/ 330 w 723"/>
                <a:gd name="T1" fmla="*/ 283 h 392"/>
                <a:gd name="T2" fmla="*/ 295 w 723"/>
                <a:gd name="T3" fmla="*/ 263 h 392"/>
                <a:gd name="T4" fmla="*/ 269 w 723"/>
                <a:gd name="T5" fmla="*/ 232 h 392"/>
                <a:gd name="T6" fmla="*/ 257 w 723"/>
                <a:gd name="T7" fmla="*/ 192 h 392"/>
                <a:gd name="T8" fmla="*/ 260 w 723"/>
                <a:gd name="T9" fmla="*/ 151 h 392"/>
                <a:gd name="T10" fmla="*/ 281 w 723"/>
                <a:gd name="T11" fmla="*/ 115 h 392"/>
                <a:gd name="T12" fmla="*/ 312 w 723"/>
                <a:gd name="T13" fmla="*/ 90 h 392"/>
                <a:gd name="T14" fmla="*/ 350 w 723"/>
                <a:gd name="T15" fmla="*/ 77 h 392"/>
                <a:gd name="T16" fmla="*/ 392 w 723"/>
                <a:gd name="T17" fmla="*/ 81 h 392"/>
                <a:gd name="T18" fmla="*/ 429 w 723"/>
                <a:gd name="T19" fmla="*/ 100 h 392"/>
                <a:gd name="T20" fmla="*/ 454 w 723"/>
                <a:gd name="T21" fmla="*/ 131 h 392"/>
                <a:gd name="T22" fmla="*/ 466 w 723"/>
                <a:gd name="T23" fmla="*/ 171 h 392"/>
                <a:gd name="T24" fmla="*/ 462 w 723"/>
                <a:gd name="T25" fmla="*/ 213 h 392"/>
                <a:gd name="T26" fmla="*/ 443 w 723"/>
                <a:gd name="T27" fmla="*/ 248 h 392"/>
                <a:gd name="T28" fmla="*/ 412 w 723"/>
                <a:gd name="T29" fmla="*/ 274 h 392"/>
                <a:gd name="T30" fmla="*/ 372 w 723"/>
                <a:gd name="T31" fmla="*/ 287 h 392"/>
                <a:gd name="T32" fmla="*/ 96 w 723"/>
                <a:gd name="T33" fmla="*/ 151 h 392"/>
                <a:gd name="T34" fmla="*/ 68 w 723"/>
                <a:gd name="T35" fmla="*/ 131 h 392"/>
                <a:gd name="T36" fmla="*/ 61 w 723"/>
                <a:gd name="T37" fmla="*/ 97 h 392"/>
                <a:gd name="T38" fmla="*/ 80 w 723"/>
                <a:gd name="T39" fmla="*/ 69 h 392"/>
                <a:gd name="T40" fmla="*/ 114 w 723"/>
                <a:gd name="T41" fmla="*/ 63 h 392"/>
                <a:gd name="T42" fmla="*/ 143 w 723"/>
                <a:gd name="T43" fmla="*/ 81 h 392"/>
                <a:gd name="T44" fmla="*/ 150 w 723"/>
                <a:gd name="T45" fmla="*/ 115 h 392"/>
                <a:gd name="T46" fmla="*/ 131 w 723"/>
                <a:gd name="T47" fmla="*/ 144 h 392"/>
                <a:gd name="T48" fmla="*/ 106 w 723"/>
                <a:gd name="T49" fmla="*/ 152 h 392"/>
                <a:gd name="T50" fmla="*/ 642 w 723"/>
                <a:gd name="T51" fmla="*/ 249 h 392"/>
                <a:gd name="T52" fmla="*/ 661 w 723"/>
                <a:gd name="T53" fmla="*/ 278 h 392"/>
                <a:gd name="T54" fmla="*/ 655 w 723"/>
                <a:gd name="T55" fmla="*/ 313 h 392"/>
                <a:gd name="T56" fmla="*/ 626 w 723"/>
                <a:gd name="T57" fmla="*/ 331 h 392"/>
                <a:gd name="T58" fmla="*/ 592 w 723"/>
                <a:gd name="T59" fmla="*/ 324 h 392"/>
                <a:gd name="T60" fmla="*/ 573 w 723"/>
                <a:gd name="T61" fmla="*/ 297 h 392"/>
                <a:gd name="T62" fmla="*/ 580 w 723"/>
                <a:gd name="T63" fmla="*/ 262 h 392"/>
                <a:gd name="T64" fmla="*/ 608 w 723"/>
                <a:gd name="T65" fmla="*/ 243 h 392"/>
                <a:gd name="T66" fmla="*/ 669 w 723"/>
                <a:gd name="T67" fmla="*/ 392 h 392"/>
                <a:gd name="T68" fmla="*/ 691 w 723"/>
                <a:gd name="T69" fmla="*/ 386 h 392"/>
                <a:gd name="T70" fmla="*/ 709 w 723"/>
                <a:gd name="T71" fmla="*/ 371 h 392"/>
                <a:gd name="T72" fmla="*/ 720 w 723"/>
                <a:gd name="T73" fmla="*/ 350 h 392"/>
                <a:gd name="T74" fmla="*/ 723 w 723"/>
                <a:gd name="T75" fmla="*/ 62 h 392"/>
                <a:gd name="T76" fmla="*/ 718 w 723"/>
                <a:gd name="T77" fmla="*/ 38 h 392"/>
                <a:gd name="T78" fmla="*/ 705 w 723"/>
                <a:gd name="T79" fmla="*/ 19 h 392"/>
                <a:gd name="T80" fmla="*/ 686 w 723"/>
                <a:gd name="T81" fmla="*/ 6 h 392"/>
                <a:gd name="T82" fmla="*/ 663 w 723"/>
                <a:gd name="T83" fmla="*/ 2 h 392"/>
                <a:gd name="T84" fmla="*/ 43 w 723"/>
                <a:gd name="T85" fmla="*/ 4 h 392"/>
                <a:gd name="T86" fmla="*/ 22 w 723"/>
                <a:gd name="T87" fmla="*/ 14 h 392"/>
                <a:gd name="T88" fmla="*/ 7 w 723"/>
                <a:gd name="T89" fmla="*/ 33 h 392"/>
                <a:gd name="T90" fmla="*/ 1 w 723"/>
                <a:gd name="T91" fmla="*/ 55 h 392"/>
                <a:gd name="T92" fmla="*/ 46 w 723"/>
                <a:gd name="T93" fmla="*/ 294 h 392"/>
                <a:gd name="T94" fmla="*/ 151 w 723"/>
                <a:gd name="T95" fmla="*/ 287 h 392"/>
                <a:gd name="T96" fmla="*/ 244 w 723"/>
                <a:gd name="T97" fmla="*/ 293 h 392"/>
                <a:gd name="T98" fmla="*/ 326 w 723"/>
                <a:gd name="T99" fmla="*/ 312 h 392"/>
                <a:gd name="T100" fmla="*/ 373 w 723"/>
                <a:gd name="T101" fmla="*/ 337 h 392"/>
                <a:gd name="T102" fmla="*/ 389 w 723"/>
                <a:gd name="T103" fmla="*/ 362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23" h="392">
                  <a:moveTo>
                    <a:pt x="361" y="287"/>
                  </a:moveTo>
                  <a:lnTo>
                    <a:pt x="350" y="287"/>
                  </a:lnTo>
                  <a:lnTo>
                    <a:pt x="341" y="285"/>
                  </a:lnTo>
                  <a:lnTo>
                    <a:pt x="330" y="283"/>
                  </a:lnTo>
                  <a:lnTo>
                    <a:pt x="320" y="278"/>
                  </a:lnTo>
                  <a:lnTo>
                    <a:pt x="312" y="274"/>
                  </a:lnTo>
                  <a:lnTo>
                    <a:pt x="302" y="269"/>
                  </a:lnTo>
                  <a:lnTo>
                    <a:pt x="295" y="263"/>
                  </a:lnTo>
                  <a:lnTo>
                    <a:pt x="287" y="256"/>
                  </a:lnTo>
                  <a:lnTo>
                    <a:pt x="281" y="248"/>
                  </a:lnTo>
                  <a:lnTo>
                    <a:pt x="274" y="241"/>
                  </a:lnTo>
                  <a:lnTo>
                    <a:pt x="269" y="232"/>
                  </a:lnTo>
                  <a:lnTo>
                    <a:pt x="265" y="223"/>
                  </a:lnTo>
                  <a:lnTo>
                    <a:pt x="260" y="213"/>
                  </a:lnTo>
                  <a:lnTo>
                    <a:pt x="258" y="203"/>
                  </a:lnTo>
                  <a:lnTo>
                    <a:pt x="257" y="192"/>
                  </a:lnTo>
                  <a:lnTo>
                    <a:pt x="256" y="182"/>
                  </a:lnTo>
                  <a:lnTo>
                    <a:pt x="257" y="171"/>
                  </a:lnTo>
                  <a:lnTo>
                    <a:pt x="258" y="160"/>
                  </a:lnTo>
                  <a:lnTo>
                    <a:pt x="260" y="151"/>
                  </a:lnTo>
                  <a:lnTo>
                    <a:pt x="265" y="141"/>
                  </a:lnTo>
                  <a:lnTo>
                    <a:pt x="269" y="131"/>
                  </a:lnTo>
                  <a:lnTo>
                    <a:pt x="274" y="123"/>
                  </a:lnTo>
                  <a:lnTo>
                    <a:pt x="281" y="115"/>
                  </a:lnTo>
                  <a:lnTo>
                    <a:pt x="287" y="108"/>
                  </a:lnTo>
                  <a:lnTo>
                    <a:pt x="295" y="100"/>
                  </a:lnTo>
                  <a:lnTo>
                    <a:pt x="302" y="95"/>
                  </a:lnTo>
                  <a:lnTo>
                    <a:pt x="312" y="90"/>
                  </a:lnTo>
                  <a:lnTo>
                    <a:pt x="320" y="84"/>
                  </a:lnTo>
                  <a:lnTo>
                    <a:pt x="330" y="81"/>
                  </a:lnTo>
                  <a:lnTo>
                    <a:pt x="341" y="79"/>
                  </a:lnTo>
                  <a:lnTo>
                    <a:pt x="350" y="77"/>
                  </a:lnTo>
                  <a:lnTo>
                    <a:pt x="361" y="77"/>
                  </a:lnTo>
                  <a:lnTo>
                    <a:pt x="372" y="77"/>
                  </a:lnTo>
                  <a:lnTo>
                    <a:pt x="383" y="79"/>
                  </a:lnTo>
                  <a:lnTo>
                    <a:pt x="392" y="81"/>
                  </a:lnTo>
                  <a:lnTo>
                    <a:pt x="403" y="84"/>
                  </a:lnTo>
                  <a:lnTo>
                    <a:pt x="412" y="90"/>
                  </a:lnTo>
                  <a:lnTo>
                    <a:pt x="420" y="95"/>
                  </a:lnTo>
                  <a:lnTo>
                    <a:pt x="429" y="100"/>
                  </a:lnTo>
                  <a:lnTo>
                    <a:pt x="436" y="108"/>
                  </a:lnTo>
                  <a:lnTo>
                    <a:pt x="443" y="115"/>
                  </a:lnTo>
                  <a:lnTo>
                    <a:pt x="449" y="123"/>
                  </a:lnTo>
                  <a:lnTo>
                    <a:pt x="454" y="131"/>
                  </a:lnTo>
                  <a:lnTo>
                    <a:pt x="459" y="141"/>
                  </a:lnTo>
                  <a:lnTo>
                    <a:pt x="462" y="151"/>
                  </a:lnTo>
                  <a:lnTo>
                    <a:pt x="465" y="160"/>
                  </a:lnTo>
                  <a:lnTo>
                    <a:pt x="466" y="171"/>
                  </a:lnTo>
                  <a:lnTo>
                    <a:pt x="467" y="182"/>
                  </a:lnTo>
                  <a:lnTo>
                    <a:pt x="466" y="192"/>
                  </a:lnTo>
                  <a:lnTo>
                    <a:pt x="465" y="203"/>
                  </a:lnTo>
                  <a:lnTo>
                    <a:pt x="462" y="213"/>
                  </a:lnTo>
                  <a:lnTo>
                    <a:pt x="459" y="223"/>
                  </a:lnTo>
                  <a:lnTo>
                    <a:pt x="454" y="232"/>
                  </a:lnTo>
                  <a:lnTo>
                    <a:pt x="449" y="241"/>
                  </a:lnTo>
                  <a:lnTo>
                    <a:pt x="443" y="248"/>
                  </a:lnTo>
                  <a:lnTo>
                    <a:pt x="436" y="256"/>
                  </a:lnTo>
                  <a:lnTo>
                    <a:pt x="429" y="263"/>
                  </a:lnTo>
                  <a:lnTo>
                    <a:pt x="420" y="269"/>
                  </a:lnTo>
                  <a:lnTo>
                    <a:pt x="412" y="274"/>
                  </a:lnTo>
                  <a:lnTo>
                    <a:pt x="403" y="278"/>
                  </a:lnTo>
                  <a:lnTo>
                    <a:pt x="392" y="283"/>
                  </a:lnTo>
                  <a:lnTo>
                    <a:pt x="383" y="285"/>
                  </a:lnTo>
                  <a:lnTo>
                    <a:pt x="372" y="287"/>
                  </a:lnTo>
                  <a:lnTo>
                    <a:pt x="361" y="287"/>
                  </a:lnTo>
                  <a:lnTo>
                    <a:pt x="361" y="287"/>
                  </a:lnTo>
                  <a:close/>
                  <a:moveTo>
                    <a:pt x="106" y="152"/>
                  </a:moveTo>
                  <a:lnTo>
                    <a:pt x="96" y="151"/>
                  </a:lnTo>
                  <a:lnTo>
                    <a:pt x="88" y="149"/>
                  </a:lnTo>
                  <a:lnTo>
                    <a:pt x="80" y="144"/>
                  </a:lnTo>
                  <a:lnTo>
                    <a:pt x="74" y="139"/>
                  </a:lnTo>
                  <a:lnTo>
                    <a:pt x="68" y="131"/>
                  </a:lnTo>
                  <a:lnTo>
                    <a:pt x="64" y="124"/>
                  </a:lnTo>
                  <a:lnTo>
                    <a:pt x="61" y="115"/>
                  </a:lnTo>
                  <a:lnTo>
                    <a:pt x="61" y="107"/>
                  </a:lnTo>
                  <a:lnTo>
                    <a:pt x="61" y="97"/>
                  </a:lnTo>
                  <a:lnTo>
                    <a:pt x="64" y="88"/>
                  </a:lnTo>
                  <a:lnTo>
                    <a:pt x="68" y="81"/>
                  </a:lnTo>
                  <a:lnTo>
                    <a:pt x="74" y="74"/>
                  </a:lnTo>
                  <a:lnTo>
                    <a:pt x="80" y="69"/>
                  </a:lnTo>
                  <a:lnTo>
                    <a:pt x="88" y="65"/>
                  </a:lnTo>
                  <a:lnTo>
                    <a:pt x="96" y="63"/>
                  </a:lnTo>
                  <a:lnTo>
                    <a:pt x="106" y="62"/>
                  </a:lnTo>
                  <a:lnTo>
                    <a:pt x="114" y="63"/>
                  </a:lnTo>
                  <a:lnTo>
                    <a:pt x="123" y="65"/>
                  </a:lnTo>
                  <a:lnTo>
                    <a:pt x="131" y="69"/>
                  </a:lnTo>
                  <a:lnTo>
                    <a:pt x="137" y="74"/>
                  </a:lnTo>
                  <a:lnTo>
                    <a:pt x="143" y="81"/>
                  </a:lnTo>
                  <a:lnTo>
                    <a:pt x="147" y="88"/>
                  </a:lnTo>
                  <a:lnTo>
                    <a:pt x="150" y="97"/>
                  </a:lnTo>
                  <a:lnTo>
                    <a:pt x="151" y="107"/>
                  </a:lnTo>
                  <a:lnTo>
                    <a:pt x="150" y="115"/>
                  </a:lnTo>
                  <a:lnTo>
                    <a:pt x="148" y="124"/>
                  </a:lnTo>
                  <a:lnTo>
                    <a:pt x="143" y="131"/>
                  </a:lnTo>
                  <a:lnTo>
                    <a:pt x="137" y="139"/>
                  </a:lnTo>
                  <a:lnTo>
                    <a:pt x="131" y="144"/>
                  </a:lnTo>
                  <a:lnTo>
                    <a:pt x="123" y="149"/>
                  </a:lnTo>
                  <a:lnTo>
                    <a:pt x="114" y="151"/>
                  </a:lnTo>
                  <a:lnTo>
                    <a:pt x="106" y="152"/>
                  </a:lnTo>
                  <a:lnTo>
                    <a:pt x="106" y="152"/>
                  </a:lnTo>
                  <a:close/>
                  <a:moveTo>
                    <a:pt x="617" y="242"/>
                  </a:moveTo>
                  <a:lnTo>
                    <a:pt x="626" y="243"/>
                  </a:lnTo>
                  <a:lnTo>
                    <a:pt x="635" y="245"/>
                  </a:lnTo>
                  <a:lnTo>
                    <a:pt x="642" y="249"/>
                  </a:lnTo>
                  <a:lnTo>
                    <a:pt x="650" y="255"/>
                  </a:lnTo>
                  <a:lnTo>
                    <a:pt x="655" y="262"/>
                  </a:lnTo>
                  <a:lnTo>
                    <a:pt x="659" y="270"/>
                  </a:lnTo>
                  <a:lnTo>
                    <a:pt x="661" y="278"/>
                  </a:lnTo>
                  <a:lnTo>
                    <a:pt x="663" y="287"/>
                  </a:lnTo>
                  <a:lnTo>
                    <a:pt x="661" y="297"/>
                  </a:lnTo>
                  <a:lnTo>
                    <a:pt x="659" y="305"/>
                  </a:lnTo>
                  <a:lnTo>
                    <a:pt x="655" y="313"/>
                  </a:lnTo>
                  <a:lnTo>
                    <a:pt x="650" y="319"/>
                  </a:lnTo>
                  <a:lnTo>
                    <a:pt x="642" y="324"/>
                  </a:lnTo>
                  <a:lnTo>
                    <a:pt x="635" y="329"/>
                  </a:lnTo>
                  <a:lnTo>
                    <a:pt x="626" y="331"/>
                  </a:lnTo>
                  <a:lnTo>
                    <a:pt x="617" y="332"/>
                  </a:lnTo>
                  <a:lnTo>
                    <a:pt x="608" y="331"/>
                  </a:lnTo>
                  <a:lnTo>
                    <a:pt x="600" y="329"/>
                  </a:lnTo>
                  <a:lnTo>
                    <a:pt x="592" y="324"/>
                  </a:lnTo>
                  <a:lnTo>
                    <a:pt x="585" y="319"/>
                  </a:lnTo>
                  <a:lnTo>
                    <a:pt x="580" y="313"/>
                  </a:lnTo>
                  <a:lnTo>
                    <a:pt x="576" y="305"/>
                  </a:lnTo>
                  <a:lnTo>
                    <a:pt x="573" y="297"/>
                  </a:lnTo>
                  <a:lnTo>
                    <a:pt x="572" y="287"/>
                  </a:lnTo>
                  <a:lnTo>
                    <a:pt x="573" y="278"/>
                  </a:lnTo>
                  <a:lnTo>
                    <a:pt x="576" y="270"/>
                  </a:lnTo>
                  <a:lnTo>
                    <a:pt x="580" y="262"/>
                  </a:lnTo>
                  <a:lnTo>
                    <a:pt x="585" y="255"/>
                  </a:lnTo>
                  <a:lnTo>
                    <a:pt x="592" y="249"/>
                  </a:lnTo>
                  <a:lnTo>
                    <a:pt x="600" y="245"/>
                  </a:lnTo>
                  <a:lnTo>
                    <a:pt x="608" y="243"/>
                  </a:lnTo>
                  <a:lnTo>
                    <a:pt x="617" y="242"/>
                  </a:lnTo>
                  <a:close/>
                  <a:moveTo>
                    <a:pt x="391" y="392"/>
                  </a:moveTo>
                  <a:lnTo>
                    <a:pt x="663" y="392"/>
                  </a:lnTo>
                  <a:lnTo>
                    <a:pt x="669" y="392"/>
                  </a:lnTo>
                  <a:lnTo>
                    <a:pt x="674" y="391"/>
                  </a:lnTo>
                  <a:lnTo>
                    <a:pt x="681" y="390"/>
                  </a:lnTo>
                  <a:lnTo>
                    <a:pt x="686" y="388"/>
                  </a:lnTo>
                  <a:lnTo>
                    <a:pt x="691" y="386"/>
                  </a:lnTo>
                  <a:lnTo>
                    <a:pt x="697" y="382"/>
                  </a:lnTo>
                  <a:lnTo>
                    <a:pt x="701" y="379"/>
                  </a:lnTo>
                  <a:lnTo>
                    <a:pt x="705" y="375"/>
                  </a:lnTo>
                  <a:lnTo>
                    <a:pt x="709" y="371"/>
                  </a:lnTo>
                  <a:lnTo>
                    <a:pt x="713" y="366"/>
                  </a:lnTo>
                  <a:lnTo>
                    <a:pt x="715" y="361"/>
                  </a:lnTo>
                  <a:lnTo>
                    <a:pt x="718" y="356"/>
                  </a:lnTo>
                  <a:lnTo>
                    <a:pt x="720" y="350"/>
                  </a:lnTo>
                  <a:lnTo>
                    <a:pt x="721" y="345"/>
                  </a:lnTo>
                  <a:lnTo>
                    <a:pt x="723" y="338"/>
                  </a:lnTo>
                  <a:lnTo>
                    <a:pt x="723" y="332"/>
                  </a:lnTo>
                  <a:lnTo>
                    <a:pt x="723" y="62"/>
                  </a:lnTo>
                  <a:lnTo>
                    <a:pt x="723" y="55"/>
                  </a:lnTo>
                  <a:lnTo>
                    <a:pt x="721" y="49"/>
                  </a:lnTo>
                  <a:lnTo>
                    <a:pt x="720" y="43"/>
                  </a:lnTo>
                  <a:lnTo>
                    <a:pt x="718" y="38"/>
                  </a:lnTo>
                  <a:lnTo>
                    <a:pt x="715" y="33"/>
                  </a:lnTo>
                  <a:lnTo>
                    <a:pt x="713" y="27"/>
                  </a:lnTo>
                  <a:lnTo>
                    <a:pt x="709" y="23"/>
                  </a:lnTo>
                  <a:lnTo>
                    <a:pt x="705" y="19"/>
                  </a:lnTo>
                  <a:lnTo>
                    <a:pt x="701" y="14"/>
                  </a:lnTo>
                  <a:lnTo>
                    <a:pt x="697" y="11"/>
                  </a:lnTo>
                  <a:lnTo>
                    <a:pt x="691" y="8"/>
                  </a:lnTo>
                  <a:lnTo>
                    <a:pt x="686" y="6"/>
                  </a:lnTo>
                  <a:lnTo>
                    <a:pt x="681" y="4"/>
                  </a:lnTo>
                  <a:lnTo>
                    <a:pt x="674" y="3"/>
                  </a:lnTo>
                  <a:lnTo>
                    <a:pt x="669" y="2"/>
                  </a:lnTo>
                  <a:lnTo>
                    <a:pt x="663" y="2"/>
                  </a:lnTo>
                  <a:lnTo>
                    <a:pt x="61" y="0"/>
                  </a:lnTo>
                  <a:lnTo>
                    <a:pt x="54" y="2"/>
                  </a:lnTo>
                  <a:lnTo>
                    <a:pt x="48" y="3"/>
                  </a:lnTo>
                  <a:lnTo>
                    <a:pt x="43" y="4"/>
                  </a:lnTo>
                  <a:lnTo>
                    <a:pt x="37" y="6"/>
                  </a:lnTo>
                  <a:lnTo>
                    <a:pt x="32" y="8"/>
                  </a:lnTo>
                  <a:lnTo>
                    <a:pt x="27" y="11"/>
                  </a:lnTo>
                  <a:lnTo>
                    <a:pt x="22" y="14"/>
                  </a:lnTo>
                  <a:lnTo>
                    <a:pt x="18" y="19"/>
                  </a:lnTo>
                  <a:lnTo>
                    <a:pt x="14" y="23"/>
                  </a:lnTo>
                  <a:lnTo>
                    <a:pt x="10" y="27"/>
                  </a:lnTo>
                  <a:lnTo>
                    <a:pt x="7" y="33"/>
                  </a:lnTo>
                  <a:lnTo>
                    <a:pt x="5" y="38"/>
                  </a:lnTo>
                  <a:lnTo>
                    <a:pt x="3" y="43"/>
                  </a:lnTo>
                  <a:lnTo>
                    <a:pt x="2" y="49"/>
                  </a:lnTo>
                  <a:lnTo>
                    <a:pt x="1" y="55"/>
                  </a:lnTo>
                  <a:lnTo>
                    <a:pt x="0" y="62"/>
                  </a:lnTo>
                  <a:lnTo>
                    <a:pt x="0" y="304"/>
                  </a:lnTo>
                  <a:lnTo>
                    <a:pt x="22" y="299"/>
                  </a:lnTo>
                  <a:lnTo>
                    <a:pt x="46" y="294"/>
                  </a:lnTo>
                  <a:lnTo>
                    <a:pt x="68" y="291"/>
                  </a:lnTo>
                  <a:lnTo>
                    <a:pt x="90" y="290"/>
                  </a:lnTo>
                  <a:lnTo>
                    <a:pt x="126" y="288"/>
                  </a:lnTo>
                  <a:lnTo>
                    <a:pt x="151" y="287"/>
                  </a:lnTo>
                  <a:lnTo>
                    <a:pt x="172" y="288"/>
                  </a:lnTo>
                  <a:lnTo>
                    <a:pt x="206" y="289"/>
                  </a:lnTo>
                  <a:lnTo>
                    <a:pt x="225" y="291"/>
                  </a:lnTo>
                  <a:lnTo>
                    <a:pt x="244" y="293"/>
                  </a:lnTo>
                  <a:lnTo>
                    <a:pt x="266" y="297"/>
                  </a:lnTo>
                  <a:lnTo>
                    <a:pt x="286" y="300"/>
                  </a:lnTo>
                  <a:lnTo>
                    <a:pt x="306" y="305"/>
                  </a:lnTo>
                  <a:lnTo>
                    <a:pt x="326" y="312"/>
                  </a:lnTo>
                  <a:lnTo>
                    <a:pt x="344" y="318"/>
                  </a:lnTo>
                  <a:lnTo>
                    <a:pt x="360" y="327"/>
                  </a:lnTo>
                  <a:lnTo>
                    <a:pt x="366" y="332"/>
                  </a:lnTo>
                  <a:lnTo>
                    <a:pt x="373" y="337"/>
                  </a:lnTo>
                  <a:lnTo>
                    <a:pt x="378" y="343"/>
                  </a:lnTo>
                  <a:lnTo>
                    <a:pt x="383" y="349"/>
                  </a:lnTo>
                  <a:lnTo>
                    <a:pt x="387" y="356"/>
                  </a:lnTo>
                  <a:lnTo>
                    <a:pt x="389" y="362"/>
                  </a:lnTo>
                  <a:lnTo>
                    <a:pt x="391" y="369"/>
                  </a:lnTo>
                  <a:lnTo>
                    <a:pt x="391" y="377"/>
                  </a:lnTo>
                  <a:lnTo>
                    <a:pt x="391" y="3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9">
              <a:extLst>
                <a:ext uri="{FF2B5EF4-FFF2-40B4-BE49-F238E27FC236}">
                  <a16:creationId xmlns:a16="http://schemas.microsoft.com/office/drawing/2014/main" id="{627CBA66-D910-FA29-7C07-2F8CA0E9278E}"/>
                </a:ext>
              </a:extLst>
            </p:cNvPr>
            <p:cNvSpPr>
              <a:spLocks/>
            </p:cNvSpPr>
            <p:nvPr/>
          </p:nvSpPr>
          <p:spPr bwMode="auto">
            <a:xfrm>
              <a:off x="3756025" y="1598613"/>
              <a:ext cx="133350" cy="33338"/>
            </a:xfrm>
            <a:custGeom>
              <a:avLst/>
              <a:gdLst>
                <a:gd name="T0" fmla="*/ 0 w 421"/>
                <a:gd name="T1" fmla="*/ 44 h 104"/>
                <a:gd name="T2" fmla="*/ 2 w 421"/>
                <a:gd name="T3" fmla="*/ 52 h 104"/>
                <a:gd name="T4" fmla="*/ 5 w 421"/>
                <a:gd name="T5" fmla="*/ 56 h 104"/>
                <a:gd name="T6" fmla="*/ 6 w 421"/>
                <a:gd name="T7" fmla="*/ 59 h 104"/>
                <a:gd name="T8" fmla="*/ 11 w 421"/>
                <a:gd name="T9" fmla="*/ 65 h 104"/>
                <a:gd name="T10" fmla="*/ 13 w 421"/>
                <a:gd name="T11" fmla="*/ 65 h 104"/>
                <a:gd name="T12" fmla="*/ 31 w 421"/>
                <a:gd name="T13" fmla="*/ 76 h 104"/>
                <a:gd name="T14" fmla="*/ 32 w 421"/>
                <a:gd name="T15" fmla="*/ 77 h 104"/>
                <a:gd name="T16" fmla="*/ 41 w 421"/>
                <a:gd name="T17" fmla="*/ 80 h 104"/>
                <a:gd name="T18" fmla="*/ 45 w 421"/>
                <a:gd name="T19" fmla="*/ 81 h 104"/>
                <a:gd name="T20" fmla="*/ 53 w 421"/>
                <a:gd name="T21" fmla="*/ 84 h 104"/>
                <a:gd name="T22" fmla="*/ 61 w 421"/>
                <a:gd name="T23" fmla="*/ 86 h 104"/>
                <a:gd name="T24" fmla="*/ 66 w 421"/>
                <a:gd name="T25" fmla="*/ 87 h 104"/>
                <a:gd name="T26" fmla="*/ 98 w 421"/>
                <a:gd name="T27" fmla="*/ 95 h 104"/>
                <a:gd name="T28" fmla="*/ 133 w 421"/>
                <a:gd name="T29" fmla="*/ 99 h 104"/>
                <a:gd name="T30" fmla="*/ 197 w 421"/>
                <a:gd name="T31" fmla="*/ 104 h 104"/>
                <a:gd name="T32" fmla="*/ 211 w 421"/>
                <a:gd name="T33" fmla="*/ 104 h 104"/>
                <a:gd name="T34" fmla="*/ 225 w 421"/>
                <a:gd name="T35" fmla="*/ 104 h 104"/>
                <a:gd name="T36" fmla="*/ 289 w 421"/>
                <a:gd name="T37" fmla="*/ 99 h 104"/>
                <a:gd name="T38" fmla="*/ 322 w 421"/>
                <a:gd name="T39" fmla="*/ 95 h 104"/>
                <a:gd name="T40" fmla="*/ 356 w 421"/>
                <a:gd name="T41" fmla="*/ 87 h 104"/>
                <a:gd name="T42" fmla="*/ 360 w 421"/>
                <a:gd name="T43" fmla="*/ 86 h 104"/>
                <a:gd name="T44" fmla="*/ 368 w 421"/>
                <a:gd name="T45" fmla="*/ 84 h 104"/>
                <a:gd name="T46" fmla="*/ 376 w 421"/>
                <a:gd name="T47" fmla="*/ 81 h 104"/>
                <a:gd name="T48" fmla="*/ 379 w 421"/>
                <a:gd name="T49" fmla="*/ 80 h 104"/>
                <a:gd name="T50" fmla="*/ 390 w 421"/>
                <a:gd name="T51" fmla="*/ 77 h 104"/>
                <a:gd name="T52" fmla="*/ 391 w 421"/>
                <a:gd name="T53" fmla="*/ 76 h 104"/>
                <a:gd name="T54" fmla="*/ 409 w 421"/>
                <a:gd name="T55" fmla="*/ 65 h 104"/>
                <a:gd name="T56" fmla="*/ 409 w 421"/>
                <a:gd name="T57" fmla="*/ 65 h 104"/>
                <a:gd name="T58" fmla="*/ 416 w 421"/>
                <a:gd name="T59" fmla="*/ 59 h 104"/>
                <a:gd name="T60" fmla="*/ 417 w 421"/>
                <a:gd name="T61" fmla="*/ 56 h 104"/>
                <a:gd name="T62" fmla="*/ 420 w 421"/>
                <a:gd name="T63" fmla="*/ 52 h 104"/>
                <a:gd name="T64" fmla="*/ 421 w 421"/>
                <a:gd name="T65" fmla="*/ 44 h 104"/>
                <a:gd name="T66" fmla="*/ 410 w 421"/>
                <a:gd name="T67" fmla="*/ 4 h 104"/>
                <a:gd name="T68" fmla="*/ 386 w 421"/>
                <a:gd name="T69" fmla="*/ 10 h 104"/>
                <a:gd name="T70" fmla="*/ 344 w 421"/>
                <a:gd name="T71" fmla="*/ 19 h 104"/>
                <a:gd name="T72" fmla="*/ 284 w 421"/>
                <a:gd name="T73" fmla="*/ 25 h 104"/>
                <a:gd name="T74" fmla="*/ 231 w 421"/>
                <a:gd name="T75" fmla="*/ 28 h 104"/>
                <a:gd name="T76" fmla="*/ 191 w 421"/>
                <a:gd name="T77" fmla="*/ 28 h 104"/>
                <a:gd name="T78" fmla="*/ 138 w 421"/>
                <a:gd name="T79" fmla="*/ 25 h 104"/>
                <a:gd name="T80" fmla="*/ 78 w 421"/>
                <a:gd name="T81" fmla="*/ 19 h 104"/>
                <a:gd name="T82" fmla="*/ 35 w 421"/>
                <a:gd name="T83" fmla="*/ 10 h 104"/>
                <a:gd name="T84" fmla="*/ 10 w 421"/>
                <a:gd name="T85" fmla="*/ 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1" h="104">
                  <a:moveTo>
                    <a:pt x="0" y="0"/>
                  </a:moveTo>
                  <a:lnTo>
                    <a:pt x="0" y="44"/>
                  </a:lnTo>
                  <a:lnTo>
                    <a:pt x="1" y="48"/>
                  </a:lnTo>
                  <a:lnTo>
                    <a:pt x="2" y="52"/>
                  </a:lnTo>
                  <a:lnTo>
                    <a:pt x="3" y="54"/>
                  </a:lnTo>
                  <a:lnTo>
                    <a:pt x="5" y="56"/>
                  </a:lnTo>
                  <a:lnTo>
                    <a:pt x="5" y="57"/>
                  </a:lnTo>
                  <a:lnTo>
                    <a:pt x="6" y="59"/>
                  </a:lnTo>
                  <a:lnTo>
                    <a:pt x="8" y="62"/>
                  </a:lnTo>
                  <a:lnTo>
                    <a:pt x="11" y="65"/>
                  </a:lnTo>
                  <a:lnTo>
                    <a:pt x="11" y="65"/>
                  </a:lnTo>
                  <a:lnTo>
                    <a:pt x="13" y="65"/>
                  </a:lnTo>
                  <a:lnTo>
                    <a:pt x="20" y="70"/>
                  </a:lnTo>
                  <a:lnTo>
                    <a:pt x="31" y="76"/>
                  </a:lnTo>
                  <a:lnTo>
                    <a:pt x="31" y="76"/>
                  </a:lnTo>
                  <a:lnTo>
                    <a:pt x="32" y="77"/>
                  </a:lnTo>
                  <a:lnTo>
                    <a:pt x="36" y="79"/>
                  </a:lnTo>
                  <a:lnTo>
                    <a:pt x="41" y="80"/>
                  </a:lnTo>
                  <a:lnTo>
                    <a:pt x="44" y="81"/>
                  </a:lnTo>
                  <a:lnTo>
                    <a:pt x="45" y="81"/>
                  </a:lnTo>
                  <a:lnTo>
                    <a:pt x="49" y="83"/>
                  </a:lnTo>
                  <a:lnTo>
                    <a:pt x="53" y="84"/>
                  </a:lnTo>
                  <a:lnTo>
                    <a:pt x="58" y="85"/>
                  </a:lnTo>
                  <a:lnTo>
                    <a:pt x="61" y="86"/>
                  </a:lnTo>
                  <a:lnTo>
                    <a:pt x="64" y="87"/>
                  </a:lnTo>
                  <a:lnTo>
                    <a:pt x="66" y="87"/>
                  </a:lnTo>
                  <a:lnTo>
                    <a:pt x="82" y="92"/>
                  </a:lnTo>
                  <a:lnTo>
                    <a:pt x="98" y="95"/>
                  </a:lnTo>
                  <a:lnTo>
                    <a:pt x="115" y="97"/>
                  </a:lnTo>
                  <a:lnTo>
                    <a:pt x="133" y="99"/>
                  </a:lnTo>
                  <a:lnTo>
                    <a:pt x="166" y="102"/>
                  </a:lnTo>
                  <a:lnTo>
                    <a:pt x="197" y="104"/>
                  </a:lnTo>
                  <a:lnTo>
                    <a:pt x="203" y="104"/>
                  </a:lnTo>
                  <a:lnTo>
                    <a:pt x="211" y="104"/>
                  </a:lnTo>
                  <a:lnTo>
                    <a:pt x="217" y="104"/>
                  </a:lnTo>
                  <a:lnTo>
                    <a:pt x="225" y="104"/>
                  </a:lnTo>
                  <a:lnTo>
                    <a:pt x="255" y="102"/>
                  </a:lnTo>
                  <a:lnTo>
                    <a:pt x="289" y="99"/>
                  </a:lnTo>
                  <a:lnTo>
                    <a:pt x="306" y="97"/>
                  </a:lnTo>
                  <a:lnTo>
                    <a:pt x="322" y="95"/>
                  </a:lnTo>
                  <a:lnTo>
                    <a:pt x="340" y="92"/>
                  </a:lnTo>
                  <a:lnTo>
                    <a:pt x="356" y="87"/>
                  </a:lnTo>
                  <a:lnTo>
                    <a:pt x="358" y="87"/>
                  </a:lnTo>
                  <a:lnTo>
                    <a:pt x="360" y="86"/>
                  </a:lnTo>
                  <a:lnTo>
                    <a:pt x="364" y="85"/>
                  </a:lnTo>
                  <a:lnTo>
                    <a:pt x="368" y="84"/>
                  </a:lnTo>
                  <a:lnTo>
                    <a:pt x="372" y="83"/>
                  </a:lnTo>
                  <a:lnTo>
                    <a:pt x="376" y="81"/>
                  </a:lnTo>
                  <a:lnTo>
                    <a:pt x="378" y="81"/>
                  </a:lnTo>
                  <a:lnTo>
                    <a:pt x="379" y="80"/>
                  </a:lnTo>
                  <a:lnTo>
                    <a:pt x="385" y="79"/>
                  </a:lnTo>
                  <a:lnTo>
                    <a:pt x="390" y="77"/>
                  </a:lnTo>
                  <a:lnTo>
                    <a:pt x="390" y="76"/>
                  </a:lnTo>
                  <a:lnTo>
                    <a:pt x="391" y="76"/>
                  </a:lnTo>
                  <a:lnTo>
                    <a:pt x="401" y="70"/>
                  </a:lnTo>
                  <a:lnTo>
                    <a:pt x="409" y="65"/>
                  </a:lnTo>
                  <a:lnTo>
                    <a:pt x="409" y="65"/>
                  </a:lnTo>
                  <a:lnTo>
                    <a:pt x="409" y="65"/>
                  </a:lnTo>
                  <a:lnTo>
                    <a:pt x="413" y="62"/>
                  </a:lnTo>
                  <a:lnTo>
                    <a:pt x="416" y="59"/>
                  </a:lnTo>
                  <a:lnTo>
                    <a:pt x="417" y="57"/>
                  </a:lnTo>
                  <a:lnTo>
                    <a:pt x="417" y="56"/>
                  </a:lnTo>
                  <a:lnTo>
                    <a:pt x="419" y="54"/>
                  </a:lnTo>
                  <a:lnTo>
                    <a:pt x="420" y="52"/>
                  </a:lnTo>
                  <a:lnTo>
                    <a:pt x="421" y="48"/>
                  </a:lnTo>
                  <a:lnTo>
                    <a:pt x="421" y="44"/>
                  </a:lnTo>
                  <a:lnTo>
                    <a:pt x="421" y="0"/>
                  </a:lnTo>
                  <a:lnTo>
                    <a:pt x="410" y="4"/>
                  </a:lnTo>
                  <a:lnTo>
                    <a:pt x="399" y="7"/>
                  </a:lnTo>
                  <a:lnTo>
                    <a:pt x="386" y="10"/>
                  </a:lnTo>
                  <a:lnTo>
                    <a:pt x="373" y="13"/>
                  </a:lnTo>
                  <a:lnTo>
                    <a:pt x="344" y="19"/>
                  </a:lnTo>
                  <a:lnTo>
                    <a:pt x="314" y="23"/>
                  </a:lnTo>
                  <a:lnTo>
                    <a:pt x="284" y="25"/>
                  </a:lnTo>
                  <a:lnTo>
                    <a:pt x="256" y="27"/>
                  </a:lnTo>
                  <a:lnTo>
                    <a:pt x="231" y="28"/>
                  </a:lnTo>
                  <a:lnTo>
                    <a:pt x="211" y="28"/>
                  </a:lnTo>
                  <a:lnTo>
                    <a:pt x="191" y="28"/>
                  </a:lnTo>
                  <a:lnTo>
                    <a:pt x="166" y="27"/>
                  </a:lnTo>
                  <a:lnTo>
                    <a:pt x="138" y="25"/>
                  </a:lnTo>
                  <a:lnTo>
                    <a:pt x="108" y="23"/>
                  </a:lnTo>
                  <a:lnTo>
                    <a:pt x="78" y="19"/>
                  </a:lnTo>
                  <a:lnTo>
                    <a:pt x="49" y="13"/>
                  </a:lnTo>
                  <a:lnTo>
                    <a:pt x="35" y="10"/>
                  </a:lnTo>
                  <a:lnTo>
                    <a:pt x="22" y="7"/>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0">
              <a:extLst>
                <a:ext uri="{FF2B5EF4-FFF2-40B4-BE49-F238E27FC236}">
                  <a16:creationId xmlns:a16="http://schemas.microsoft.com/office/drawing/2014/main" id="{E122CF50-AE9F-35BC-E2E9-406EE6F7CE79}"/>
                </a:ext>
              </a:extLst>
            </p:cNvPr>
            <p:cNvSpPr>
              <a:spLocks/>
            </p:cNvSpPr>
            <p:nvPr/>
          </p:nvSpPr>
          <p:spPr bwMode="auto">
            <a:xfrm>
              <a:off x="3756025" y="1474788"/>
              <a:ext cx="133350" cy="28575"/>
            </a:xfrm>
            <a:custGeom>
              <a:avLst/>
              <a:gdLst>
                <a:gd name="T0" fmla="*/ 420 w 420"/>
                <a:gd name="T1" fmla="*/ 58 h 90"/>
                <a:gd name="T2" fmla="*/ 419 w 420"/>
                <a:gd name="T3" fmla="*/ 55 h 90"/>
                <a:gd name="T4" fmla="*/ 418 w 420"/>
                <a:gd name="T5" fmla="*/ 50 h 90"/>
                <a:gd name="T6" fmla="*/ 416 w 420"/>
                <a:gd name="T7" fmla="*/ 47 h 90"/>
                <a:gd name="T8" fmla="*/ 413 w 420"/>
                <a:gd name="T9" fmla="*/ 44 h 90"/>
                <a:gd name="T10" fmla="*/ 406 w 420"/>
                <a:gd name="T11" fmla="*/ 37 h 90"/>
                <a:gd name="T12" fmla="*/ 397 w 420"/>
                <a:gd name="T13" fmla="*/ 32 h 90"/>
                <a:gd name="T14" fmla="*/ 386 w 420"/>
                <a:gd name="T15" fmla="*/ 27 h 90"/>
                <a:gd name="T16" fmla="*/ 374 w 420"/>
                <a:gd name="T17" fmla="*/ 22 h 90"/>
                <a:gd name="T18" fmla="*/ 360 w 420"/>
                <a:gd name="T19" fmla="*/ 18 h 90"/>
                <a:gd name="T20" fmla="*/ 345 w 420"/>
                <a:gd name="T21" fmla="*/ 14 h 90"/>
                <a:gd name="T22" fmla="*/ 313 w 420"/>
                <a:gd name="T23" fmla="*/ 9 h 90"/>
                <a:gd name="T24" fmla="*/ 277 w 420"/>
                <a:gd name="T25" fmla="*/ 3 h 90"/>
                <a:gd name="T26" fmla="*/ 243 w 420"/>
                <a:gd name="T27" fmla="*/ 1 h 90"/>
                <a:gd name="T28" fmla="*/ 210 w 420"/>
                <a:gd name="T29" fmla="*/ 0 h 90"/>
                <a:gd name="T30" fmla="*/ 172 w 420"/>
                <a:gd name="T31" fmla="*/ 1 h 90"/>
                <a:gd name="T32" fmla="*/ 133 w 420"/>
                <a:gd name="T33" fmla="*/ 4 h 90"/>
                <a:gd name="T34" fmla="*/ 113 w 420"/>
                <a:gd name="T35" fmla="*/ 7 h 90"/>
                <a:gd name="T36" fmla="*/ 94 w 420"/>
                <a:gd name="T37" fmla="*/ 11 h 90"/>
                <a:gd name="T38" fmla="*/ 76 w 420"/>
                <a:gd name="T39" fmla="*/ 14 h 90"/>
                <a:gd name="T40" fmla="*/ 59 w 420"/>
                <a:gd name="T41" fmla="*/ 18 h 90"/>
                <a:gd name="T42" fmla="*/ 59 w 420"/>
                <a:gd name="T43" fmla="*/ 18 h 90"/>
                <a:gd name="T44" fmla="*/ 55 w 420"/>
                <a:gd name="T45" fmla="*/ 19 h 90"/>
                <a:gd name="T46" fmla="*/ 52 w 420"/>
                <a:gd name="T47" fmla="*/ 20 h 90"/>
                <a:gd name="T48" fmla="*/ 48 w 420"/>
                <a:gd name="T49" fmla="*/ 21 h 90"/>
                <a:gd name="T50" fmla="*/ 44 w 420"/>
                <a:gd name="T51" fmla="*/ 22 h 90"/>
                <a:gd name="T52" fmla="*/ 43 w 420"/>
                <a:gd name="T53" fmla="*/ 24 h 90"/>
                <a:gd name="T54" fmla="*/ 40 w 420"/>
                <a:gd name="T55" fmla="*/ 24 h 90"/>
                <a:gd name="T56" fmla="*/ 35 w 420"/>
                <a:gd name="T57" fmla="*/ 26 h 90"/>
                <a:gd name="T58" fmla="*/ 31 w 420"/>
                <a:gd name="T59" fmla="*/ 28 h 90"/>
                <a:gd name="T60" fmla="*/ 30 w 420"/>
                <a:gd name="T61" fmla="*/ 28 h 90"/>
                <a:gd name="T62" fmla="*/ 30 w 420"/>
                <a:gd name="T63" fmla="*/ 28 h 90"/>
                <a:gd name="T64" fmla="*/ 19 w 420"/>
                <a:gd name="T65" fmla="*/ 33 h 90"/>
                <a:gd name="T66" fmla="*/ 12 w 420"/>
                <a:gd name="T67" fmla="*/ 40 h 90"/>
                <a:gd name="T68" fmla="*/ 10 w 420"/>
                <a:gd name="T69" fmla="*/ 40 h 90"/>
                <a:gd name="T70" fmla="*/ 10 w 420"/>
                <a:gd name="T71" fmla="*/ 40 h 90"/>
                <a:gd name="T72" fmla="*/ 7 w 420"/>
                <a:gd name="T73" fmla="*/ 43 h 90"/>
                <a:gd name="T74" fmla="*/ 5 w 420"/>
                <a:gd name="T75" fmla="*/ 46 h 90"/>
                <a:gd name="T76" fmla="*/ 4 w 420"/>
                <a:gd name="T77" fmla="*/ 47 h 90"/>
                <a:gd name="T78" fmla="*/ 4 w 420"/>
                <a:gd name="T79" fmla="*/ 48 h 90"/>
                <a:gd name="T80" fmla="*/ 2 w 420"/>
                <a:gd name="T81" fmla="*/ 50 h 90"/>
                <a:gd name="T82" fmla="*/ 1 w 420"/>
                <a:gd name="T83" fmla="*/ 52 h 90"/>
                <a:gd name="T84" fmla="*/ 0 w 420"/>
                <a:gd name="T85" fmla="*/ 56 h 90"/>
                <a:gd name="T86" fmla="*/ 0 w 420"/>
                <a:gd name="T87" fmla="*/ 58 h 90"/>
                <a:gd name="T88" fmla="*/ 8 w 420"/>
                <a:gd name="T89" fmla="*/ 63 h 90"/>
                <a:gd name="T90" fmla="*/ 22 w 420"/>
                <a:gd name="T91" fmla="*/ 68 h 90"/>
                <a:gd name="T92" fmla="*/ 43 w 420"/>
                <a:gd name="T93" fmla="*/ 74 h 90"/>
                <a:gd name="T94" fmla="*/ 67 w 420"/>
                <a:gd name="T95" fmla="*/ 78 h 90"/>
                <a:gd name="T96" fmla="*/ 96 w 420"/>
                <a:gd name="T97" fmla="*/ 84 h 90"/>
                <a:gd name="T98" fmla="*/ 131 w 420"/>
                <a:gd name="T99" fmla="*/ 87 h 90"/>
                <a:gd name="T100" fmla="*/ 168 w 420"/>
                <a:gd name="T101" fmla="*/ 90 h 90"/>
                <a:gd name="T102" fmla="*/ 210 w 420"/>
                <a:gd name="T103" fmla="*/ 90 h 90"/>
                <a:gd name="T104" fmla="*/ 251 w 420"/>
                <a:gd name="T105" fmla="*/ 90 h 90"/>
                <a:gd name="T106" fmla="*/ 289 w 420"/>
                <a:gd name="T107" fmla="*/ 87 h 90"/>
                <a:gd name="T108" fmla="*/ 323 w 420"/>
                <a:gd name="T109" fmla="*/ 84 h 90"/>
                <a:gd name="T110" fmla="*/ 353 w 420"/>
                <a:gd name="T111" fmla="*/ 78 h 90"/>
                <a:gd name="T112" fmla="*/ 377 w 420"/>
                <a:gd name="T113" fmla="*/ 74 h 90"/>
                <a:gd name="T114" fmla="*/ 398 w 420"/>
                <a:gd name="T115" fmla="*/ 68 h 90"/>
                <a:gd name="T116" fmla="*/ 412 w 420"/>
                <a:gd name="T117" fmla="*/ 62 h 90"/>
                <a:gd name="T118" fmla="*/ 420 w 420"/>
                <a:gd name="T119" fmla="*/ 58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20" h="90">
                  <a:moveTo>
                    <a:pt x="420" y="58"/>
                  </a:moveTo>
                  <a:lnTo>
                    <a:pt x="419" y="55"/>
                  </a:lnTo>
                  <a:lnTo>
                    <a:pt x="418" y="50"/>
                  </a:lnTo>
                  <a:lnTo>
                    <a:pt x="416" y="47"/>
                  </a:lnTo>
                  <a:lnTo>
                    <a:pt x="413" y="44"/>
                  </a:lnTo>
                  <a:lnTo>
                    <a:pt x="406" y="37"/>
                  </a:lnTo>
                  <a:lnTo>
                    <a:pt x="397" y="32"/>
                  </a:lnTo>
                  <a:lnTo>
                    <a:pt x="386" y="27"/>
                  </a:lnTo>
                  <a:lnTo>
                    <a:pt x="374" y="22"/>
                  </a:lnTo>
                  <a:lnTo>
                    <a:pt x="360" y="18"/>
                  </a:lnTo>
                  <a:lnTo>
                    <a:pt x="345" y="14"/>
                  </a:lnTo>
                  <a:lnTo>
                    <a:pt x="313" y="9"/>
                  </a:lnTo>
                  <a:lnTo>
                    <a:pt x="277" y="3"/>
                  </a:lnTo>
                  <a:lnTo>
                    <a:pt x="243" y="1"/>
                  </a:lnTo>
                  <a:lnTo>
                    <a:pt x="210" y="0"/>
                  </a:lnTo>
                  <a:lnTo>
                    <a:pt x="172" y="1"/>
                  </a:lnTo>
                  <a:lnTo>
                    <a:pt x="133" y="4"/>
                  </a:lnTo>
                  <a:lnTo>
                    <a:pt x="113" y="7"/>
                  </a:lnTo>
                  <a:lnTo>
                    <a:pt x="94" y="11"/>
                  </a:lnTo>
                  <a:lnTo>
                    <a:pt x="76" y="14"/>
                  </a:lnTo>
                  <a:lnTo>
                    <a:pt x="59" y="18"/>
                  </a:lnTo>
                  <a:lnTo>
                    <a:pt x="59" y="18"/>
                  </a:lnTo>
                  <a:lnTo>
                    <a:pt x="55" y="19"/>
                  </a:lnTo>
                  <a:lnTo>
                    <a:pt x="52" y="20"/>
                  </a:lnTo>
                  <a:lnTo>
                    <a:pt x="48" y="21"/>
                  </a:lnTo>
                  <a:lnTo>
                    <a:pt x="44" y="22"/>
                  </a:lnTo>
                  <a:lnTo>
                    <a:pt x="43" y="24"/>
                  </a:lnTo>
                  <a:lnTo>
                    <a:pt x="40" y="24"/>
                  </a:lnTo>
                  <a:lnTo>
                    <a:pt x="35" y="26"/>
                  </a:lnTo>
                  <a:lnTo>
                    <a:pt x="31" y="28"/>
                  </a:lnTo>
                  <a:lnTo>
                    <a:pt x="30" y="28"/>
                  </a:lnTo>
                  <a:lnTo>
                    <a:pt x="30" y="28"/>
                  </a:lnTo>
                  <a:lnTo>
                    <a:pt x="19" y="33"/>
                  </a:lnTo>
                  <a:lnTo>
                    <a:pt x="12" y="40"/>
                  </a:lnTo>
                  <a:lnTo>
                    <a:pt x="10" y="40"/>
                  </a:lnTo>
                  <a:lnTo>
                    <a:pt x="10" y="40"/>
                  </a:lnTo>
                  <a:lnTo>
                    <a:pt x="7" y="43"/>
                  </a:lnTo>
                  <a:lnTo>
                    <a:pt x="5" y="46"/>
                  </a:lnTo>
                  <a:lnTo>
                    <a:pt x="4" y="47"/>
                  </a:lnTo>
                  <a:lnTo>
                    <a:pt x="4" y="48"/>
                  </a:lnTo>
                  <a:lnTo>
                    <a:pt x="2" y="50"/>
                  </a:lnTo>
                  <a:lnTo>
                    <a:pt x="1" y="52"/>
                  </a:lnTo>
                  <a:lnTo>
                    <a:pt x="0" y="56"/>
                  </a:lnTo>
                  <a:lnTo>
                    <a:pt x="0" y="58"/>
                  </a:lnTo>
                  <a:lnTo>
                    <a:pt x="8" y="63"/>
                  </a:lnTo>
                  <a:lnTo>
                    <a:pt x="22" y="68"/>
                  </a:lnTo>
                  <a:lnTo>
                    <a:pt x="43" y="74"/>
                  </a:lnTo>
                  <a:lnTo>
                    <a:pt x="67" y="78"/>
                  </a:lnTo>
                  <a:lnTo>
                    <a:pt x="96" y="84"/>
                  </a:lnTo>
                  <a:lnTo>
                    <a:pt x="131" y="87"/>
                  </a:lnTo>
                  <a:lnTo>
                    <a:pt x="168" y="90"/>
                  </a:lnTo>
                  <a:lnTo>
                    <a:pt x="210" y="90"/>
                  </a:lnTo>
                  <a:lnTo>
                    <a:pt x="251" y="90"/>
                  </a:lnTo>
                  <a:lnTo>
                    <a:pt x="289" y="87"/>
                  </a:lnTo>
                  <a:lnTo>
                    <a:pt x="323" y="84"/>
                  </a:lnTo>
                  <a:lnTo>
                    <a:pt x="353" y="78"/>
                  </a:lnTo>
                  <a:lnTo>
                    <a:pt x="377" y="74"/>
                  </a:lnTo>
                  <a:lnTo>
                    <a:pt x="398" y="68"/>
                  </a:lnTo>
                  <a:lnTo>
                    <a:pt x="412" y="62"/>
                  </a:lnTo>
                  <a:lnTo>
                    <a:pt x="4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01">
              <a:extLst>
                <a:ext uri="{FF2B5EF4-FFF2-40B4-BE49-F238E27FC236}">
                  <a16:creationId xmlns:a16="http://schemas.microsoft.com/office/drawing/2014/main" id="{6E8F7273-FD3A-FF15-1F66-25EAE0F2EB40}"/>
                </a:ext>
              </a:extLst>
            </p:cNvPr>
            <p:cNvSpPr>
              <a:spLocks/>
            </p:cNvSpPr>
            <p:nvPr/>
          </p:nvSpPr>
          <p:spPr bwMode="auto">
            <a:xfrm>
              <a:off x="3756025" y="1503363"/>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7 h 75"/>
                <a:gd name="T10" fmla="*/ 67 w 421"/>
                <a:gd name="T11" fmla="*/ 62 h 75"/>
                <a:gd name="T12" fmla="*/ 97 w 421"/>
                <a:gd name="T13" fmla="*/ 68 h 75"/>
                <a:gd name="T14" fmla="*/ 130 w 421"/>
                <a:gd name="T15" fmla="*/ 71 h 75"/>
                <a:gd name="T16" fmla="*/ 169 w 421"/>
                <a:gd name="T17" fmla="*/ 74 h 75"/>
                <a:gd name="T18" fmla="*/ 211 w 421"/>
                <a:gd name="T19" fmla="*/ 75 h 75"/>
                <a:gd name="T20" fmla="*/ 253 w 421"/>
                <a:gd name="T21" fmla="*/ 74 h 75"/>
                <a:gd name="T22" fmla="*/ 290 w 421"/>
                <a:gd name="T23" fmla="*/ 71 h 75"/>
                <a:gd name="T24" fmla="*/ 325 w 421"/>
                <a:gd name="T25" fmla="*/ 68 h 75"/>
                <a:gd name="T26" fmla="*/ 355 w 421"/>
                <a:gd name="T27" fmla="*/ 62 h 75"/>
                <a:gd name="T28" fmla="*/ 379 w 421"/>
                <a:gd name="T29" fmla="*/ 57 h 75"/>
                <a:gd name="T30" fmla="*/ 399 w 421"/>
                <a:gd name="T31" fmla="*/ 52 h 75"/>
                <a:gd name="T32" fmla="*/ 414 w 421"/>
                <a:gd name="T33" fmla="*/ 46 h 75"/>
                <a:gd name="T34" fmla="*/ 421 w 421"/>
                <a:gd name="T35" fmla="*/ 42 h 75"/>
                <a:gd name="T36" fmla="*/ 421 w 421"/>
                <a:gd name="T37" fmla="*/ 0 h 75"/>
                <a:gd name="T38" fmla="*/ 410 w 421"/>
                <a:gd name="T39" fmla="*/ 4 h 75"/>
                <a:gd name="T40" fmla="*/ 399 w 421"/>
                <a:gd name="T41" fmla="*/ 8 h 75"/>
                <a:gd name="T42" fmla="*/ 386 w 421"/>
                <a:gd name="T43" fmla="*/ 12 h 75"/>
                <a:gd name="T44" fmla="*/ 373 w 421"/>
                <a:gd name="T45" fmla="*/ 14 h 75"/>
                <a:gd name="T46" fmla="*/ 344 w 421"/>
                <a:gd name="T47" fmla="*/ 19 h 75"/>
                <a:gd name="T48" fmla="*/ 314 w 421"/>
                <a:gd name="T49" fmla="*/ 24 h 75"/>
                <a:gd name="T50" fmla="*/ 284 w 421"/>
                <a:gd name="T51" fmla="*/ 27 h 75"/>
                <a:gd name="T52" fmla="*/ 256 w 421"/>
                <a:gd name="T53" fmla="*/ 28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8 h 75"/>
                <a:gd name="T74" fmla="*/ 10 w 421"/>
                <a:gd name="T75" fmla="*/ 4 h 75"/>
                <a:gd name="T76" fmla="*/ 0 w 421"/>
                <a:gd name="T77" fmla="*/ 0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6"/>
                  </a:lnTo>
                  <a:lnTo>
                    <a:pt x="22" y="52"/>
                  </a:lnTo>
                  <a:lnTo>
                    <a:pt x="43" y="57"/>
                  </a:lnTo>
                  <a:lnTo>
                    <a:pt x="67" y="62"/>
                  </a:lnTo>
                  <a:lnTo>
                    <a:pt x="97" y="68"/>
                  </a:lnTo>
                  <a:lnTo>
                    <a:pt x="130" y="71"/>
                  </a:lnTo>
                  <a:lnTo>
                    <a:pt x="169" y="74"/>
                  </a:lnTo>
                  <a:lnTo>
                    <a:pt x="211" y="75"/>
                  </a:lnTo>
                  <a:lnTo>
                    <a:pt x="253" y="74"/>
                  </a:lnTo>
                  <a:lnTo>
                    <a:pt x="290" y="71"/>
                  </a:lnTo>
                  <a:lnTo>
                    <a:pt x="325" y="68"/>
                  </a:lnTo>
                  <a:lnTo>
                    <a:pt x="355" y="62"/>
                  </a:lnTo>
                  <a:lnTo>
                    <a:pt x="379" y="57"/>
                  </a:lnTo>
                  <a:lnTo>
                    <a:pt x="399" y="52"/>
                  </a:lnTo>
                  <a:lnTo>
                    <a:pt x="414" y="46"/>
                  </a:lnTo>
                  <a:lnTo>
                    <a:pt x="421" y="42"/>
                  </a:lnTo>
                  <a:lnTo>
                    <a:pt x="421" y="0"/>
                  </a:lnTo>
                  <a:lnTo>
                    <a:pt x="410" y="4"/>
                  </a:lnTo>
                  <a:lnTo>
                    <a:pt x="399" y="8"/>
                  </a:lnTo>
                  <a:lnTo>
                    <a:pt x="386" y="12"/>
                  </a:lnTo>
                  <a:lnTo>
                    <a:pt x="373" y="14"/>
                  </a:lnTo>
                  <a:lnTo>
                    <a:pt x="344" y="19"/>
                  </a:lnTo>
                  <a:lnTo>
                    <a:pt x="314" y="24"/>
                  </a:lnTo>
                  <a:lnTo>
                    <a:pt x="284" y="27"/>
                  </a:lnTo>
                  <a:lnTo>
                    <a:pt x="256" y="28"/>
                  </a:lnTo>
                  <a:lnTo>
                    <a:pt x="231" y="29"/>
                  </a:lnTo>
                  <a:lnTo>
                    <a:pt x="211" y="30"/>
                  </a:lnTo>
                  <a:lnTo>
                    <a:pt x="191" y="29"/>
                  </a:lnTo>
                  <a:lnTo>
                    <a:pt x="166" y="28"/>
                  </a:lnTo>
                  <a:lnTo>
                    <a:pt x="138" y="27"/>
                  </a:lnTo>
                  <a:lnTo>
                    <a:pt x="108" y="24"/>
                  </a:lnTo>
                  <a:lnTo>
                    <a:pt x="78" y="19"/>
                  </a:lnTo>
                  <a:lnTo>
                    <a:pt x="49" y="15"/>
                  </a:lnTo>
                  <a:lnTo>
                    <a:pt x="35" y="12"/>
                  </a:lnTo>
                  <a:lnTo>
                    <a:pt x="22" y="8"/>
                  </a:lnTo>
                  <a:lnTo>
                    <a:pt x="10" y="4"/>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502">
              <a:extLst>
                <a:ext uri="{FF2B5EF4-FFF2-40B4-BE49-F238E27FC236}">
                  <a16:creationId xmlns:a16="http://schemas.microsoft.com/office/drawing/2014/main" id="{5A4D6043-DD87-5ACF-2DEE-1E108ED2EFAB}"/>
                </a:ext>
              </a:extLst>
            </p:cNvPr>
            <p:cNvSpPr>
              <a:spLocks/>
            </p:cNvSpPr>
            <p:nvPr/>
          </p:nvSpPr>
          <p:spPr bwMode="auto">
            <a:xfrm>
              <a:off x="3756025" y="1574800"/>
              <a:ext cx="133350" cy="23813"/>
            </a:xfrm>
            <a:custGeom>
              <a:avLst/>
              <a:gdLst>
                <a:gd name="T0" fmla="*/ 0 w 421"/>
                <a:gd name="T1" fmla="*/ 0 h 75"/>
                <a:gd name="T2" fmla="*/ 0 w 421"/>
                <a:gd name="T3" fmla="*/ 42 h 75"/>
                <a:gd name="T4" fmla="*/ 8 w 421"/>
                <a:gd name="T5" fmla="*/ 48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8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1 h 75"/>
                <a:gd name="T78" fmla="*/ 0 w 421"/>
                <a:gd name="T79"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1" h="75">
                  <a:moveTo>
                    <a:pt x="0" y="0"/>
                  </a:moveTo>
                  <a:lnTo>
                    <a:pt x="0" y="42"/>
                  </a:lnTo>
                  <a:lnTo>
                    <a:pt x="8" y="48"/>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8"/>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503">
              <a:extLst>
                <a:ext uri="{FF2B5EF4-FFF2-40B4-BE49-F238E27FC236}">
                  <a16:creationId xmlns:a16="http://schemas.microsoft.com/office/drawing/2014/main" id="{4FB044C7-57A6-E5EF-631A-68EDED117AF4}"/>
                </a:ext>
              </a:extLst>
            </p:cNvPr>
            <p:cNvSpPr>
              <a:spLocks/>
            </p:cNvSpPr>
            <p:nvPr/>
          </p:nvSpPr>
          <p:spPr bwMode="auto">
            <a:xfrm>
              <a:off x="3756025" y="1550988"/>
              <a:ext cx="133350" cy="23813"/>
            </a:xfrm>
            <a:custGeom>
              <a:avLst/>
              <a:gdLst>
                <a:gd name="T0" fmla="*/ 0 w 421"/>
                <a:gd name="T1" fmla="*/ 0 h 75"/>
                <a:gd name="T2" fmla="*/ 0 w 421"/>
                <a:gd name="T3" fmla="*/ 42 h 75"/>
                <a:gd name="T4" fmla="*/ 8 w 421"/>
                <a:gd name="T5" fmla="*/ 47 h 75"/>
                <a:gd name="T6" fmla="*/ 22 w 421"/>
                <a:gd name="T7" fmla="*/ 53 h 75"/>
                <a:gd name="T8" fmla="*/ 43 w 421"/>
                <a:gd name="T9" fmla="*/ 58 h 75"/>
                <a:gd name="T10" fmla="*/ 67 w 421"/>
                <a:gd name="T11" fmla="*/ 64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4 h 75"/>
                <a:gd name="T28" fmla="*/ 379 w 421"/>
                <a:gd name="T29" fmla="*/ 58 h 75"/>
                <a:gd name="T30" fmla="*/ 399 w 421"/>
                <a:gd name="T31" fmla="*/ 53 h 75"/>
                <a:gd name="T32" fmla="*/ 414 w 421"/>
                <a:gd name="T33" fmla="*/ 47 h 75"/>
                <a:gd name="T34" fmla="*/ 421 w 421"/>
                <a:gd name="T35" fmla="*/ 42 h 75"/>
                <a:gd name="T36" fmla="*/ 421 w 421"/>
                <a:gd name="T37" fmla="*/ 0 h 75"/>
                <a:gd name="T38" fmla="*/ 410 w 421"/>
                <a:gd name="T39" fmla="*/ 5 h 75"/>
                <a:gd name="T40" fmla="*/ 399 w 421"/>
                <a:gd name="T41" fmla="*/ 9 h 75"/>
                <a:gd name="T42" fmla="*/ 386 w 421"/>
                <a:gd name="T43" fmla="*/ 12 h 75"/>
                <a:gd name="T44" fmla="*/ 373 w 421"/>
                <a:gd name="T45" fmla="*/ 15 h 75"/>
                <a:gd name="T46" fmla="*/ 344 w 421"/>
                <a:gd name="T47" fmla="*/ 21 h 75"/>
                <a:gd name="T48" fmla="*/ 314 w 421"/>
                <a:gd name="T49" fmla="*/ 24 h 75"/>
                <a:gd name="T50" fmla="*/ 284 w 421"/>
                <a:gd name="T51" fmla="*/ 27 h 75"/>
                <a:gd name="T52" fmla="*/ 256 w 421"/>
                <a:gd name="T53" fmla="*/ 29 h 75"/>
                <a:gd name="T54" fmla="*/ 231 w 421"/>
                <a:gd name="T55" fmla="*/ 30 h 75"/>
                <a:gd name="T56" fmla="*/ 211 w 421"/>
                <a:gd name="T57" fmla="*/ 30 h 75"/>
                <a:gd name="T58" fmla="*/ 191 w 421"/>
                <a:gd name="T59" fmla="*/ 30 h 75"/>
                <a:gd name="T60" fmla="*/ 166 w 421"/>
                <a:gd name="T61" fmla="*/ 29 h 75"/>
                <a:gd name="T62" fmla="*/ 138 w 421"/>
                <a:gd name="T63" fmla="*/ 27 h 75"/>
                <a:gd name="T64" fmla="*/ 108 w 421"/>
                <a:gd name="T65" fmla="*/ 24 h 75"/>
                <a:gd name="T66" fmla="*/ 78 w 421"/>
                <a:gd name="T67" fmla="*/ 21 h 75"/>
                <a:gd name="T68" fmla="*/ 49 w 421"/>
                <a:gd name="T69" fmla="*/ 15 h 75"/>
                <a:gd name="T70" fmla="*/ 35 w 421"/>
                <a:gd name="T71" fmla="*/ 12 h 75"/>
                <a:gd name="T72" fmla="*/ 22 w 421"/>
                <a:gd name="T73" fmla="*/ 9 h 75"/>
                <a:gd name="T74" fmla="*/ 10 w 421"/>
                <a:gd name="T75" fmla="*/ 5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7"/>
                  </a:lnTo>
                  <a:lnTo>
                    <a:pt x="22" y="53"/>
                  </a:lnTo>
                  <a:lnTo>
                    <a:pt x="43" y="58"/>
                  </a:lnTo>
                  <a:lnTo>
                    <a:pt x="67" y="64"/>
                  </a:lnTo>
                  <a:lnTo>
                    <a:pt x="97" y="68"/>
                  </a:lnTo>
                  <a:lnTo>
                    <a:pt x="130" y="72"/>
                  </a:lnTo>
                  <a:lnTo>
                    <a:pt x="169" y="74"/>
                  </a:lnTo>
                  <a:lnTo>
                    <a:pt x="211" y="75"/>
                  </a:lnTo>
                  <a:lnTo>
                    <a:pt x="253" y="74"/>
                  </a:lnTo>
                  <a:lnTo>
                    <a:pt x="290" y="72"/>
                  </a:lnTo>
                  <a:lnTo>
                    <a:pt x="325" y="68"/>
                  </a:lnTo>
                  <a:lnTo>
                    <a:pt x="355" y="64"/>
                  </a:lnTo>
                  <a:lnTo>
                    <a:pt x="379" y="58"/>
                  </a:lnTo>
                  <a:lnTo>
                    <a:pt x="399" y="53"/>
                  </a:lnTo>
                  <a:lnTo>
                    <a:pt x="414" y="47"/>
                  </a:lnTo>
                  <a:lnTo>
                    <a:pt x="421" y="42"/>
                  </a:lnTo>
                  <a:lnTo>
                    <a:pt x="421" y="0"/>
                  </a:lnTo>
                  <a:lnTo>
                    <a:pt x="410" y="5"/>
                  </a:lnTo>
                  <a:lnTo>
                    <a:pt x="399" y="9"/>
                  </a:lnTo>
                  <a:lnTo>
                    <a:pt x="386" y="12"/>
                  </a:lnTo>
                  <a:lnTo>
                    <a:pt x="373" y="15"/>
                  </a:lnTo>
                  <a:lnTo>
                    <a:pt x="344" y="21"/>
                  </a:lnTo>
                  <a:lnTo>
                    <a:pt x="314" y="24"/>
                  </a:lnTo>
                  <a:lnTo>
                    <a:pt x="284" y="27"/>
                  </a:lnTo>
                  <a:lnTo>
                    <a:pt x="256" y="29"/>
                  </a:lnTo>
                  <a:lnTo>
                    <a:pt x="231" y="30"/>
                  </a:lnTo>
                  <a:lnTo>
                    <a:pt x="211" y="30"/>
                  </a:lnTo>
                  <a:lnTo>
                    <a:pt x="191" y="30"/>
                  </a:lnTo>
                  <a:lnTo>
                    <a:pt x="166" y="29"/>
                  </a:lnTo>
                  <a:lnTo>
                    <a:pt x="138" y="27"/>
                  </a:lnTo>
                  <a:lnTo>
                    <a:pt x="108" y="24"/>
                  </a:lnTo>
                  <a:lnTo>
                    <a:pt x="78" y="21"/>
                  </a:lnTo>
                  <a:lnTo>
                    <a:pt x="49" y="15"/>
                  </a:lnTo>
                  <a:lnTo>
                    <a:pt x="35" y="12"/>
                  </a:lnTo>
                  <a:lnTo>
                    <a:pt x="22" y="9"/>
                  </a:lnTo>
                  <a:lnTo>
                    <a:pt x="10" y="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04">
              <a:extLst>
                <a:ext uri="{FF2B5EF4-FFF2-40B4-BE49-F238E27FC236}">
                  <a16:creationId xmlns:a16="http://schemas.microsoft.com/office/drawing/2014/main" id="{E37B562F-F6B6-D558-9B36-3B4A14375A61}"/>
                </a:ext>
              </a:extLst>
            </p:cNvPr>
            <p:cNvSpPr>
              <a:spLocks/>
            </p:cNvSpPr>
            <p:nvPr/>
          </p:nvSpPr>
          <p:spPr bwMode="auto">
            <a:xfrm>
              <a:off x="3756025" y="1527175"/>
              <a:ext cx="133350" cy="23813"/>
            </a:xfrm>
            <a:custGeom>
              <a:avLst/>
              <a:gdLst>
                <a:gd name="T0" fmla="*/ 0 w 421"/>
                <a:gd name="T1" fmla="*/ 0 h 75"/>
                <a:gd name="T2" fmla="*/ 0 w 421"/>
                <a:gd name="T3" fmla="*/ 42 h 75"/>
                <a:gd name="T4" fmla="*/ 8 w 421"/>
                <a:gd name="T5" fmla="*/ 46 h 75"/>
                <a:gd name="T6" fmla="*/ 22 w 421"/>
                <a:gd name="T7" fmla="*/ 52 h 75"/>
                <a:gd name="T8" fmla="*/ 43 w 421"/>
                <a:gd name="T9" fmla="*/ 58 h 75"/>
                <a:gd name="T10" fmla="*/ 67 w 421"/>
                <a:gd name="T11" fmla="*/ 63 h 75"/>
                <a:gd name="T12" fmla="*/ 97 w 421"/>
                <a:gd name="T13" fmla="*/ 68 h 75"/>
                <a:gd name="T14" fmla="*/ 130 w 421"/>
                <a:gd name="T15" fmla="*/ 72 h 75"/>
                <a:gd name="T16" fmla="*/ 169 w 421"/>
                <a:gd name="T17" fmla="*/ 74 h 75"/>
                <a:gd name="T18" fmla="*/ 211 w 421"/>
                <a:gd name="T19" fmla="*/ 75 h 75"/>
                <a:gd name="T20" fmla="*/ 253 w 421"/>
                <a:gd name="T21" fmla="*/ 74 h 75"/>
                <a:gd name="T22" fmla="*/ 290 w 421"/>
                <a:gd name="T23" fmla="*/ 72 h 75"/>
                <a:gd name="T24" fmla="*/ 325 w 421"/>
                <a:gd name="T25" fmla="*/ 68 h 75"/>
                <a:gd name="T26" fmla="*/ 355 w 421"/>
                <a:gd name="T27" fmla="*/ 63 h 75"/>
                <a:gd name="T28" fmla="*/ 379 w 421"/>
                <a:gd name="T29" fmla="*/ 58 h 75"/>
                <a:gd name="T30" fmla="*/ 399 w 421"/>
                <a:gd name="T31" fmla="*/ 52 h 75"/>
                <a:gd name="T32" fmla="*/ 414 w 421"/>
                <a:gd name="T33" fmla="*/ 47 h 75"/>
                <a:gd name="T34" fmla="*/ 421 w 421"/>
                <a:gd name="T35" fmla="*/ 42 h 75"/>
                <a:gd name="T36" fmla="*/ 421 w 421"/>
                <a:gd name="T37" fmla="*/ 0 h 75"/>
                <a:gd name="T38" fmla="*/ 410 w 421"/>
                <a:gd name="T39" fmla="*/ 4 h 75"/>
                <a:gd name="T40" fmla="*/ 399 w 421"/>
                <a:gd name="T41" fmla="*/ 9 h 75"/>
                <a:gd name="T42" fmla="*/ 386 w 421"/>
                <a:gd name="T43" fmla="*/ 12 h 75"/>
                <a:gd name="T44" fmla="*/ 373 w 421"/>
                <a:gd name="T45" fmla="*/ 15 h 75"/>
                <a:gd name="T46" fmla="*/ 344 w 421"/>
                <a:gd name="T47" fmla="*/ 19 h 75"/>
                <a:gd name="T48" fmla="*/ 314 w 421"/>
                <a:gd name="T49" fmla="*/ 24 h 75"/>
                <a:gd name="T50" fmla="*/ 284 w 421"/>
                <a:gd name="T51" fmla="*/ 27 h 75"/>
                <a:gd name="T52" fmla="*/ 256 w 421"/>
                <a:gd name="T53" fmla="*/ 29 h 75"/>
                <a:gd name="T54" fmla="*/ 231 w 421"/>
                <a:gd name="T55" fmla="*/ 29 h 75"/>
                <a:gd name="T56" fmla="*/ 211 w 421"/>
                <a:gd name="T57" fmla="*/ 30 h 75"/>
                <a:gd name="T58" fmla="*/ 191 w 421"/>
                <a:gd name="T59" fmla="*/ 29 h 75"/>
                <a:gd name="T60" fmla="*/ 166 w 421"/>
                <a:gd name="T61" fmla="*/ 28 h 75"/>
                <a:gd name="T62" fmla="*/ 138 w 421"/>
                <a:gd name="T63" fmla="*/ 27 h 75"/>
                <a:gd name="T64" fmla="*/ 108 w 421"/>
                <a:gd name="T65" fmla="*/ 24 h 75"/>
                <a:gd name="T66" fmla="*/ 78 w 421"/>
                <a:gd name="T67" fmla="*/ 19 h 75"/>
                <a:gd name="T68" fmla="*/ 49 w 421"/>
                <a:gd name="T69" fmla="*/ 15 h 75"/>
                <a:gd name="T70" fmla="*/ 35 w 421"/>
                <a:gd name="T71" fmla="*/ 12 h 75"/>
                <a:gd name="T72" fmla="*/ 22 w 421"/>
                <a:gd name="T73" fmla="*/ 9 h 75"/>
                <a:gd name="T74" fmla="*/ 10 w 421"/>
                <a:gd name="T75" fmla="*/ 4 h 75"/>
                <a:gd name="T76" fmla="*/ 0 w 421"/>
                <a:gd name="T7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1" h="75">
                  <a:moveTo>
                    <a:pt x="0" y="0"/>
                  </a:moveTo>
                  <a:lnTo>
                    <a:pt x="0" y="42"/>
                  </a:lnTo>
                  <a:lnTo>
                    <a:pt x="8" y="46"/>
                  </a:lnTo>
                  <a:lnTo>
                    <a:pt x="22" y="52"/>
                  </a:lnTo>
                  <a:lnTo>
                    <a:pt x="43" y="58"/>
                  </a:lnTo>
                  <a:lnTo>
                    <a:pt x="67" y="63"/>
                  </a:lnTo>
                  <a:lnTo>
                    <a:pt x="97" y="68"/>
                  </a:lnTo>
                  <a:lnTo>
                    <a:pt x="130" y="72"/>
                  </a:lnTo>
                  <a:lnTo>
                    <a:pt x="169" y="74"/>
                  </a:lnTo>
                  <a:lnTo>
                    <a:pt x="211" y="75"/>
                  </a:lnTo>
                  <a:lnTo>
                    <a:pt x="253" y="74"/>
                  </a:lnTo>
                  <a:lnTo>
                    <a:pt x="290" y="72"/>
                  </a:lnTo>
                  <a:lnTo>
                    <a:pt x="325" y="68"/>
                  </a:lnTo>
                  <a:lnTo>
                    <a:pt x="355" y="63"/>
                  </a:lnTo>
                  <a:lnTo>
                    <a:pt x="379" y="58"/>
                  </a:lnTo>
                  <a:lnTo>
                    <a:pt x="399" y="52"/>
                  </a:lnTo>
                  <a:lnTo>
                    <a:pt x="414" y="47"/>
                  </a:lnTo>
                  <a:lnTo>
                    <a:pt x="421" y="42"/>
                  </a:lnTo>
                  <a:lnTo>
                    <a:pt x="421" y="0"/>
                  </a:lnTo>
                  <a:lnTo>
                    <a:pt x="410" y="4"/>
                  </a:lnTo>
                  <a:lnTo>
                    <a:pt x="399" y="9"/>
                  </a:lnTo>
                  <a:lnTo>
                    <a:pt x="386" y="12"/>
                  </a:lnTo>
                  <a:lnTo>
                    <a:pt x="373" y="15"/>
                  </a:lnTo>
                  <a:lnTo>
                    <a:pt x="344" y="19"/>
                  </a:lnTo>
                  <a:lnTo>
                    <a:pt x="314" y="24"/>
                  </a:lnTo>
                  <a:lnTo>
                    <a:pt x="284" y="27"/>
                  </a:lnTo>
                  <a:lnTo>
                    <a:pt x="256" y="29"/>
                  </a:lnTo>
                  <a:lnTo>
                    <a:pt x="231" y="29"/>
                  </a:lnTo>
                  <a:lnTo>
                    <a:pt x="211" y="30"/>
                  </a:lnTo>
                  <a:lnTo>
                    <a:pt x="191" y="29"/>
                  </a:lnTo>
                  <a:lnTo>
                    <a:pt x="166" y="28"/>
                  </a:lnTo>
                  <a:lnTo>
                    <a:pt x="138" y="27"/>
                  </a:lnTo>
                  <a:lnTo>
                    <a:pt x="108" y="24"/>
                  </a:lnTo>
                  <a:lnTo>
                    <a:pt x="78" y="19"/>
                  </a:lnTo>
                  <a:lnTo>
                    <a:pt x="49" y="15"/>
                  </a:lnTo>
                  <a:lnTo>
                    <a:pt x="35" y="12"/>
                  </a:lnTo>
                  <a:lnTo>
                    <a:pt x="22" y="9"/>
                  </a:lnTo>
                  <a:lnTo>
                    <a:pt x="10" y="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7" name="Group 66" descr="Icon of abacus. ">
            <a:extLst>
              <a:ext uri="{FF2B5EF4-FFF2-40B4-BE49-F238E27FC236}">
                <a16:creationId xmlns:a16="http://schemas.microsoft.com/office/drawing/2014/main" id="{A7450C4A-C481-B8E3-072B-7038AAE51BFB}"/>
              </a:ext>
            </a:extLst>
          </p:cNvPr>
          <p:cNvGrpSpPr/>
          <p:nvPr/>
        </p:nvGrpSpPr>
        <p:grpSpPr>
          <a:xfrm>
            <a:off x="8746277" y="1985397"/>
            <a:ext cx="382447" cy="382447"/>
            <a:chOff x="877888" y="771525"/>
            <a:chExt cx="287338" cy="287338"/>
          </a:xfrm>
          <a:solidFill>
            <a:schemeClr val="bg1"/>
          </a:solidFill>
        </p:grpSpPr>
        <p:sp>
          <p:nvSpPr>
            <p:cNvPr id="68" name="Freeform 324">
              <a:extLst>
                <a:ext uri="{FF2B5EF4-FFF2-40B4-BE49-F238E27FC236}">
                  <a16:creationId xmlns:a16="http://schemas.microsoft.com/office/drawing/2014/main" id="{CBE08730-04F7-ACF3-C1C7-6756358F3BC2}"/>
                </a:ext>
              </a:extLst>
            </p:cNvPr>
            <p:cNvSpPr>
              <a:spLocks/>
            </p:cNvSpPr>
            <p:nvPr/>
          </p:nvSpPr>
          <p:spPr bwMode="auto">
            <a:xfrm>
              <a:off x="877888" y="771525"/>
              <a:ext cx="61913" cy="287338"/>
            </a:xfrm>
            <a:custGeom>
              <a:avLst/>
              <a:gdLst>
                <a:gd name="T0" fmla="*/ 0 w 196"/>
                <a:gd name="T1" fmla="*/ 888 h 903"/>
                <a:gd name="T2" fmla="*/ 1 w 196"/>
                <a:gd name="T3" fmla="*/ 895 h 903"/>
                <a:gd name="T4" fmla="*/ 4 w 196"/>
                <a:gd name="T5" fmla="*/ 899 h 903"/>
                <a:gd name="T6" fmla="*/ 10 w 196"/>
                <a:gd name="T7" fmla="*/ 902 h 903"/>
                <a:gd name="T8" fmla="*/ 15 w 196"/>
                <a:gd name="T9" fmla="*/ 903 h 903"/>
                <a:gd name="T10" fmla="*/ 196 w 196"/>
                <a:gd name="T11" fmla="*/ 798 h 903"/>
                <a:gd name="T12" fmla="*/ 160 w 196"/>
                <a:gd name="T13" fmla="*/ 797 h 903"/>
                <a:gd name="T14" fmla="*/ 149 w 196"/>
                <a:gd name="T15" fmla="*/ 793 h 903"/>
                <a:gd name="T16" fmla="*/ 141 w 196"/>
                <a:gd name="T17" fmla="*/ 785 h 903"/>
                <a:gd name="T18" fmla="*/ 136 w 196"/>
                <a:gd name="T19" fmla="*/ 774 h 903"/>
                <a:gd name="T20" fmla="*/ 136 w 196"/>
                <a:gd name="T21" fmla="*/ 738 h 903"/>
                <a:gd name="T22" fmla="*/ 138 w 196"/>
                <a:gd name="T23" fmla="*/ 726 h 903"/>
                <a:gd name="T24" fmla="*/ 145 w 196"/>
                <a:gd name="T25" fmla="*/ 717 h 903"/>
                <a:gd name="T26" fmla="*/ 155 w 196"/>
                <a:gd name="T27" fmla="*/ 710 h 903"/>
                <a:gd name="T28" fmla="*/ 166 w 196"/>
                <a:gd name="T29" fmla="*/ 708 h 903"/>
                <a:gd name="T30" fmla="*/ 196 w 196"/>
                <a:gd name="T31" fmla="*/ 346 h 903"/>
                <a:gd name="T32" fmla="*/ 160 w 196"/>
                <a:gd name="T33" fmla="*/ 345 h 903"/>
                <a:gd name="T34" fmla="*/ 149 w 196"/>
                <a:gd name="T35" fmla="*/ 341 h 903"/>
                <a:gd name="T36" fmla="*/ 141 w 196"/>
                <a:gd name="T37" fmla="*/ 333 h 903"/>
                <a:gd name="T38" fmla="*/ 136 w 196"/>
                <a:gd name="T39" fmla="*/ 322 h 903"/>
                <a:gd name="T40" fmla="*/ 136 w 196"/>
                <a:gd name="T41" fmla="*/ 286 h 903"/>
                <a:gd name="T42" fmla="*/ 138 w 196"/>
                <a:gd name="T43" fmla="*/ 275 h 903"/>
                <a:gd name="T44" fmla="*/ 145 w 196"/>
                <a:gd name="T45" fmla="*/ 265 h 903"/>
                <a:gd name="T46" fmla="*/ 155 w 196"/>
                <a:gd name="T47" fmla="*/ 259 h 903"/>
                <a:gd name="T48" fmla="*/ 166 w 196"/>
                <a:gd name="T49" fmla="*/ 256 h 903"/>
                <a:gd name="T50" fmla="*/ 196 w 196"/>
                <a:gd name="T51" fmla="*/ 196 h 903"/>
                <a:gd name="T52" fmla="*/ 160 w 196"/>
                <a:gd name="T53" fmla="*/ 195 h 903"/>
                <a:gd name="T54" fmla="*/ 149 w 196"/>
                <a:gd name="T55" fmla="*/ 191 h 903"/>
                <a:gd name="T56" fmla="*/ 141 w 196"/>
                <a:gd name="T57" fmla="*/ 182 h 903"/>
                <a:gd name="T58" fmla="*/ 136 w 196"/>
                <a:gd name="T59" fmla="*/ 172 h 903"/>
                <a:gd name="T60" fmla="*/ 136 w 196"/>
                <a:gd name="T61" fmla="*/ 135 h 903"/>
                <a:gd name="T62" fmla="*/ 138 w 196"/>
                <a:gd name="T63" fmla="*/ 123 h 903"/>
                <a:gd name="T64" fmla="*/ 145 w 196"/>
                <a:gd name="T65" fmla="*/ 115 h 903"/>
                <a:gd name="T66" fmla="*/ 155 w 196"/>
                <a:gd name="T67" fmla="*/ 108 h 903"/>
                <a:gd name="T68" fmla="*/ 166 w 196"/>
                <a:gd name="T69" fmla="*/ 105 h 903"/>
                <a:gd name="T70" fmla="*/ 196 w 196"/>
                <a:gd name="T71" fmla="*/ 0 h 903"/>
                <a:gd name="T72" fmla="*/ 12 w 196"/>
                <a:gd name="T73" fmla="*/ 0 h 903"/>
                <a:gd name="T74" fmla="*/ 7 w 196"/>
                <a:gd name="T75" fmla="*/ 2 h 903"/>
                <a:gd name="T76" fmla="*/ 3 w 196"/>
                <a:gd name="T77" fmla="*/ 6 h 903"/>
                <a:gd name="T78" fmla="*/ 1 w 196"/>
                <a:gd name="T79" fmla="*/ 12 h 903"/>
                <a:gd name="T80" fmla="*/ 0 w 196"/>
                <a:gd name="T81" fmla="*/ 15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6" h="903">
                  <a:moveTo>
                    <a:pt x="0" y="15"/>
                  </a:moveTo>
                  <a:lnTo>
                    <a:pt x="0" y="888"/>
                  </a:lnTo>
                  <a:lnTo>
                    <a:pt x="1" y="891"/>
                  </a:lnTo>
                  <a:lnTo>
                    <a:pt x="1" y="895"/>
                  </a:lnTo>
                  <a:lnTo>
                    <a:pt x="3" y="897"/>
                  </a:lnTo>
                  <a:lnTo>
                    <a:pt x="4" y="899"/>
                  </a:lnTo>
                  <a:lnTo>
                    <a:pt x="7" y="901"/>
                  </a:lnTo>
                  <a:lnTo>
                    <a:pt x="10" y="902"/>
                  </a:lnTo>
                  <a:lnTo>
                    <a:pt x="12" y="903"/>
                  </a:lnTo>
                  <a:lnTo>
                    <a:pt x="15" y="903"/>
                  </a:lnTo>
                  <a:lnTo>
                    <a:pt x="196" y="903"/>
                  </a:lnTo>
                  <a:lnTo>
                    <a:pt x="196" y="798"/>
                  </a:lnTo>
                  <a:lnTo>
                    <a:pt x="166" y="798"/>
                  </a:lnTo>
                  <a:lnTo>
                    <a:pt x="160" y="797"/>
                  </a:lnTo>
                  <a:lnTo>
                    <a:pt x="155" y="796"/>
                  </a:lnTo>
                  <a:lnTo>
                    <a:pt x="149" y="793"/>
                  </a:lnTo>
                  <a:lnTo>
                    <a:pt x="145" y="789"/>
                  </a:lnTo>
                  <a:lnTo>
                    <a:pt x="141" y="785"/>
                  </a:lnTo>
                  <a:lnTo>
                    <a:pt x="138" y="780"/>
                  </a:lnTo>
                  <a:lnTo>
                    <a:pt x="136" y="774"/>
                  </a:lnTo>
                  <a:lnTo>
                    <a:pt x="136" y="768"/>
                  </a:lnTo>
                  <a:lnTo>
                    <a:pt x="136" y="738"/>
                  </a:lnTo>
                  <a:lnTo>
                    <a:pt x="136" y="732"/>
                  </a:lnTo>
                  <a:lnTo>
                    <a:pt x="138" y="726"/>
                  </a:lnTo>
                  <a:lnTo>
                    <a:pt x="141" y="721"/>
                  </a:lnTo>
                  <a:lnTo>
                    <a:pt x="145" y="717"/>
                  </a:lnTo>
                  <a:lnTo>
                    <a:pt x="149" y="713"/>
                  </a:lnTo>
                  <a:lnTo>
                    <a:pt x="155" y="710"/>
                  </a:lnTo>
                  <a:lnTo>
                    <a:pt x="160" y="708"/>
                  </a:lnTo>
                  <a:lnTo>
                    <a:pt x="166" y="708"/>
                  </a:lnTo>
                  <a:lnTo>
                    <a:pt x="196" y="708"/>
                  </a:lnTo>
                  <a:lnTo>
                    <a:pt x="196" y="346"/>
                  </a:lnTo>
                  <a:lnTo>
                    <a:pt x="166" y="346"/>
                  </a:lnTo>
                  <a:lnTo>
                    <a:pt x="160" y="345"/>
                  </a:lnTo>
                  <a:lnTo>
                    <a:pt x="155" y="344"/>
                  </a:lnTo>
                  <a:lnTo>
                    <a:pt x="149" y="341"/>
                  </a:lnTo>
                  <a:lnTo>
                    <a:pt x="145" y="338"/>
                  </a:lnTo>
                  <a:lnTo>
                    <a:pt x="141" y="333"/>
                  </a:lnTo>
                  <a:lnTo>
                    <a:pt x="138" y="328"/>
                  </a:lnTo>
                  <a:lnTo>
                    <a:pt x="136" y="322"/>
                  </a:lnTo>
                  <a:lnTo>
                    <a:pt x="136" y="316"/>
                  </a:lnTo>
                  <a:lnTo>
                    <a:pt x="136" y="286"/>
                  </a:lnTo>
                  <a:lnTo>
                    <a:pt x="136" y="280"/>
                  </a:lnTo>
                  <a:lnTo>
                    <a:pt x="138" y="275"/>
                  </a:lnTo>
                  <a:lnTo>
                    <a:pt x="141" y="269"/>
                  </a:lnTo>
                  <a:lnTo>
                    <a:pt x="145" y="265"/>
                  </a:lnTo>
                  <a:lnTo>
                    <a:pt x="149" y="261"/>
                  </a:lnTo>
                  <a:lnTo>
                    <a:pt x="155" y="259"/>
                  </a:lnTo>
                  <a:lnTo>
                    <a:pt x="160" y="256"/>
                  </a:lnTo>
                  <a:lnTo>
                    <a:pt x="166" y="256"/>
                  </a:lnTo>
                  <a:lnTo>
                    <a:pt x="196" y="256"/>
                  </a:lnTo>
                  <a:lnTo>
                    <a:pt x="196" y="196"/>
                  </a:lnTo>
                  <a:lnTo>
                    <a:pt x="166" y="196"/>
                  </a:lnTo>
                  <a:lnTo>
                    <a:pt x="160" y="195"/>
                  </a:lnTo>
                  <a:lnTo>
                    <a:pt x="155" y="193"/>
                  </a:lnTo>
                  <a:lnTo>
                    <a:pt x="149" y="191"/>
                  </a:lnTo>
                  <a:lnTo>
                    <a:pt x="145" y="187"/>
                  </a:lnTo>
                  <a:lnTo>
                    <a:pt x="141" y="182"/>
                  </a:lnTo>
                  <a:lnTo>
                    <a:pt x="138" y="177"/>
                  </a:lnTo>
                  <a:lnTo>
                    <a:pt x="136" y="172"/>
                  </a:lnTo>
                  <a:lnTo>
                    <a:pt x="136" y="165"/>
                  </a:lnTo>
                  <a:lnTo>
                    <a:pt x="136" y="135"/>
                  </a:lnTo>
                  <a:lnTo>
                    <a:pt x="136" y="130"/>
                  </a:lnTo>
                  <a:lnTo>
                    <a:pt x="138" y="123"/>
                  </a:lnTo>
                  <a:lnTo>
                    <a:pt x="141" y="119"/>
                  </a:lnTo>
                  <a:lnTo>
                    <a:pt x="145" y="115"/>
                  </a:lnTo>
                  <a:lnTo>
                    <a:pt x="149" y="110"/>
                  </a:lnTo>
                  <a:lnTo>
                    <a:pt x="155" y="108"/>
                  </a:lnTo>
                  <a:lnTo>
                    <a:pt x="160" y="106"/>
                  </a:lnTo>
                  <a:lnTo>
                    <a:pt x="166" y="105"/>
                  </a:lnTo>
                  <a:lnTo>
                    <a:pt x="196" y="105"/>
                  </a:lnTo>
                  <a:lnTo>
                    <a:pt x="196" y="0"/>
                  </a:lnTo>
                  <a:lnTo>
                    <a:pt x="15" y="0"/>
                  </a:lnTo>
                  <a:lnTo>
                    <a:pt x="12" y="0"/>
                  </a:lnTo>
                  <a:lnTo>
                    <a:pt x="10" y="1"/>
                  </a:lnTo>
                  <a:lnTo>
                    <a:pt x="7" y="2"/>
                  </a:lnTo>
                  <a:lnTo>
                    <a:pt x="4" y="4"/>
                  </a:lnTo>
                  <a:lnTo>
                    <a:pt x="3" y="6"/>
                  </a:lnTo>
                  <a:lnTo>
                    <a:pt x="1" y="10"/>
                  </a:lnTo>
                  <a:lnTo>
                    <a:pt x="1" y="12"/>
                  </a:lnTo>
                  <a:lnTo>
                    <a:pt x="0" y="15"/>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325">
              <a:extLst>
                <a:ext uri="{FF2B5EF4-FFF2-40B4-BE49-F238E27FC236}">
                  <a16:creationId xmlns:a16="http://schemas.microsoft.com/office/drawing/2014/main" id="{CB49F3ED-05A4-9678-12C3-9E8957D95CAF}"/>
                </a:ext>
              </a:extLst>
            </p:cNvPr>
            <p:cNvSpPr>
              <a:spLocks/>
            </p:cNvSpPr>
            <p:nvPr/>
          </p:nvSpPr>
          <p:spPr bwMode="auto">
            <a:xfrm>
              <a:off x="1027113" y="771525"/>
              <a:ext cx="66675" cy="287338"/>
            </a:xfrm>
            <a:custGeom>
              <a:avLst/>
              <a:gdLst>
                <a:gd name="T0" fmla="*/ 30 w 211"/>
                <a:gd name="T1" fmla="*/ 105 h 903"/>
                <a:gd name="T2" fmla="*/ 41 w 211"/>
                <a:gd name="T3" fmla="*/ 107 h 903"/>
                <a:gd name="T4" fmla="*/ 51 w 211"/>
                <a:gd name="T5" fmla="*/ 115 h 903"/>
                <a:gd name="T6" fmla="*/ 58 w 211"/>
                <a:gd name="T7" fmla="*/ 123 h 903"/>
                <a:gd name="T8" fmla="*/ 60 w 211"/>
                <a:gd name="T9" fmla="*/ 135 h 903"/>
                <a:gd name="T10" fmla="*/ 60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557 h 903"/>
                <a:gd name="T22" fmla="*/ 41 w 211"/>
                <a:gd name="T23" fmla="*/ 560 h 903"/>
                <a:gd name="T24" fmla="*/ 51 w 211"/>
                <a:gd name="T25" fmla="*/ 566 h 903"/>
                <a:gd name="T26" fmla="*/ 58 w 211"/>
                <a:gd name="T27" fmla="*/ 576 h 903"/>
                <a:gd name="T28" fmla="*/ 60 w 211"/>
                <a:gd name="T29" fmla="*/ 587 h 903"/>
                <a:gd name="T30" fmla="*/ 60 w 211"/>
                <a:gd name="T31" fmla="*/ 623 h 903"/>
                <a:gd name="T32" fmla="*/ 55 w 211"/>
                <a:gd name="T33" fmla="*/ 634 h 903"/>
                <a:gd name="T34" fmla="*/ 47 w 211"/>
                <a:gd name="T35" fmla="*/ 643 h 903"/>
                <a:gd name="T36" fmla="*/ 36 w 211"/>
                <a:gd name="T37" fmla="*/ 647 h 903"/>
                <a:gd name="T38" fmla="*/ 0 w 211"/>
                <a:gd name="T39" fmla="*/ 648 h 903"/>
                <a:gd name="T40" fmla="*/ 30 w 211"/>
                <a:gd name="T41" fmla="*/ 708 h 903"/>
                <a:gd name="T42" fmla="*/ 41 w 211"/>
                <a:gd name="T43" fmla="*/ 710 h 903"/>
                <a:gd name="T44" fmla="*/ 51 w 211"/>
                <a:gd name="T45" fmla="*/ 717 h 903"/>
                <a:gd name="T46" fmla="*/ 58 w 211"/>
                <a:gd name="T47" fmla="*/ 726 h 903"/>
                <a:gd name="T48" fmla="*/ 60 w 211"/>
                <a:gd name="T49" fmla="*/ 738 h 903"/>
                <a:gd name="T50" fmla="*/ 60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497 h 903"/>
                <a:gd name="T64" fmla="*/ 169 w 211"/>
                <a:gd name="T65" fmla="*/ 495 h 903"/>
                <a:gd name="T66" fmla="*/ 159 w 211"/>
                <a:gd name="T67" fmla="*/ 488 h 903"/>
                <a:gd name="T68" fmla="*/ 153 w 211"/>
                <a:gd name="T69" fmla="*/ 478 h 903"/>
                <a:gd name="T70" fmla="*/ 151 w 211"/>
                <a:gd name="T71" fmla="*/ 467 h 903"/>
                <a:gd name="T72" fmla="*/ 151 w 211"/>
                <a:gd name="T73" fmla="*/ 430 h 903"/>
                <a:gd name="T74" fmla="*/ 155 w 211"/>
                <a:gd name="T75" fmla="*/ 419 h 903"/>
                <a:gd name="T76" fmla="*/ 164 w 211"/>
                <a:gd name="T77" fmla="*/ 412 h 903"/>
                <a:gd name="T78" fmla="*/ 174 w 211"/>
                <a:gd name="T79" fmla="*/ 408 h 903"/>
                <a:gd name="T80" fmla="*/ 211 w 211"/>
                <a:gd name="T81" fmla="*/ 407 h 903"/>
                <a:gd name="T82" fmla="*/ 181 w 211"/>
                <a:gd name="T83" fmla="*/ 346 h 903"/>
                <a:gd name="T84" fmla="*/ 169 w 211"/>
                <a:gd name="T85" fmla="*/ 344 h 903"/>
                <a:gd name="T86" fmla="*/ 159 w 211"/>
                <a:gd name="T87" fmla="*/ 338 h 903"/>
                <a:gd name="T88" fmla="*/ 153 w 211"/>
                <a:gd name="T89" fmla="*/ 328 h 903"/>
                <a:gd name="T90" fmla="*/ 151 w 211"/>
                <a:gd name="T91" fmla="*/ 316 h 903"/>
                <a:gd name="T92" fmla="*/ 151 w 211"/>
                <a:gd name="T93" fmla="*/ 280 h 903"/>
                <a:gd name="T94" fmla="*/ 155 w 211"/>
                <a:gd name="T95" fmla="*/ 269 h 903"/>
                <a:gd name="T96" fmla="*/ 164 w 211"/>
                <a:gd name="T97" fmla="*/ 261 h 903"/>
                <a:gd name="T98" fmla="*/ 174 w 211"/>
                <a:gd name="T99" fmla="*/ 256 h 903"/>
                <a:gd name="T100" fmla="*/ 211 w 211"/>
                <a:gd name="T101" fmla="*/ 256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1 w 211"/>
                <a:gd name="T113" fmla="*/ 130 h 903"/>
                <a:gd name="T114" fmla="*/ 155 w 211"/>
                <a:gd name="T115" fmla="*/ 119 h 903"/>
                <a:gd name="T116" fmla="*/ 164 w 211"/>
                <a:gd name="T117" fmla="*/ 110 h 903"/>
                <a:gd name="T118" fmla="*/ 174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1" y="107"/>
                  </a:lnTo>
                  <a:lnTo>
                    <a:pt x="47" y="110"/>
                  </a:lnTo>
                  <a:lnTo>
                    <a:pt x="51" y="115"/>
                  </a:lnTo>
                  <a:lnTo>
                    <a:pt x="55" y="119"/>
                  </a:lnTo>
                  <a:lnTo>
                    <a:pt x="58" y="123"/>
                  </a:lnTo>
                  <a:lnTo>
                    <a:pt x="60" y="130"/>
                  </a:lnTo>
                  <a:lnTo>
                    <a:pt x="60" y="135"/>
                  </a:lnTo>
                  <a:lnTo>
                    <a:pt x="60" y="165"/>
                  </a:lnTo>
                  <a:lnTo>
                    <a:pt x="60" y="172"/>
                  </a:lnTo>
                  <a:lnTo>
                    <a:pt x="58" y="177"/>
                  </a:lnTo>
                  <a:lnTo>
                    <a:pt x="55" y="182"/>
                  </a:lnTo>
                  <a:lnTo>
                    <a:pt x="51" y="187"/>
                  </a:lnTo>
                  <a:lnTo>
                    <a:pt x="47" y="191"/>
                  </a:lnTo>
                  <a:lnTo>
                    <a:pt x="41" y="193"/>
                  </a:lnTo>
                  <a:lnTo>
                    <a:pt x="36" y="195"/>
                  </a:lnTo>
                  <a:lnTo>
                    <a:pt x="30" y="196"/>
                  </a:lnTo>
                  <a:lnTo>
                    <a:pt x="0" y="196"/>
                  </a:lnTo>
                  <a:lnTo>
                    <a:pt x="0" y="557"/>
                  </a:lnTo>
                  <a:lnTo>
                    <a:pt x="30" y="557"/>
                  </a:lnTo>
                  <a:lnTo>
                    <a:pt x="36" y="558"/>
                  </a:lnTo>
                  <a:lnTo>
                    <a:pt x="41" y="560"/>
                  </a:lnTo>
                  <a:lnTo>
                    <a:pt x="47" y="562"/>
                  </a:lnTo>
                  <a:lnTo>
                    <a:pt x="51" y="566"/>
                  </a:lnTo>
                  <a:lnTo>
                    <a:pt x="55" y="571"/>
                  </a:lnTo>
                  <a:lnTo>
                    <a:pt x="58" y="576"/>
                  </a:lnTo>
                  <a:lnTo>
                    <a:pt x="60" y="581"/>
                  </a:lnTo>
                  <a:lnTo>
                    <a:pt x="60" y="587"/>
                  </a:lnTo>
                  <a:lnTo>
                    <a:pt x="60" y="618"/>
                  </a:lnTo>
                  <a:lnTo>
                    <a:pt x="60" y="623"/>
                  </a:lnTo>
                  <a:lnTo>
                    <a:pt x="58" y="629"/>
                  </a:lnTo>
                  <a:lnTo>
                    <a:pt x="55" y="634"/>
                  </a:lnTo>
                  <a:lnTo>
                    <a:pt x="51" y="638"/>
                  </a:lnTo>
                  <a:lnTo>
                    <a:pt x="47" y="643"/>
                  </a:lnTo>
                  <a:lnTo>
                    <a:pt x="41" y="645"/>
                  </a:lnTo>
                  <a:lnTo>
                    <a:pt x="36" y="647"/>
                  </a:lnTo>
                  <a:lnTo>
                    <a:pt x="30" y="648"/>
                  </a:lnTo>
                  <a:lnTo>
                    <a:pt x="0" y="648"/>
                  </a:lnTo>
                  <a:lnTo>
                    <a:pt x="0" y="708"/>
                  </a:lnTo>
                  <a:lnTo>
                    <a:pt x="30" y="708"/>
                  </a:lnTo>
                  <a:lnTo>
                    <a:pt x="36" y="708"/>
                  </a:lnTo>
                  <a:lnTo>
                    <a:pt x="41" y="710"/>
                  </a:lnTo>
                  <a:lnTo>
                    <a:pt x="47" y="712"/>
                  </a:lnTo>
                  <a:lnTo>
                    <a:pt x="51" y="717"/>
                  </a:lnTo>
                  <a:lnTo>
                    <a:pt x="55" y="721"/>
                  </a:lnTo>
                  <a:lnTo>
                    <a:pt x="58" y="726"/>
                  </a:lnTo>
                  <a:lnTo>
                    <a:pt x="60" y="732"/>
                  </a:lnTo>
                  <a:lnTo>
                    <a:pt x="60" y="738"/>
                  </a:lnTo>
                  <a:lnTo>
                    <a:pt x="60" y="768"/>
                  </a:lnTo>
                  <a:lnTo>
                    <a:pt x="60" y="773"/>
                  </a:lnTo>
                  <a:lnTo>
                    <a:pt x="58" y="780"/>
                  </a:lnTo>
                  <a:lnTo>
                    <a:pt x="55" y="785"/>
                  </a:lnTo>
                  <a:lnTo>
                    <a:pt x="51" y="789"/>
                  </a:lnTo>
                  <a:lnTo>
                    <a:pt x="47" y="793"/>
                  </a:lnTo>
                  <a:lnTo>
                    <a:pt x="41" y="796"/>
                  </a:lnTo>
                  <a:lnTo>
                    <a:pt x="36" y="797"/>
                  </a:lnTo>
                  <a:lnTo>
                    <a:pt x="30" y="798"/>
                  </a:lnTo>
                  <a:lnTo>
                    <a:pt x="0" y="798"/>
                  </a:lnTo>
                  <a:lnTo>
                    <a:pt x="0" y="903"/>
                  </a:lnTo>
                  <a:lnTo>
                    <a:pt x="211" y="903"/>
                  </a:lnTo>
                  <a:lnTo>
                    <a:pt x="211" y="497"/>
                  </a:lnTo>
                  <a:lnTo>
                    <a:pt x="181" y="497"/>
                  </a:lnTo>
                  <a:lnTo>
                    <a:pt x="174" y="497"/>
                  </a:lnTo>
                  <a:lnTo>
                    <a:pt x="169" y="495"/>
                  </a:lnTo>
                  <a:lnTo>
                    <a:pt x="164" y="491"/>
                  </a:lnTo>
                  <a:lnTo>
                    <a:pt x="159" y="488"/>
                  </a:lnTo>
                  <a:lnTo>
                    <a:pt x="155" y="484"/>
                  </a:lnTo>
                  <a:lnTo>
                    <a:pt x="153" y="478"/>
                  </a:lnTo>
                  <a:lnTo>
                    <a:pt x="151" y="473"/>
                  </a:lnTo>
                  <a:lnTo>
                    <a:pt x="151" y="467"/>
                  </a:lnTo>
                  <a:lnTo>
                    <a:pt x="151" y="437"/>
                  </a:lnTo>
                  <a:lnTo>
                    <a:pt x="151" y="430"/>
                  </a:lnTo>
                  <a:lnTo>
                    <a:pt x="153" y="425"/>
                  </a:lnTo>
                  <a:lnTo>
                    <a:pt x="155" y="419"/>
                  </a:lnTo>
                  <a:lnTo>
                    <a:pt x="159" y="415"/>
                  </a:lnTo>
                  <a:lnTo>
                    <a:pt x="164" y="412"/>
                  </a:lnTo>
                  <a:lnTo>
                    <a:pt x="169" y="409"/>
                  </a:lnTo>
                  <a:lnTo>
                    <a:pt x="174" y="408"/>
                  </a:lnTo>
                  <a:lnTo>
                    <a:pt x="181" y="407"/>
                  </a:lnTo>
                  <a:lnTo>
                    <a:pt x="211" y="407"/>
                  </a:lnTo>
                  <a:lnTo>
                    <a:pt x="211" y="346"/>
                  </a:lnTo>
                  <a:lnTo>
                    <a:pt x="181" y="346"/>
                  </a:lnTo>
                  <a:lnTo>
                    <a:pt x="174" y="345"/>
                  </a:lnTo>
                  <a:lnTo>
                    <a:pt x="169" y="344"/>
                  </a:lnTo>
                  <a:lnTo>
                    <a:pt x="164" y="341"/>
                  </a:lnTo>
                  <a:lnTo>
                    <a:pt x="159" y="338"/>
                  </a:lnTo>
                  <a:lnTo>
                    <a:pt x="155" y="333"/>
                  </a:lnTo>
                  <a:lnTo>
                    <a:pt x="153" y="328"/>
                  </a:lnTo>
                  <a:lnTo>
                    <a:pt x="151" y="322"/>
                  </a:lnTo>
                  <a:lnTo>
                    <a:pt x="151" y="316"/>
                  </a:lnTo>
                  <a:lnTo>
                    <a:pt x="151" y="286"/>
                  </a:lnTo>
                  <a:lnTo>
                    <a:pt x="151" y="280"/>
                  </a:lnTo>
                  <a:lnTo>
                    <a:pt x="153" y="275"/>
                  </a:lnTo>
                  <a:lnTo>
                    <a:pt x="155" y="269"/>
                  </a:lnTo>
                  <a:lnTo>
                    <a:pt x="159" y="265"/>
                  </a:lnTo>
                  <a:lnTo>
                    <a:pt x="164" y="261"/>
                  </a:lnTo>
                  <a:lnTo>
                    <a:pt x="169" y="259"/>
                  </a:lnTo>
                  <a:lnTo>
                    <a:pt x="174" y="256"/>
                  </a:lnTo>
                  <a:lnTo>
                    <a:pt x="181" y="256"/>
                  </a:lnTo>
                  <a:lnTo>
                    <a:pt x="211" y="256"/>
                  </a:lnTo>
                  <a:lnTo>
                    <a:pt x="211" y="196"/>
                  </a:lnTo>
                  <a:lnTo>
                    <a:pt x="181" y="196"/>
                  </a:lnTo>
                  <a:lnTo>
                    <a:pt x="174" y="195"/>
                  </a:lnTo>
                  <a:lnTo>
                    <a:pt x="169" y="193"/>
                  </a:lnTo>
                  <a:lnTo>
                    <a:pt x="164" y="191"/>
                  </a:lnTo>
                  <a:lnTo>
                    <a:pt x="159" y="187"/>
                  </a:lnTo>
                  <a:lnTo>
                    <a:pt x="155" y="182"/>
                  </a:lnTo>
                  <a:lnTo>
                    <a:pt x="153" y="177"/>
                  </a:lnTo>
                  <a:lnTo>
                    <a:pt x="151" y="172"/>
                  </a:lnTo>
                  <a:lnTo>
                    <a:pt x="151" y="165"/>
                  </a:lnTo>
                  <a:lnTo>
                    <a:pt x="151" y="135"/>
                  </a:lnTo>
                  <a:lnTo>
                    <a:pt x="151" y="130"/>
                  </a:lnTo>
                  <a:lnTo>
                    <a:pt x="153" y="123"/>
                  </a:lnTo>
                  <a:lnTo>
                    <a:pt x="155" y="119"/>
                  </a:lnTo>
                  <a:lnTo>
                    <a:pt x="159" y="115"/>
                  </a:lnTo>
                  <a:lnTo>
                    <a:pt x="164" y="110"/>
                  </a:lnTo>
                  <a:lnTo>
                    <a:pt x="169" y="108"/>
                  </a:lnTo>
                  <a:lnTo>
                    <a:pt x="174"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326">
              <a:extLst>
                <a:ext uri="{FF2B5EF4-FFF2-40B4-BE49-F238E27FC236}">
                  <a16:creationId xmlns:a16="http://schemas.microsoft.com/office/drawing/2014/main" id="{E786B243-37C4-D1B9-3426-E82B477071BF}"/>
                </a:ext>
              </a:extLst>
            </p:cNvPr>
            <p:cNvSpPr>
              <a:spLocks/>
            </p:cNvSpPr>
            <p:nvPr/>
          </p:nvSpPr>
          <p:spPr bwMode="auto">
            <a:xfrm>
              <a:off x="949325" y="771525"/>
              <a:ext cx="68263" cy="287338"/>
            </a:xfrm>
            <a:custGeom>
              <a:avLst/>
              <a:gdLst>
                <a:gd name="T0" fmla="*/ 30 w 211"/>
                <a:gd name="T1" fmla="*/ 105 h 903"/>
                <a:gd name="T2" fmla="*/ 42 w 211"/>
                <a:gd name="T3" fmla="*/ 107 h 903"/>
                <a:gd name="T4" fmla="*/ 52 w 211"/>
                <a:gd name="T5" fmla="*/ 115 h 903"/>
                <a:gd name="T6" fmla="*/ 58 w 211"/>
                <a:gd name="T7" fmla="*/ 123 h 903"/>
                <a:gd name="T8" fmla="*/ 60 w 211"/>
                <a:gd name="T9" fmla="*/ 135 h 903"/>
                <a:gd name="T10" fmla="*/ 59 w 211"/>
                <a:gd name="T11" fmla="*/ 172 h 903"/>
                <a:gd name="T12" fmla="*/ 55 w 211"/>
                <a:gd name="T13" fmla="*/ 182 h 903"/>
                <a:gd name="T14" fmla="*/ 47 w 211"/>
                <a:gd name="T15" fmla="*/ 191 h 903"/>
                <a:gd name="T16" fmla="*/ 36 w 211"/>
                <a:gd name="T17" fmla="*/ 195 h 903"/>
                <a:gd name="T18" fmla="*/ 0 w 211"/>
                <a:gd name="T19" fmla="*/ 196 h 903"/>
                <a:gd name="T20" fmla="*/ 30 w 211"/>
                <a:gd name="T21" fmla="*/ 256 h 903"/>
                <a:gd name="T22" fmla="*/ 42 w 211"/>
                <a:gd name="T23" fmla="*/ 259 h 903"/>
                <a:gd name="T24" fmla="*/ 52 w 211"/>
                <a:gd name="T25" fmla="*/ 265 h 903"/>
                <a:gd name="T26" fmla="*/ 58 w 211"/>
                <a:gd name="T27" fmla="*/ 275 h 903"/>
                <a:gd name="T28" fmla="*/ 60 w 211"/>
                <a:gd name="T29" fmla="*/ 286 h 903"/>
                <a:gd name="T30" fmla="*/ 59 w 211"/>
                <a:gd name="T31" fmla="*/ 322 h 903"/>
                <a:gd name="T32" fmla="*/ 55 w 211"/>
                <a:gd name="T33" fmla="*/ 333 h 903"/>
                <a:gd name="T34" fmla="*/ 47 w 211"/>
                <a:gd name="T35" fmla="*/ 341 h 903"/>
                <a:gd name="T36" fmla="*/ 36 w 211"/>
                <a:gd name="T37" fmla="*/ 345 h 903"/>
                <a:gd name="T38" fmla="*/ 0 w 211"/>
                <a:gd name="T39" fmla="*/ 346 h 903"/>
                <a:gd name="T40" fmla="*/ 30 w 211"/>
                <a:gd name="T41" fmla="*/ 708 h 903"/>
                <a:gd name="T42" fmla="*/ 42 w 211"/>
                <a:gd name="T43" fmla="*/ 710 h 903"/>
                <a:gd name="T44" fmla="*/ 52 w 211"/>
                <a:gd name="T45" fmla="*/ 717 h 903"/>
                <a:gd name="T46" fmla="*/ 58 w 211"/>
                <a:gd name="T47" fmla="*/ 726 h 903"/>
                <a:gd name="T48" fmla="*/ 60 w 211"/>
                <a:gd name="T49" fmla="*/ 738 h 903"/>
                <a:gd name="T50" fmla="*/ 59 w 211"/>
                <a:gd name="T51" fmla="*/ 773 h 903"/>
                <a:gd name="T52" fmla="*/ 55 w 211"/>
                <a:gd name="T53" fmla="*/ 785 h 903"/>
                <a:gd name="T54" fmla="*/ 47 w 211"/>
                <a:gd name="T55" fmla="*/ 793 h 903"/>
                <a:gd name="T56" fmla="*/ 36 w 211"/>
                <a:gd name="T57" fmla="*/ 797 h 903"/>
                <a:gd name="T58" fmla="*/ 0 w 211"/>
                <a:gd name="T59" fmla="*/ 798 h 903"/>
                <a:gd name="T60" fmla="*/ 211 w 211"/>
                <a:gd name="T61" fmla="*/ 903 h 903"/>
                <a:gd name="T62" fmla="*/ 181 w 211"/>
                <a:gd name="T63" fmla="*/ 798 h 903"/>
                <a:gd name="T64" fmla="*/ 169 w 211"/>
                <a:gd name="T65" fmla="*/ 796 h 903"/>
                <a:gd name="T66" fmla="*/ 159 w 211"/>
                <a:gd name="T67" fmla="*/ 789 h 903"/>
                <a:gd name="T68" fmla="*/ 153 w 211"/>
                <a:gd name="T69" fmla="*/ 780 h 903"/>
                <a:gd name="T70" fmla="*/ 151 w 211"/>
                <a:gd name="T71" fmla="*/ 768 h 903"/>
                <a:gd name="T72" fmla="*/ 152 w 211"/>
                <a:gd name="T73" fmla="*/ 732 h 903"/>
                <a:gd name="T74" fmla="*/ 156 w 211"/>
                <a:gd name="T75" fmla="*/ 721 h 903"/>
                <a:gd name="T76" fmla="*/ 164 w 211"/>
                <a:gd name="T77" fmla="*/ 713 h 903"/>
                <a:gd name="T78" fmla="*/ 175 w 211"/>
                <a:gd name="T79" fmla="*/ 708 h 903"/>
                <a:gd name="T80" fmla="*/ 211 w 211"/>
                <a:gd name="T81" fmla="*/ 708 h 903"/>
                <a:gd name="T82" fmla="*/ 181 w 211"/>
                <a:gd name="T83" fmla="*/ 648 h 903"/>
                <a:gd name="T84" fmla="*/ 169 w 211"/>
                <a:gd name="T85" fmla="*/ 645 h 903"/>
                <a:gd name="T86" fmla="*/ 159 w 211"/>
                <a:gd name="T87" fmla="*/ 638 h 903"/>
                <a:gd name="T88" fmla="*/ 153 w 211"/>
                <a:gd name="T89" fmla="*/ 629 h 903"/>
                <a:gd name="T90" fmla="*/ 151 w 211"/>
                <a:gd name="T91" fmla="*/ 618 h 903"/>
                <a:gd name="T92" fmla="*/ 152 w 211"/>
                <a:gd name="T93" fmla="*/ 581 h 903"/>
                <a:gd name="T94" fmla="*/ 156 w 211"/>
                <a:gd name="T95" fmla="*/ 571 h 903"/>
                <a:gd name="T96" fmla="*/ 164 w 211"/>
                <a:gd name="T97" fmla="*/ 562 h 903"/>
                <a:gd name="T98" fmla="*/ 175 w 211"/>
                <a:gd name="T99" fmla="*/ 558 h 903"/>
                <a:gd name="T100" fmla="*/ 211 w 211"/>
                <a:gd name="T101" fmla="*/ 557 h 903"/>
                <a:gd name="T102" fmla="*/ 181 w 211"/>
                <a:gd name="T103" fmla="*/ 196 h 903"/>
                <a:gd name="T104" fmla="*/ 169 w 211"/>
                <a:gd name="T105" fmla="*/ 193 h 903"/>
                <a:gd name="T106" fmla="*/ 159 w 211"/>
                <a:gd name="T107" fmla="*/ 187 h 903"/>
                <a:gd name="T108" fmla="*/ 153 w 211"/>
                <a:gd name="T109" fmla="*/ 177 h 903"/>
                <a:gd name="T110" fmla="*/ 151 w 211"/>
                <a:gd name="T111" fmla="*/ 165 h 903"/>
                <a:gd name="T112" fmla="*/ 152 w 211"/>
                <a:gd name="T113" fmla="*/ 130 h 903"/>
                <a:gd name="T114" fmla="*/ 156 w 211"/>
                <a:gd name="T115" fmla="*/ 119 h 903"/>
                <a:gd name="T116" fmla="*/ 164 w 211"/>
                <a:gd name="T117" fmla="*/ 110 h 903"/>
                <a:gd name="T118" fmla="*/ 175 w 211"/>
                <a:gd name="T119" fmla="*/ 106 h 903"/>
                <a:gd name="T120" fmla="*/ 211 w 211"/>
                <a:gd name="T121" fmla="*/ 105 h 903"/>
                <a:gd name="T122" fmla="*/ 0 w 211"/>
                <a:gd name="T12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11" h="903">
                  <a:moveTo>
                    <a:pt x="0" y="105"/>
                  </a:moveTo>
                  <a:lnTo>
                    <a:pt x="30" y="105"/>
                  </a:lnTo>
                  <a:lnTo>
                    <a:pt x="36" y="106"/>
                  </a:lnTo>
                  <a:lnTo>
                    <a:pt x="42" y="107"/>
                  </a:lnTo>
                  <a:lnTo>
                    <a:pt x="47" y="110"/>
                  </a:lnTo>
                  <a:lnTo>
                    <a:pt x="52" y="115"/>
                  </a:lnTo>
                  <a:lnTo>
                    <a:pt x="55" y="119"/>
                  </a:lnTo>
                  <a:lnTo>
                    <a:pt x="58" y="123"/>
                  </a:lnTo>
                  <a:lnTo>
                    <a:pt x="59" y="130"/>
                  </a:lnTo>
                  <a:lnTo>
                    <a:pt x="60" y="135"/>
                  </a:lnTo>
                  <a:lnTo>
                    <a:pt x="60" y="165"/>
                  </a:lnTo>
                  <a:lnTo>
                    <a:pt x="59" y="172"/>
                  </a:lnTo>
                  <a:lnTo>
                    <a:pt x="58" y="177"/>
                  </a:lnTo>
                  <a:lnTo>
                    <a:pt x="55" y="182"/>
                  </a:lnTo>
                  <a:lnTo>
                    <a:pt x="52" y="187"/>
                  </a:lnTo>
                  <a:lnTo>
                    <a:pt x="47" y="191"/>
                  </a:lnTo>
                  <a:lnTo>
                    <a:pt x="42" y="193"/>
                  </a:lnTo>
                  <a:lnTo>
                    <a:pt x="36" y="195"/>
                  </a:lnTo>
                  <a:lnTo>
                    <a:pt x="30" y="196"/>
                  </a:lnTo>
                  <a:lnTo>
                    <a:pt x="0" y="196"/>
                  </a:lnTo>
                  <a:lnTo>
                    <a:pt x="0" y="256"/>
                  </a:lnTo>
                  <a:lnTo>
                    <a:pt x="30" y="256"/>
                  </a:lnTo>
                  <a:lnTo>
                    <a:pt x="36" y="256"/>
                  </a:lnTo>
                  <a:lnTo>
                    <a:pt x="42" y="259"/>
                  </a:lnTo>
                  <a:lnTo>
                    <a:pt x="47" y="261"/>
                  </a:lnTo>
                  <a:lnTo>
                    <a:pt x="52" y="265"/>
                  </a:lnTo>
                  <a:lnTo>
                    <a:pt x="55" y="269"/>
                  </a:lnTo>
                  <a:lnTo>
                    <a:pt x="58" y="275"/>
                  </a:lnTo>
                  <a:lnTo>
                    <a:pt x="59" y="280"/>
                  </a:lnTo>
                  <a:lnTo>
                    <a:pt x="60" y="286"/>
                  </a:lnTo>
                  <a:lnTo>
                    <a:pt x="60" y="316"/>
                  </a:lnTo>
                  <a:lnTo>
                    <a:pt x="59" y="322"/>
                  </a:lnTo>
                  <a:lnTo>
                    <a:pt x="58" y="328"/>
                  </a:lnTo>
                  <a:lnTo>
                    <a:pt x="55" y="333"/>
                  </a:lnTo>
                  <a:lnTo>
                    <a:pt x="52" y="338"/>
                  </a:lnTo>
                  <a:lnTo>
                    <a:pt x="47" y="341"/>
                  </a:lnTo>
                  <a:lnTo>
                    <a:pt x="42" y="344"/>
                  </a:lnTo>
                  <a:lnTo>
                    <a:pt x="36" y="345"/>
                  </a:lnTo>
                  <a:lnTo>
                    <a:pt x="30" y="346"/>
                  </a:lnTo>
                  <a:lnTo>
                    <a:pt x="0" y="346"/>
                  </a:lnTo>
                  <a:lnTo>
                    <a:pt x="0" y="708"/>
                  </a:lnTo>
                  <a:lnTo>
                    <a:pt x="30" y="708"/>
                  </a:lnTo>
                  <a:lnTo>
                    <a:pt x="36" y="708"/>
                  </a:lnTo>
                  <a:lnTo>
                    <a:pt x="42" y="710"/>
                  </a:lnTo>
                  <a:lnTo>
                    <a:pt x="47" y="712"/>
                  </a:lnTo>
                  <a:lnTo>
                    <a:pt x="52" y="717"/>
                  </a:lnTo>
                  <a:lnTo>
                    <a:pt x="55" y="721"/>
                  </a:lnTo>
                  <a:lnTo>
                    <a:pt x="58" y="726"/>
                  </a:lnTo>
                  <a:lnTo>
                    <a:pt x="59" y="732"/>
                  </a:lnTo>
                  <a:lnTo>
                    <a:pt x="60" y="738"/>
                  </a:lnTo>
                  <a:lnTo>
                    <a:pt x="60" y="768"/>
                  </a:lnTo>
                  <a:lnTo>
                    <a:pt x="59" y="773"/>
                  </a:lnTo>
                  <a:lnTo>
                    <a:pt x="58" y="780"/>
                  </a:lnTo>
                  <a:lnTo>
                    <a:pt x="55" y="785"/>
                  </a:lnTo>
                  <a:lnTo>
                    <a:pt x="52" y="789"/>
                  </a:lnTo>
                  <a:lnTo>
                    <a:pt x="47" y="793"/>
                  </a:lnTo>
                  <a:lnTo>
                    <a:pt x="42" y="796"/>
                  </a:lnTo>
                  <a:lnTo>
                    <a:pt x="36" y="797"/>
                  </a:lnTo>
                  <a:lnTo>
                    <a:pt x="30" y="798"/>
                  </a:lnTo>
                  <a:lnTo>
                    <a:pt x="0" y="798"/>
                  </a:lnTo>
                  <a:lnTo>
                    <a:pt x="0" y="903"/>
                  </a:lnTo>
                  <a:lnTo>
                    <a:pt x="211" y="903"/>
                  </a:lnTo>
                  <a:lnTo>
                    <a:pt x="211" y="798"/>
                  </a:lnTo>
                  <a:lnTo>
                    <a:pt x="181" y="798"/>
                  </a:lnTo>
                  <a:lnTo>
                    <a:pt x="175" y="797"/>
                  </a:lnTo>
                  <a:lnTo>
                    <a:pt x="169" y="796"/>
                  </a:lnTo>
                  <a:lnTo>
                    <a:pt x="164" y="793"/>
                  </a:lnTo>
                  <a:lnTo>
                    <a:pt x="159" y="789"/>
                  </a:lnTo>
                  <a:lnTo>
                    <a:pt x="156" y="785"/>
                  </a:lnTo>
                  <a:lnTo>
                    <a:pt x="153" y="780"/>
                  </a:lnTo>
                  <a:lnTo>
                    <a:pt x="152" y="774"/>
                  </a:lnTo>
                  <a:lnTo>
                    <a:pt x="151" y="768"/>
                  </a:lnTo>
                  <a:lnTo>
                    <a:pt x="151" y="738"/>
                  </a:lnTo>
                  <a:lnTo>
                    <a:pt x="152" y="732"/>
                  </a:lnTo>
                  <a:lnTo>
                    <a:pt x="153" y="726"/>
                  </a:lnTo>
                  <a:lnTo>
                    <a:pt x="156" y="721"/>
                  </a:lnTo>
                  <a:lnTo>
                    <a:pt x="159" y="717"/>
                  </a:lnTo>
                  <a:lnTo>
                    <a:pt x="164" y="713"/>
                  </a:lnTo>
                  <a:lnTo>
                    <a:pt x="169" y="710"/>
                  </a:lnTo>
                  <a:lnTo>
                    <a:pt x="175" y="708"/>
                  </a:lnTo>
                  <a:lnTo>
                    <a:pt x="181" y="708"/>
                  </a:lnTo>
                  <a:lnTo>
                    <a:pt x="211" y="708"/>
                  </a:lnTo>
                  <a:lnTo>
                    <a:pt x="211" y="648"/>
                  </a:lnTo>
                  <a:lnTo>
                    <a:pt x="181" y="648"/>
                  </a:lnTo>
                  <a:lnTo>
                    <a:pt x="175" y="647"/>
                  </a:lnTo>
                  <a:lnTo>
                    <a:pt x="169" y="645"/>
                  </a:lnTo>
                  <a:lnTo>
                    <a:pt x="164" y="643"/>
                  </a:lnTo>
                  <a:lnTo>
                    <a:pt x="159" y="638"/>
                  </a:lnTo>
                  <a:lnTo>
                    <a:pt x="156" y="634"/>
                  </a:lnTo>
                  <a:lnTo>
                    <a:pt x="153" y="629"/>
                  </a:lnTo>
                  <a:lnTo>
                    <a:pt x="152" y="623"/>
                  </a:lnTo>
                  <a:lnTo>
                    <a:pt x="151" y="618"/>
                  </a:lnTo>
                  <a:lnTo>
                    <a:pt x="151" y="587"/>
                  </a:lnTo>
                  <a:lnTo>
                    <a:pt x="152" y="581"/>
                  </a:lnTo>
                  <a:lnTo>
                    <a:pt x="153" y="576"/>
                  </a:lnTo>
                  <a:lnTo>
                    <a:pt x="156" y="571"/>
                  </a:lnTo>
                  <a:lnTo>
                    <a:pt x="159" y="566"/>
                  </a:lnTo>
                  <a:lnTo>
                    <a:pt x="164" y="562"/>
                  </a:lnTo>
                  <a:lnTo>
                    <a:pt x="169" y="560"/>
                  </a:lnTo>
                  <a:lnTo>
                    <a:pt x="175" y="558"/>
                  </a:lnTo>
                  <a:lnTo>
                    <a:pt x="181" y="557"/>
                  </a:lnTo>
                  <a:lnTo>
                    <a:pt x="211" y="557"/>
                  </a:lnTo>
                  <a:lnTo>
                    <a:pt x="211" y="196"/>
                  </a:lnTo>
                  <a:lnTo>
                    <a:pt x="181" y="196"/>
                  </a:lnTo>
                  <a:lnTo>
                    <a:pt x="175" y="195"/>
                  </a:lnTo>
                  <a:lnTo>
                    <a:pt x="169" y="193"/>
                  </a:lnTo>
                  <a:lnTo>
                    <a:pt x="164" y="191"/>
                  </a:lnTo>
                  <a:lnTo>
                    <a:pt x="159" y="187"/>
                  </a:lnTo>
                  <a:lnTo>
                    <a:pt x="156" y="182"/>
                  </a:lnTo>
                  <a:lnTo>
                    <a:pt x="153" y="177"/>
                  </a:lnTo>
                  <a:lnTo>
                    <a:pt x="152" y="172"/>
                  </a:lnTo>
                  <a:lnTo>
                    <a:pt x="151" y="165"/>
                  </a:lnTo>
                  <a:lnTo>
                    <a:pt x="151" y="135"/>
                  </a:lnTo>
                  <a:lnTo>
                    <a:pt x="152" y="130"/>
                  </a:lnTo>
                  <a:lnTo>
                    <a:pt x="153" y="123"/>
                  </a:lnTo>
                  <a:lnTo>
                    <a:pt x="156" y="119"/>
                  </a:lnTo>
                  <a:lnTo>
                    <a:pt x="159" y="115"/>
                  </a:lnTo>
                  <a:lnTo>
                    <a:pt x="164" y="110"/>
                  </a:lnTo>
                  <a:lnTo>
                    <a:pt x="169" y="108"/>
                  </a:lnTo>
                  <a:lnTo>
                    <a:pt x="175" y="106"/>
                  </a:lnTo>
                  <a:lnTo>
                    <a:pt x="181" y="105"/>
                  </a:lnTo>
                  <a:lnTo>
                    <a:pt x="211" y="105"/>
                  </a:lnTo>
                  <a:lnTo>
                    <a:pt x="211" y="0"/>
                  </a:lnTo>
                  <a:lnTo>
                    <a:pt x="0" y="0"/>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327">
              <a:extLst>
                <a:ext uri="{FF2B5EF4-FFF2-40B4-BE49-F238E27FC236}">
                  <a16:creationId xmlns:a16="http://schemas.microsoft.com/office/drawing/2014/main" id="{4C01222F-5AC4-3EC6-8238-3CD74F94D5A4}"/>
                </a:ext>
              </a:extLst>
            </p:cNvPr>
            <p:cNvSpPr>
              <a:spLocks/>
            </p:cNvSpPr>
            <p:nvPr/>
          </p:nvSpPr>
          <p:spPr bwMode="auto">
            <a:xfrm>
              <a:off x="1103313" y="771525"/>
              <a:ext cx="61913" cy="287338"/>
            </a:xfrm>
            <a:custGeom>
              <a:avLst/>
              <a:gdLst>
                <a:gd name="T0" fmla="*/ 0 w 195"/>
                <a:gd name="T1" fmla="*/ 0 h 903"/>
                <a:gd name="T2" fmla="*/ 30 w 195"/>
                <a:gd name="T3" fmla="*/ 105 h 903"/>
                <a:gd name="T4" fmla="*/ 42 w 195"/>
                <a:gd name="T5" fmla="*/ 107 h 903"/>
                <a:gd name="T6" fmla="*/ 51 w 195"/>
                <a:gd name="T7" fmla="*/ 115 h 903"/>
                <a:gd name="T8" fmla="*/ 58 w 195"/>
                <a:gd name="T9" fmla="*/ 123 h 903"/>
                <a:gd name="T10" fmla="*/ 60 w 195"/>
                <a:gd name="T11" fmla="*/ 135 h 903"/>
                <a:gd name="T12" fmla="*/ 59 w 195"/>
                <a:gd name="T13" fmla="*/ 172 h 903"/>
                <a:gd name="T14" fmla="*/ 55 w 195"/>
                <a:gd name="T15" fmla="*/ 182 h 903"/>
                <a:gd name="T16" fmla="*/ 47 w 195"/>
                <a:gd name="T17" fmla="*/ 191 h 903"/>
                <a:gd name="T18" fmla="*/ 36 w 195"/>
                <a:gd name="T19" fmla="*/ 195 h 903"/>
                <a:gd name="T20" fmla="*/ 0 w 195"/>
                <a:gd name="T21" fmla="*/ 196 h 903"/>
                <a:gd name="T22" fmla="*/ 30 w 195"/>
                <a:gd name="T23" fmla="*/ 256 h 903"/>
                <a:gd name="T24" fmla="*/ 42 w 195"/>
                <a:gd name="T25" fmla="*/ 259 h 903"/>
                <a:gd name="T26" fmla="*/ 51 w 195"/>
                <a:gd name="T27" fmla="*/ 265 h 903"/>
                <a:gd name="T28" fmla="*/ 58 w 195"/>
                <a:gd name="T29" fmla="*/ 275 h 903"/>
                <a:gd name="T30" fmla="*/ 60 w 195"/>
                <a:gd name="T31" fmla="*/ 286 h 903"/>
                <a:gd name="T32" fmla="*/ 59 w 195"/>
                <a:gd name="T33" fmla="*/ 322 h 903"/>
                <a:gd name="T34" fmla="*/ 55 w 195"/>
                <a:gd name="T35" fmla="*/ 333 h 903"/>
                <a:gd name="T36" fmla="*/ 47 w 195"/>
                <a:gd name="T37" fmla="*/ 341 h 903"/>
                <a:gd name="T38" fmla="*/ 36 w 195"/>
                <a:gd name="T39" fmla="*/ 345 h 903"/>
                <a:gd name="T40" fmla="*/ 0 w 195"/>
                <a:gd name="T41" fmla="*/ 346 h 903"/>
                <a:gd name="T42" fmla="*/ 30 w 195"/>
                <a:gd name="T43" fmla="*/ 407 h 903"/>
                <a:gd name="T44" fmla="*/ 42 w 195"/>
                <a:gd name="T45" fmla="*/ 409 h 903"/>
                <a:gd name="T46" fmla="*/ 51 w 195"/>
                <a:gd name="T47" fmla="*/ 415 h 903"/>
                <a:gd name="T48" fmla="*/ 58 w 195"/>
                <a:gd name="T49" fmla="*/ 425 h 903"/>
                <a:gd name="T50" fmla="*/ 60 w 195"/>
                <a:gd name="T51" fmla="*/ 437 h 903"/>
                <a:gd name="T52" fmla="*/ 59 w 195"/>
                <a:gd name="T53" fmla="*/ 473 h 903"/>
                <a:gd name="T54" fmla="*/ 55 w 195"/>
                <a:gd name="T55" fmla="*/ 484 h 903"/>
                <a:gd name="T56" fmla="*/ 47 w 195"/>
                <a:gd name="T57" fmla="*/ 491 h 903"/>
                <a:gd name="T58" fmla="*/ 36 w 195"/>
                <a:gd name="T59" fmla="*/ 497 h 903"/>
                <a:gd name="T60" fmla="*/ 0 w 195"/>
                <a:gd name="T61" fmla="*/ 497 h 903"/>
                <a:gd name="T62" fmla="*/ 180 w 195"/>
                <a:gd name="T63" fmla="*/ 903 h 903"/>
                <a:gd name="T64" fmla="*/ 187 w 195"/>
                <a:gd name="T65" fmla="*/ 902 h 903"/>
                <a:gd name="T66" fmla="*/ 191 w 195"/>
                <a:gd name="T67" fmla="*/ 899 h 903"/>
                <a:gd name="T68" fmla="*/ 194 w 195"/>
                <a:gd name="T69" fmla="*/ 895 h 903"/>
                <a:gd name="T70" fmla="*/ 195 w 195"/>
                <a:gd name="T71" fmla="*/ 888 h 903"/>
                <a:gd name="T72" fmla="*/ 195 w 195"/>
                <a:gd name="T73" fmla="*/ 12 h 903"/>
                <a:gd name="T74" fmla="*/ 193 w 195"/>
                <a:gd name="T75" fmla="*/ 6 h 903"/>
                <a:gd name="T76" fmla="*/ 189 w 195"/>
                <a:gd name="T77" fmla="*/ 2 h 903"/>
                <a:gd name="T78" fmla="*/ 183 w 195"/>
                <a:gd name="T79" fmla="*/ 0 h 903"/>
                <a:gd name="T80" fmla="*/ 180 w 195"/>
                <a:gd name="T81"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5" h="903">
                  <a:moveTo>
                    <a:pt x="180" y="0"/>
                  </a:moveTo>
                  <a:lnTo>
                    <a:pt x="0" y="0"/>
                  </a:lnTo>
                  <a:lnTo>
                    <a:pt x="0" y="105"/>
                  </a:lnTo>
                  <a:lnTo>
                    <a:pt x="30" y="105"/>
                  </a:lnTo>
                  <a:lnTo>
                    <a:pt x="36" y="106"/>
                  </a:lnTo>
                  <a:lnTo>
                    <a:pt x="42" y="107"/>
                  </a:lnTo>
                  <a:lnTo>
                    <a:pt x="47" y="110"/>
                  </a:lnTo>
                  <a:lnTo>
                    <a:pt x="51" y="115"/>
                  </a:lnTo>
                  <a:lnTo>
                    <a:pt x="55" y="119"/>
                  </a:lnTo>
                  <a:lnTo>
                    <a:pt x="58" y="123"/>
                  </a:lnTo>
                  <a:lnTo>
                    <a:pt x="59" y="130"/>
                  </a:lnTo>
                  <a:lnTo>
                    <a:pt x="60" y="135"/>
                  </a:lnTo>
                  <a:lnTo>
                    <a:pt x="60" y="165"/>
                  </a:lnTo>
                  <a:lnTo>
                    <a:pt x="59" y="172"/>
                  </a:lnTo>
                  <a:lnTo>
                    <a:pt x="58" y="177"/>
                  </a:lnTo>
                  <a:lnTo>
                    <a:pt x="55" y="182"/>
                  </a:lnTo>
                  <a:lnTo>
                    <a:pt x="51" y="187"/>
                  </a:lnTo>
                  <a:lnTo>
                    <a:pt x="47" y="191"/>
                  </a:lnTo>
                  <a:lnTo>
                    <a:pt x="42" y="193"/>
                  </a:lnTo>
                  <a:lnTo>
                    <a:pt x="36" y="195"/>
                  </a:lnTo>
                  <a:lnTo>
                    <a:pt x="30" y="196"/>
                  </a:lnTo>
                  <a:lnTo>
                    <a:pt x="0" y="196"/>
                  </a:lnTo>
                  <a:lnTo>
                    <a:pt x="0" y="256"/>
                  </a:lnTo>
                  <a:lnTo>
                    <a:pt x="30" y="256"/>
                  </a:lnTo>
                  <a:lnTo>
                    <a:pt x="36" y="256"/>
                  </a:lnTo>
                  <a:lnTo>
                    <a:pt x="42" y="259"/>
                  </a:lnTo>
                  <a:lnTo>
                    <a:pt x="47" y="261"/>
                  </a:lnTo>
                  <a:lnTo>
                    <a:pt x="51" y="265"/>
                  </a:lnTo>
                  <a:lnTo>
                    <a:pt x="55" y="269"/>
                  </a:lnTo>
                  <a:lnTo>
                    <a:pt x="58" y="275"/>
                  </a:lnTo>
                  <a:lnTo>
                    <a:pt x="59" y="280"/>
                  </a:lnTo>
                  <a:lnTo>
                    <a:pt x="60" y="286"/>
                  </a:lnTo>
                  <a:lnTo>
                    <a:pt x="60" y="316"/>
                  </a:lnTo>
                  <a:lnTo>
                    <a:pt x="59" y="322"/>
                  </a:lnTo>
                  <a:lnTo>
                    <a:pt x="58" y="328"/>
                  </a:lnTo>
                  <a:lnTo>
                    <a:pt x="55" y="333"/>
                  </a:lnTo>
                  <a:lnTo>
                    <a:pt x="51" y="338"/>
                  </a:lnTo>
                  <a:lnTo>
                    <a:pt x="47" y="341"/>
                  </a:lnTo>
                  <a:lnTo>
                    <a:pt x="42" y="344"/>
                  </a:lnTo>
                  <a:lnTo>
                    <a:pt x="36" y="345"/>
                  </a:lnTo>
                  <a:lnTo>
                    <a:pt x="30" y="346"/>
                  </a:lnTo>
                  <a:lnTo>
                    <a:pt x="0" y="346"/>
                  </a:lnTo>
                  <a:lnTo>
                    <a:pt x="0" y="407"/>
                  </a:lnTo>
                  <a:lnTo>
                    <a:pt x="30" y="407"/>
                  </a:lnTo>
                  <a:lnTo>
                    <a:pt x="36" y="408"/>
                  </a:lnTo>
                  <a:lnTo>
                    <a:pt x="42" y="409"/>
                  </a:lnTo>
                  <a:lnTo>
                    <a:pt x="47" y="412"/>
                  </a:lnTo>
                  <a:lnTo>
                    <a:pt x="51" y="415"/>
                  </a:lnTo>
                  <a:lnTo>
                    <a:pt x="55" y="419"/>
                  </a:lnTo>
                  <a:lnTo>
                    <a:pt x="58" y="425"/>
                  </a:lnTo>
                  <a:lnTo>
                    <a:pt x="59" y="430"/>
                  </a:lnTo>
                  <a:lnTo>
                    <a:pt x="60" y="437"/>
                  </a:lnTo>
                  <a:lnTo>
                    <a:pt x="60" y="467"/>
                  </a:lnTo>
                  <a:lnTo>
                    <a:pt x="59" y="473"/>
                  </a:lnTo>
                  <a:lnTo>
                    <a:pt x="58" y="478"/>
                  </a:lnTo>
                  <a:lnTo>
                    <a:pt x="55" y="484"/>
                  </a:lnTo>
                  <a:lnTo>
                    <a:pt x="51" y="488"/>
                  </a:lnTo>
                  <a:lnTo>
                    <a:pt x="47" y="491"/>
                  </a:lnTo>
                  <a:lnTo>
                    <a:pt x="42" y="495"/>
                  </a:lnTo>
                  <a:lnTo>
                    <a:pt x="36" y="497"/>
                  </a:lnTo>
                  <a:lnTo>
                    <a:pt x="30" y="497"/>
                  </a:lnTo>
                  <a:lnTo>
                    <a:pt x="0" y="497"/>
                  </a:lnTo>
                  <a:lnTo>
                    <a:pt x="0" y="903"/>
                  </a:lnTo>
                  <a:lnTo>
                    <a:pt x="180" y="903"/>
                  </a:lnTo>
                  <a:lnTo>
                    <a:pt x="183" y="903"/>
                  </a:lnTo>
                  <a:lnTo>
                    <a:pt x="187" y="902"/>
                  </a:lnTo>
                  <a:lnTo>
                    <a:pt x="189" y="901"/>
                  </a:lnTo>
                  <a:lnTo>
                    <a:pt x="191" y="899"/>
                  </a:lnTo>
                  <a:lnTo>
                    <a:pt x="193" y="897"/>
                  </a:lnTo>
                  <a:lnTo>
                    <a:pt x="194" y="895"/>
                  </a:lnTo>
                  <a:lnTo>
                    <a:pt x="195" y="891"/>
                  </a:lnTo>
                  <a:lnTo>
                    <a:pt x="195" y="888"/>
                  </a:lnTo>
                  <a:lnTo>
                    <a:pt x="195" y="15"/>
                  </a:lnTo>
                  <a:lnTo>
                    <a:pt x="195" y="12"/>
                  </a:lnTo>
                  <a:lnTo>
                    <a:pt x="194" y="10"/>
                  </a:lnTo>
                  <a:lnTo>
                    <a:pt x="193" y="6"/>
                  </a:lnTo>
                  <a:lnTo>
                    <a:pt x="191" y="4"/>
                  </a:lnTo>
                  <a:lnTo>
                    <a:pt x="189" y="2"/>
                  </a:lnTo>
                  <a:lnTo>
                    <a:pt x="187" y="1"/>
                  </a:lnTo>
                  <a:lnTo>
                    <a:pt x="183" y="0"/>
                  </a:lnTo>
                  <a:lnTo>
                    <a:pt x="180" y="0"/>
                  </a:lnTo>
                  <a:lnTo>
                    <a:pt x="18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 name="Slide Number Placeholder 1">
            <a:extLst>
              <a:ext uri="{FF2B5EF4-FFF2-40B4-BE49-F238E27FC236}">
                <a16:creationId xmlns:a16="http://schemas.microsoft.com/office/drawing/2014/main" id="{6CD36BB0-FB31-4536-FAAD-BDCC1497152D}"/>
              </a:ext>
            </a:extLst>
          </p:cNvPr>
          <p:cNvSpPr>
            <a:spLocks noGrp="1"/>
          </p:cNvSpPr>
          <p:nvPr>
            <p:ph type="sldNum" sz="quarter" idx="12"/>
          </p:nvPr>
        </p:nvSpPr>
        <p:spPr/>
        <p:txBody>
          <a:bodyPr/>
          <a:lstStyle/>
          <a:p>
            <a:fld id="{06FEDF93-2BFD-41CA-ABC7-B039102F3792}" type="slidenum">
              <a:rPr lang="en-US" smtClean="0"/>
              <a:t>3</a:t>
            </a:fld>
            <a:endParaRPr lang="en-US" dirty="0"/>
          </a:p>
        </p:txBody>
      </p:sp>
    </p:spTree>
    <p:extLst>
      <p:ext uri="{BB962C8B-B14F-4D97-AF65-F5344CB8AC3E}">
        <p14:creationId xmlns:p14="http://schemas.microsoft.com/office/powerpoint/2010/main" val="3965169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506A8-1EAB-7E03-C9A3-D50BD702B9B8}"/>
            </a:ext>
          </a:extLst>
        </p:cNvPr>
        <p:cNvGrpSpPr/>
        <p:nvPr/>
      </p:nvGrpSpPr>
      <p:grpSpPr>
        <a:xfrm>
          <a:off x="0" y="0"/>
          <a:ext cx="0" cy="0"/>
          <a:chOff x="0" y="0"/>
          <a:chExt cx="0" cy="0"/>
        </a:xfrm>
      </p:grpSpPr>
      <p:sp>
        <p:nvSpPr>
          <p:cNvPr id="7" name="Title 6" hidden="1">
            <a:extLst>
              <a:ext uri="{FF2B5EF4-FFF2-40B4-BE49-F238E27FC236}">
                <a16:creationId xmlns:a16="http://schemas.microsoft.com/office/drawing/2014/main" id="{525A0E9E-F152-4E33-8001-EB4F2216114D}"/>
              </a:ext>
            </a:extLst>
          </p:cNvPr>
          <p:cNvSpPr>
            <a:spLocks noGrp="1"/>
          </p:cNvSpPr>
          <p:nvPr>
            <p:ph type="title" idx="4294967295"/>
          </p:nvPr>
        </p:nvSpPr>
        <p:spPr>
          <a:xfrm>
            <a:off x="0" y="365125"/>
            <a:ext cx="10515600" cy="1325563"/>
          </a:xfrm>
        </p:spPr>
        <p:txBody>
          <a:bodyPr/>
          <a:lstStyle/>
          <a:p>
            <a:r>
              <a:rPr lang="en-US" dirty="0"/>
              <a:t>Project analysis slide 8</a:t>
            </a:r>
          </a:p>
        </p:txBody>
      </p:sp>
      <p:cxnSp>
        <p:nvCxnSpPr>
          <p:cNvPr id="8" name="Straight Connector 7">
            <a:extLst>
              <a:ext uri="{FF2B5EF4-FFF2-40B4-BE49-F238E27FC236}">
                <a16:creationId xmlns:a16="http://schemas.microsoft.com/office/drawing/2014/main" id="{7C68B051-FD8E-E1C3-168A-98696817909B}"/>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9934C3A1-BE02-C909-D6FC-9ED6F2536B87}"/>
              </a:ext>
            </a:extLst>
          </p:cNvPr>
          <p:cNvSpPr txBox="1">
            <a:spLocks/>
          </p:cNvSpPr>
          <p:nvPr/>
        </p:nvSpPr>
        <p:spPr>
          <a:xfrm>
            <a:off x="228600" y="190500"/>
            <a:ext cx="11734800" cy="1163395"/>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Data Overview                                   Analysis Process</a:t>
            </a:r>
            <a:br>
              <a:rPr lang="en-US" sz="2800" dirty="0">
                <a:solidFill>
                  <a:schemeClr val="tx1">
                    <a:lumMod val="75000"/>
                    <a:lumOff val="25000"/>
                  </a:schemeClr>
                </a:solidFill>
              </a:rPr>
            </a:br>
            <a:endParaRPr lang="en-US" sz="2800" dirty="0">
              <a:solidFill>
                <a:schemeClr val="tx1">
                  <a:lumMod val="75000"/>
                  <a:lumOff val="25000"/>
                </a:schemeClr>
              </a:solidFill>
            </a:endParaRPr>
          </a:p>
          <a:p>
            <a:pPr algn="ct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3CB81DE4-8ECA-2E21-88BA-612A89599566}"/>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697E40B-146C-E3C5-C065-7E922067160B}"/>
              </a:ext>
              <a:ext uri="{C183D7F6-B498-43B3-948B-1728B52AA6E4}">
                <adec:decorative xmlns:adec="http://schemas.microsoft.com/office/drawing/2017/decorative" val="1"/>
              </a:ext>
            </a:extLst>
          </p:cNvPr>
          <p:cNvCxnSpPr>
            <a:cxnSpLocks/>
          </p:cNvCxnSpPr>
          <p:nvPr/>
        </p:nvCxnSpPr>
        <p:spPr>
          <a:xfrm>
            <a:off x="320568" y="3353715"/>
            <a:ext cx="486977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CF8DF1D-2963-6F07-1BE4-7444C2C2235D}"/>
              </a:ext>
              <a:ext uri="{C183D7F6-B498-43B3-948B-1728B52AA6E4}">
                <adec:decorative xmlns:adec="http://schemas.microsoft.com/office/drawing/2017/decorative" val="1"/>
              </a:ext>
            </a:extLst>
          </p:cNvPr>
          <p:cNvCxnSpPr>
            <a:cxnSpLocks/>
          </p:cNvCxnSpPr>
          <p:nvPr/>
        </p:nvCxnSpPr>
        <p:spPr>
          <a:xfrm>
            <a:off x="5190338" y="834501"/>
            <a:ext cx="0" cy="5539666"/>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6CEA8EAD-F2F6-4CE8-CF9C-F992F5BC3718}"/>
              </a:ext>
            </a:extLst>
          </p:cNvPr>
          <p:cNvSpPr/>
          <p:nvPr/>
        </p:nvSpPr>
        <p:spPr>
          <a:xfrm>
            <a:off x="567088" y="4142049"/>
            <a:ext cx="4162870" cy="1661993"/>
          </a:xfrm>
          <a:prstGeom prst="rect">
            <a:avLst/>
          </a:prstGeom>
        </p:spPr>
        <p:txBody>
          <a:bodyPr wrap="square" lIns="0" tIns="0" rIns="0" bIns="0" anchor="t">
            <a:spAutoFit/>
          </a:bodyPr>
          <a:lstStyle/>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cs typeface="Segoe UI" panose="020B0502040204020203" pitchFamily="34" charset="0"/>
              </a:rPr>
              <a:t>This dataset provides information about the Micro Small &amp; Medium Enterprises (MSMEs) in Telangana for units set up in the state.</a:t>
            </a:r>
          </a:p>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cs typeface="Segoe UI" panose="020B0502040204020203" pitchFamily="34" charset="0"/>
              </a:rPr>
              <a:t>Data contains the below columns: | district | mandal | </a:t>
            </a:r>
            <a:r>
              <a:rPr lang="en-US" sz="1400" dirty="0" err="1">
                <a:solidFill>
                  <a:schemeClr val="tx1">
                    <a:lumMod val="75000"/>
                    <a:lumOff val="25000"/>
                  </a:schemeClr>
                </a:solidFill>
                <a:cs typeface="Segoe UI" panose="020B0502040204020203" pitchFamily="34" charset="0"/>
              </a:rPr>
              <a:t>indsutry_category</a:t>
            </a:r>
            <a:r>
              <a:rPr lang="en-US" sz="1400" dirty="0">
                <a:solidFill>
                  <a:schemeClr val="tx1">
                    <a:lumMod val="75000"/>
                    <a:lumOff val="25000"/>
                  </a:schemeClr>
                </a:solidFill>
                <a:cs typeface="Segoe UI" panose="020B0502040204020203" pitchFamily="34" charset="0"/>
              </a:rPr>
              <a:t> | </a:t>
            </a:r>
            <a:r>
              <a:rPr lang="en-US" sz="1400" dirty="0" err="1">
                <a:solidFill>
                  <a:schemeClr val="tx1">
                    <a:lumMod val="75000"/>
                    <a:lumOff val="25000"/>
                  </a:schemeClr>
                </a:solidFill>
                <a:cs typeface="Segoe UI" panose="020B0502040204020203" pitchFamily="34" charset="0"/>
              </a:rPr>
              <a:t>type_of_industry</a:t>
            </a:r>
            <a:r>
              <a:rPr lang="en-US" sz="1400" dirty="0">
                <a:solidFill>
                  <a:schemeClr val="tx1">
                    <a:lumMod val="75000"/>
                    <a:lumOff val="25000"/>
                  </a:schemeClr>
                </a:solidFill>
                <a:cs typeface="Segoe UI" panose="020B0502040204020203" pitchFamily="34" charset="0"/>
              </a:rPr>
              <a:t> | </a:t>
            </a:r>
            <a:r>
              <a:rPr lang="en-US" sz="1400" dirty="0" err="1">
                <a:solidFill>
                  <a:schemeClr val="tx1">
                    <a:lumMod val="75000"/>
                    <a:lumOff val="25000"/>
                  </a:schemeClr>
                </a:solidFill>
                <a:cs typeface="Segoe UI" panose="020B0502040204020203" pitchFamily="34" charset="0"/>
              </a:rPr>
              <a:t>unit_name</a:t>
            </a:r>
            <a:r>
              <a:rPr lang="en-US" sz="1400" dirty="0">
                <a:solidFill>
                  <a:schemeClr val="tx1">
                    <a:lumMod val="75000"/>
                    <a:lumOff val="25000"/>
                  </a:schemeClr>
                </a:solidFill>
                <a:cs typeface="Segoe UI" panose="020B0502040204020203" pitchFamily="34" charset="0"/>
              </a:rPr>
              <a:t> | </a:t>
            </a:r>
            <a:r>
              <a:rPr lang="en-US" sz="1400" dirty="0" err="1">
                <a:solidFill>
                  <a:schemeClr val="tx1">
                    <a:lumMod val="75000"/>
                    <a:lumOff val="25000"/>
                  </a:schemeClr>
                </a:solidFill>
                <a:cs typeface="Segoe UI" panose="020B0502040204020203" pitchFamily="34" charset="0"/>
              </a:rPr>
              <a:t>line_of_activity</a:t>
            </a:r>
            <a:r>
              <a:rPr lang="en-US" sz="1400" dirty="0">
                <a:solidFill>
                  <a:schemeClr val="tx1">
                    <a:lumMod val="75000"/>
                    <a:lumOff val="25000"/>
                  </a:schemeClr>
                </a:solidFill>
                <a:cs typeface="Segoe UI" panose="020B0502040204020203" pitchFamily="34" charset="0"/>
              </a:rPr>
              <a:t> | investment | employment | </a:t>
            </a:r>
            <a:r>
              <a:rPr lang="en-US" sz="1400" dirty="0" err="1">
                <a:solidFill>
                  <a:schemeClr val="tx1">
                    <a:lumMod val="75000"/>
                    <a:lumOff val="25000"/>
                  </a:schemeClr>
                </a:solidFill>
                <a:cs typeface="Segoe UI" panose="020B0502040204020203" pitchFamily="34" charset="0"/>
              </a:rPr>
              <a:t>present_status</a:t>
            </a:r>
            <a:r>
              <a:rPr lang="en-US" sz="1400" dirty="0">
                <a:solidFill>
                  <a:schemeClr val="tx1">
                    <a:lumMod val="75000"/>
                    <a:lumOff val="25000"/>
                  </a:schemeClr>
                </a:solidFill>
                <a:cs typeface="Segoe UI" panose="020B0502040204020203" pitchFamily="34" charset="0"/>
              </a:rPr>
              <a:t> | export | </a:t>
            </a:r>
            <a:r>
              <a:rPr lang="en-US" sz="1400" dirty="0" err="1">
                <a:solidFill>
                  <a:schemeClr val="tx1">
                    <a:lumMod val="75000"/>
                    <a:lumOff val="25000"/>
                  </a:schemeClr>
                </a:solidFill>
                <a:cs typeface="Segoe UI" panose="020B0502040204020203" pitchFamily="34" charset="0"/>
              </a:rPr>
              <a:t>type_of_connection</a:t>
            </a:r>
            <a:r>
              <a:rPr lang="en-US" sz="1400" dirty="0">
                <a:solidFill>
                  <a:schemeClr val="tx1">
                    <a:lumMod val="75000"/>
                    <a:lumOff val="25000"/>
                  </a:schemeClr>
                </a:solidFill>
                <a:cs typeface="Segoe UI" panose="020B0502040204020203" pitchFamily="34" charset="0"/>
              </a:rPr>
              <a:t> |</a:t>
            </a:r>
          </a:p>
        </p:txBody>
      </p:sp>
      <p:sp>
        <p:nvSpPr>
          <p:cNvPr id="42" name="Rectangle 41">
            <a:extLst>
              <a:ext uri="{FF2B5EF4-FFF2-40B4-BE49-F238E27FC236}">
                <a16:creationId xmlns:a16="http://schemas.microsoft.com/office/drawing/2014/main" id="{5A5ED352-27EF-AB75-A3E1-8B615AE8C794}"/>
              </a:ext>
            </a:extLst>
          </p:cNvPr>
          <p:cNvSpPr/>
          <p:nvPr/>
        </p:nvSpPr>
        <p:spPr>
          <a:xfrm>
            <a:off x="567079" y="1819596"/>
            <a:ext cx="4162870" cy="1231106"/>
          </a:xfrm>
          <a:prstGeom prst="rect">
            <a:avLst/>
          </a:prstGeom>
        </p:spPr>
        <p:txBody>
          <a:bodyPr wrap="square" lIns="0" tIns="0" rIns="0" bIns="0" anchor="t">
            <a:spAutoFit/>
          </a:bodyPr>
          <a:lstStyle/>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cs typeface="Segoe UI" panose="020B0502040204020203" pitchFamily="34" charset="0"/>
              </a:rPr>
              <a:t>This dataset provides information about the Industrial Incentives in Telangana for units set up in the state</a:t>
            </a:r>
          </a:p>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cs typeface="Segoe UI" panose="020B0502040204020203" pitchFamily="34" charset="0"/>
              </a:rPr>
              <a:t>The data set contains the below columns: | District | Mandal | Village | </a:t>
            </a:r>
            <a:r>
              <a:rPr lang="en-US" sz="1400" dirty="0" err="1">
                <a:solidFill>
                  <a:schemeClr val="tx1">
                    <a:lumMod val="75000"/>
                    <a:lumOff val="25000"/>
                  </a:schemeClr>
                </a:solidFill>
                <a:cs typeface="Segoe UI" panose="020B0502040204020203" pitchFamily="34" charset="0"/>
              </a:rPr>
              <a:t>Unit_Name</a:t>
            </a:r>
            <a:r>
              <a:rPr lang="en-US" sz="1400" dirty="0">
                <a:solidFill>
                  <a:schemeClr val="tx1">
                    <a:lumMod val="75000"/>
                    <a:lumOff val="25000"/>
                  </a:schemeClr>
                </a:solidFill>
                <a:cs typeface="Segoe UI" panose="020B0502040204020203" pitchFamily="34" charset="0"/>
              </a:rPr>
              <a:t> | </a:t>
            </a:r>
            <a:r>
              <a:rPr lang="en-US" sz="1400" dirty="0" err="1">
                <a:solidFill>
                  <a:schemeClr val="tx1">
                    <a:lumMod val="75000"/>
                    <a:lumOff val="25000"/>
                  </a:schemeClr>
                </a:solidFill>
                <a:cs typeface="Segoe UI" panose="020B0502040204020203" pitchFamily="34" charset="0"/>
              </a:rPr>
              <a:t>Unit_Address</a:t>
            </a:r>
            <a:r>
              <a:rPr lang="en-US" sz="1400" dirty="0">
                <a:solidFill>
                  <a:schemeClr val="tx1">
                    <a:lumMod val="75000"/>
                    <a:lumOff val="25000"/>
                  </a:schemeClr>
                </a:solidFill>
                <a:cs typeface="Segoe UI" panose="020B0502040204020203" pitchFamily="34" charset="0"/>
              </a:rPr>
              <a:t> | </a:t>
            </a:r>
            <a:r>
              <a:rPr lang="en-US" sz="1400" dirty="0" err="1">
                <a:solidFill>
                  <a:schemeClr val="tx1">
                    <a:lumMod val="75000"/>
                    <a:lumOff val="25000"/>
                  </a:schemeClr>
                </a:solidFill>
                <a:cs typeface="Segoe UI" panose="020B0502040204020203" pitchFamily="34" charset="0"/>
              </a:rPr>
              <a:t>incentive_name</a:t>
            </a:r>
            <a:r>
              <a:rPr lang="en-US" sz="1400" dirty="0">
                <a:solidFill>
                  <a:schemeClr val="tx1">
                    <a:lumMod val="75000"/>
                    <a:lumOff val="25000"/>
                  </a:schemeClr>
                </a:solidFill>
                <a:cs typeface="Segoe UI" panose="020B0502040204020203" pitchFamily="34" charset="0"/>
              </a:rPr>
              <a:t> |</a:t>
            </a:r>
          </a:p>
        </p:txBody>
      </p:sp>
      <p:sp>
        <p:nvSpPr>
          <p:cNvPr id="45" name="Rectangle 44">
            <a:extLst>
              <a:ext uri="{FF2B5EF4-FFF2-40B4-BE49-F238E27FC236}">
                <a16:creationId xmlns:a16="http://schemas.microsoft.com/office/drawing/2014/main" id="{5C2AB65D-7548-7E3B-DE4B-9C3D5D0E46B6}"/>
              </a:ext>
            </a:extLst>
          </p:cNvPr>
          <p:cNvSpPr/>
          <p:nvPr/>
        </p:nvSpPr>
        <p:spPr>
          <a:xfrm>
            <a:off x="567079" y="3735744"/>
            <a:ext cx="4162870" cy="246221"/>
          </a:xfrm>
          <a:prstGeom prst="rect">
            <a:avLst/>
          </a:prstGeom>
        </p:spPr>
        <p:txBody>
          <a:bodyPr wrap="square" lIns="0" tIns="0" rIns="0" bIns="0" anchor="t">
            <a:spAutoFit/>
          </a:bodyPr>
          <a:lstStyle/>
          <a:p>
            <a:r>
              <a:rPr lang="en-US" sz="1600" b="1" dirty="0">
                <a:solidFill>
                  <a:schemeClr val="tx1">
                    <a:lumMod val="75000"/>
                    <a:lumOff val="25000"/>
                  </a:schemeClr>
                </a:solidFill>
                <a:cs typeface="Segoe UI" panose="020B0502040204020203" pitchFamily="34" charset="0"/>
              </a:rPr>
              <a:t>Micro Small &amp; Medium Enterprises (MSMEs)</a:t>
            </a:r>
          </a:p>
        </p:txBody>
      </p:sp>
      <p:sp>
        <p:nvSpPr>
          <p:cNvPr id="46" name="Rectangle 45">
            <a:extLst>
              <a:ext uri="{FF2B5EF4-FFF2-40B4-BE49-F238E27FC236}">
                <a16:creationId xmlns:a16="http://schemas.microsoft.com/office/drawing/2014/main" id="{0DDDE87A-CFBA-DB81-237D-BD90E8188BB3}"/>
              </a:ext>
            </a:extLst>
          </p:cNvPr>
          <p:cNvSpPr/>
          <p:nvPr/>
        </p:nvSpPr>
        <p:spPr>
          <a:xfrm>
            <a:off x="567079" y="1413291"/>
            <a:ext cx="4162870" cy="246221"/>
          </a:xfrm>
          <a:prstGeom prst="rect">
            <a:avLst/>
          </a:prstGeom>
        </p:spPr>
        <p:txBody>
          <a:bodyPr wrap="square" lIns="0" tIns="0" rIns="0" bIns="0" anchor="t">
            <a:spAutoFit/>
          </a:bodyPr>
          <a:lstStyle/>
          <a:p>
            <a:r>
              <a:rPr lang="en-US" sz="1600" b="1" dirty="0">
                <a:solidFill>
                  <a:schemeClr val="tx1">
                    <a:lumMod val="75000"/>
                    <a:lumOff val="25000"/>
                  </a:schemeClr>
                </a:solidFill>
                <a:cs typeface="Segoe UI" panose="020B0502040204020203" pitchFamily="34" charset="0"/>
              </a:rPr>
              <a:t>Industrial Incentives</a:t>
            </a:r>
          </a:p>
        </p:txBody>
      </p:sp>
      <p:sp>
        <p:nvSpPr>
          <p:cNvPr id="4" name="Trapezoid 3">
            <a:extLst>
              <a:ext uri="{FF2B5EF4-FFF2-40B4-BE49-F238E27FC236}">
                <a16:creationId xmlns:a16="http://schemas.microsoft.com/office/drawing/2014/main" id="{E43C3FC2-2F49-6633-F416-483F9DE28A78}"/>
              </a:ext>
              <a:ext uri="{C183D7F6-B498-43B3-948B-1728B52AA6E4}">
                <adec:decorative xmlns:adec="http://schemas.microsoft.com/office/drawing/2017/decorative" val="1"/>
              </a:ext>
            </a:extLst>
          </p:cNvPr>
          <p:cNvSpPr/>
          <p:nvPr/>
        </p:nvSpPr>
        <p:spPr>
          <a:xfrm rot="5400000">
            <a:off x="4313587" y="2673357"/>
            <a:ext cx="4336142" cy="2044685"/>
          </a:xfrm>
          <a:prstGeom prst="trapezoid">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rapezoid 4">
            <a:extLst>
              <a:ext uri="{FF2B5EF4-FFF2-40B4-BE49-F238E27FC236}">
                <a16:creationId xmlns:a16="http://schemas.microsoft.com/office/drawing/2014/main" id="{D80A3BED-AE14-D3F8-9997-A38296F5CFC4}"/>
              </a:ext>
              <a:ext uri="{C183D7F6-B498-43B3-948B-1728B52AA6E4}">
                <adec:decorative xmlns:adec="http://schemas.microsoft.com/office/drawing/2017/decorative" val="1"/>
              </a:ext>
            </a:extLst>
          </p:cNvPr>
          <p:cNvSpPr/>
          <p:nvPr/>
        </p:nvSpPr>
        <p:spPr>
          <a:xfrm rot="5400000">
            <a:off x="6596003" y="2631261"/>
            <a:ext cx="4336142" cy="2044685"/>
          </a:xfrm>
          <a:prstGeom prst="trapezoid">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rapezoid 5">
            <a:extLst>
              <a:ext uri="{FF2B5EF4-FFF2-40B4-BE49-F238E27FC236}">
                <a16:creationId xmlns:a16="http://schemas.microsoft.com/office/drawing/2014/main" id="{1F2F1E81-2601-8DBF-9065-713422015183}"/>
              </a:ext>
              <a:ext uri="{C183D7F6-B498-43B3-948B-1728B52AA6E4}">
                <adec:decorative xmlns:adec="http://schemas.microsoft.com/office/drawing/2017/decorative" val="1"/>
              </a:ext>
            </a:extLst>
          </p:cNvPr>
          <p:cNvSpPr/>
          <p:nvPr/>
        </p:nvSpPr>
        <p:spPr>
          <a:xfrm rot="5400000">
            <a:off x="8891213" y="2631261"/>
            <a:ext cx="4336142" cy="2044685"/>
          </a:xfrm>
          <a:prstGeom prst="trapezoid">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7E6452B-1D9B-D8E3-BCB6-E906A5C3120A}"/>
              </a:ext>
            </a:extLst>
          </p:cNvPr>
          <p:cNvSpPr/>
          <p:nvPr/>
        </p:nvSpPr>
        <p:spPr>
          <a:xfrm>
            <a:off x="5793698" y="2083701"/>
            <a:ext cx="1371600" cy="246221"/>
          </a:xfrm>
          <a:prstGeom prst="rect">
            <a:avLst/>
          </a:prstGeom>
        </p:spPr>
        <p:txBody>
          <a:bodyPr wrap="square" lIns="0" tIns="0" rIns="0" bIns="0">
            <a:spAutoFit/>
          </a:bodyPr>
          <a:lstStyle/>
          <a:p>
            <a:pPr algn="ctr"/>
            <a:r>
              <a:rPr lang="en-US" sz="1600" b="1" dirty="0">
                <a:solidFill>
                  <a:schemeClr val="bg1"/>
                </a:solidFill>
              </a:rPr>
              <a:t>Data Processing</a:t>
            </a:r>
          </a:p>
        </p:txBody>
      </p:sp>
      <p:sp>
        <p:nvSpPr>
          <p:cNvPr id="13" name="Rectangle 12">
            <a:extLst>
              <a:ext uri="{FF2B5EF4-FFF2-40B4-BE49-F238E27FC236}">
                <a16:creationId xmlns:a16="http://schemas.microsoft.com/office/drawing/2014/main" id="{D03B870D-87EA-60F2-61F8-F4BDB0155BE4}"/>
              </a:ext>
            </a:extLst>
          </p:cNvPr>
          <p:cNvSpPr/>
          <p:nvPr/>
        </p:nvSpPr>
        <p:spPr>
          <a:xfrm>
            <a:off x="8124930" y="1978116"/>
            <a:ext cx="1371600" cy="492443"/>
          </a:xfrm>
          <a:prstGeom prst="rect">
            <a:avLst/>
          </a:prstGeom>
        </p:spPr>
        <p:txBody>
          <a:bodyPr wrap="square" lIns="0" tIns="0" rIns="0" bIns="0">
            <a:spAutoFit/>
          </a:bodyPr>
          <a:lstStyle/>
          <a:p>
            <a:pPr algn="ctr"/>
            <a:r>
              <a:rPr lang="en-US" sz="1600" b="1" dirty="0">
                <a:solidFill>
                  <a:schemeClr val="bg1"/>
                </a:solidFill>
              </a:rPr>
              <a:t>Regression Analysis</a:t>
            </a:r>
          </a:p>
        </p:txBody>
      </p:sp>
      <p:sp>
        <p:nvSpPr>
          <p:cNvPr id="15" name="Rectangle 14">
            <a:extLst>
              <a:ext uri="{FF2B5EF4-FFF2-40B4-BE49-F238E27FC236}">
                <a16:creationId xmlns:a16="http://schemas.microsoft.com/office/drawing/2014/main" id="{C693C2E4-F8EA-BBFE-CECF-39D281A43D08}"/>
              </a:ext>
            </a:extLst>
          </p:cNvPr>
          <p:cNvSpPr/>
          <p:nvPr/>
        </p:nvSpPr>
        <p:spPr>
          <a:xfrm>
            <a:off x="10383903" y="1915687"/>
            <a:ext cx="1371600" cy="492443"/>
          </a:xfrm>
          <a:prstGeom prst="rect">
            <a:avLst/>
          </a:prstGeom>
        </p:spPr>
        <p:txBody>
          <a:bodyPr wrap="square" lIns="0" tIns="0" rIns="0" bIns="0">
            <a:spAutoFit/>
          </a:bodyPr>
          <a:lstStyle/>
          <a:p>
            <a:pPr algn="ctr"/>
            <a:r>
              <a:rPr lang="en-US" sz="1600" b="1" dirty="0">
                <a:solidFill>
                  <a:schemeClr val="bg1"/>
                </a:solidFill>
              </a:rPr>
              <a:t>Time Series Analysis</a:t>
            </a:r>
          </a:p>
        </p:txBody>
      </p:sp>
      <p:sp>
        <p:nvSpPr>
          <p:cNvPr id="16" name="Rectangle 15">
            <a:extLst>
              <a:ext uri="{FF2B5EF4-FFF2-40B4-BE49-F238E27FC236}">
                <a16:creationId xmlns:a16="http://schemas.microsoft.com/office/drawing/2014/main" id="{0C96748A-5502-A311-C1F3-E397B4B4A5C9}"/>
              </a:ext>
            </a:extLst>
          </p:cNvPr>
          <p:cNvSpPr/>
          <p:nvPr/>
        </p:nvSpPr>
        <p:spPr>
          <a:xfrm>
            <a:off x="5531201" y="2512655"/>
            <a:ext cx="1972800" cy="2416302"/>
          </a:xfrm>
          <a:prstGeom prst="rect">
            <a:avLst/>
          </a:prstGeom>
        </p:spPr>
        <p:txBody>
          <a:bodyPr wrap="square" lIns="0" tIns="0" rIns="0" bIns="0" anchor="t">
            <a:spAutoFit/>
          </a:bodyPr>
          <a:lstStyle/>
          <a:p>
            <a:pPr marL="285750" indent="-285750">
              <a:lnSpc>
                <a:spcPts val="1900"/>
              </a:lnSpc>
              <a:buFont typeface="Arial" panose="020B0604020202020204" pitchFamily="34" charset="0"/>
              <a:buChar char="•"/>
            </a:pPr>
            <a:r>
              <a:rPr lang="en-US" sz="1400" b="1" dirty="0">
                <a:solidFill>
                  <a:schemeClr val="bg1"/>
                </a:solidFill>
                <a:cs typeface="Segoe UI" panose="020B0502040204020203" pitchFamily="34" charset="0"/>
              </a:rPr>
              <a:t>I</a:t>
            </a:r>
            <a:r>
              <a:rPr lang="en-US" sz="1400" dirty="0">
                <a:solidFill>
                  <a:schemeClr val="bg1"/>
                </a:solidFill>
                <a:cs typeface="Segoe UI" panose="020B0502040204020203" pitchFamily="34" charset="0"/>
              </a:rPr>
              <a:t>dentify the outliers  using box plot method and removed them</a:t>
            </a:r>
          </a:p>
          <a:p>
            <a:pPr marL="285750" indent="-285750">
              <a:lnSpc>
                <a:spcPts val="1900"/>
              </a:lnSpc>
              <a:buFont typeface="Arial" panose="020B0604020202020204" pitchFamily="34" charset="0"/>
              <a:buChar char="•"/>
            </a:pPr>
            <a:r>
              <a:rPr lang="en-US" sz="1400" b="1" dirty="0">
                <a:solidFill>
                  <a:schemeClr val="bg1"/>
                </a:solidFill>
                <a:cs typeface="Segoe UI" panose="020B0502040204020203" pitchFamily="34" charset="0"/>
              </a:rPr>
              <a:t>R</a:t>
            </a:r>
            <a:r>
              <a:rPr lang="en-US" sz="1400" dirty="0">
                <a:solidFill>
                  <a:schemeClr val="bg1"/>
                </a:solidFill>
                <a:cs typeface="Segoe UI" panose="020B0502040204020203" pitchFamily="34" charset="0"/>
              </a:rPr>
              <a:t>emoving the missing values (&amp; </a:t>
            </a:r>
            <a:r>
              <a:rPr lang="en-US" sz="1400" dirty="0" err="1">
                <a:solidFill>
                  <a:schemeClr val="bg1"/>
                </a:solidFill>
                <a:cs typeface="Segoe UI" panose="020B0502040204020203" pitchFamily="34" charset="0"/>
              </a:rPr>
              <a:t>NaN</a:t>
            </a:r>
            <a:r>
              <a:rPr lang="en-US" sz="1400" dirty="0">
                <a:solidFill>
                  <a:schemeClr val="bg1"/>
                </a:solidFill>
                <a:cs typeface="Segoe UI" panose="020B0502040204020203" pitchFamily="34" charset="0"/>
              </a:rPr>
              <a:t>).</a:t>
            </a:r>
          </a:p>
          <a:p>
            <a:pPr marL="285750" indent="-285750">
              <a:lnSpc>
                <a:spcPts val="1900"/>
              </a:lnSpc>
              <a:buFont typeface="Arial" panose="020B0604020202020204" pitchFamily="34" charset="0"/>
              <a:buChar char="•"/>
            </a:pPr>
            <a:r>
              <a:rPr lang="en-US" sz="1400" b="1" dirty="0">
                <a:solidFill>
                  <a:schemeClr val="bg1"/>
                </a:solidFill>
                <a:cs typeface="Segoe UI" panose="020B0502040204020203" pitchFamily="34" charset="0"/>
              </a:rPr>
              <a:t>C</a:t>
            </a:r>
            <a:r>
              <a:rPr lang="en-US" sz="1400" dirty="0">
                <a:solidFill>
                  <a:schemeClr val="bg1"/>
                </a:solidFill>
                <a:cs typeface="Segoe UI" panose="020B0502040204020203" pitchFamily="34" charset="0"/>
              </a:rPr>
              <a:t>ombined the data sets for 7 months of MSME datasets and incentives datasets.</a:t>
            </a:r>
          </a:p>
        </p:txBody>
      </p:sp>
      <p:sp>
        <p:nvSpPr>
          <p:cNvPr id="17" name="Rectangle 16">
            <a:extLst>
              <a:ext uri="{FF2B5EF4-FFF2-40B4-BE49-F238E27FC236}">
                <a16:creationId xmlns:a16="http://schemas.microsoft.com/office/drawing/2014/main" id="{BD0ECCC9-5372-4845-8F0C-D03F5C180E1D}"/>
              </a:ext>
            </a:extLst>
          </p:cNvPr>
          <p:cNvSpPr/>
          <p:nvPr/>
        </p:nvSpPr>
        <p:spPr>
          <a:xfrm>
            <a:off x="7792643" y="2577552"/>
            <a:ext cx="1894108" cy="2659959"/>
          </a:xfrm>
          <a:prstGeom prst="rect">
            <a:avLst/>
          </a:prstGeom>
        </p:spPr>
        <p:txBody>
          <a:bodyPr wrap="square" lIns="0" tIns="0" rIns="0" bIns="0" anchor="t">
            <a:spAutoFit/>
          </a:bodyPr>
          <a:lstStyle/>
          <a:p>
            <a:pPr marL="285750" indent="-285750">
              <a:lnSpc>
                <a:spcPts val="1900"/>
              </a:lnSpc>
              <a:buFont typeface="Arial" panose="020B0604020202020204" pitchFamily="34" charset="0"/>
              <a:buChar char="•"/>
            </a:pPr>
            <a:r>
              <a:rPr lang="en-US" sz="1400" dirty="0">
                <a:solidFill>
                  <a:schemeClr val="bg1"/>
                </a:solidFill>
                <a:cs typeface="Segoe UI" panose="020B0502040204020203" pitchFamily="34" charset="0"/>
              </a:rPr>
              <a:t>Regression analysis is used to identify the relationships between dependent and independent variables “Investment” is an independent variable, and “Export Ratio” is a dependent variable.</a:t>
            </a:r>
          </a:p>
        </p:txBody>
      </p:sp>
      <p:sp>
        <p:nvSpPr>
          <p:cNvPr id="18" name="Rectangle 17">
            <a:extLst>
              <a:ext uri="{FF2B5EF4-FFF2-40B4-BE49-F238E27FC236}">
                <a16:creationId xmlns:a16="http://schemas.microsoft.com/office/drawing/2014/main" id="{FA2338F4-CA15-0265-1354-E50427CB44B3}"/>
              </a:ext>
            </a:extLst>
          </p:cNvPr>
          <p:cNvSpPr/>
          <p:nvPr/>
        </p:nvSpPr>
        <p:spPr>
          <a:xfrm>
            <a:off x="10061151" y="2512655"/>
            <a:ext cx="1884573" cy="2903615"/>
          </a:xfrm>
          <a:prstGeom prst="rect">
            <a:avLst/>
          </a:prstGeom>
        </p:spPr>
        <p:txBody>
          <a:bodyPr wrap="square" lIns="0" tIns="0" rIns="0" bIns="0" anchor="t">
            <a:spAutoFit/>
          </a:bodyPr>
          <a:lstStyle/>
          <a:p>
            <a:pPr marL="285750" indent="-285750">
              <a:lnSpc>
                <a:spcPts val="1900"/>
              </a:lnSpc>
              <a:buFont typeface="Arial" panose="020B0604020202020204" pitchFamily="34" charset="0"/>
              <a:buChar char="•"/>
            </a:pPr>
            <a:r>
              <a:rPr lang="en-US" sz="1400" dirty="0">
                <a:solidFill>
                  <a:schemeClr val="bg1"/>
                </a:solidFill>
                <a:cs typeface="Segoe UI" panose="020B0502040204020203" pitchFamily="34" charset="0"/>
              </a:rPr>
              <a:t>Time series analysis is used to analyze the data collected over the period of 7 months to identify the monthly Investment in the top 3 districts of Telangana and awareness of incentives across districts.</a:t>
            </a:r>
          </a:p>
        </p:txBody>
      </p:sp>
      <p:pic>
        <p:nvPicPr>
          <p:cNvPr id="23" name="Picture 22">
            <a:extLst>
              <a:ext uri="{FF2B5EF4-FFF2-40B4-BE49-F238E27FC236}">
                <a16:creationId xmlns:a16="http://schemas.microsoft.com/office/drawing/2014/main" id="{2DCA4E27-6A7E-84C1-F713-DBF087AD7819}"/>
              </a:ext>
            </a:extLst>
          </p:cNvPr>
          <p:cNvPicPr>
            <a:picLocks noChangeAspect="1"/>
          </p:cNvPicPr>
          <p:nvPr/>
        </p:nvPicPr>
        <p:blipFill>
          <a:blip r:embed="rId3"/>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8BD75FB2-E9AB-4D61-F3EB-810B8A493516}"/>
              </a:ext>
            </a:extLst>
          </p:cNvPr>
          <p:cNvSpPr>
            <a:spLocks noGrp="1"/>
          </p:cNvSpPr>
          <p:nvPr>
            <p:ph type="sldNum" sz="quarter" idx="12"/>
          </p:nvPr>
        </p:nvSpPr>
        <p:spPr/>
        <p:txBody>
          <a:bodyPr/>
          <a:lstStyle/>
          <a:p>
            <a:fld id="{06FEDF93-2BFD-41CA-ABC7-B039102F3792}" type="slidenum">
              <a:rPr lang="en-US" smtClean="0"/>
              <a:t>4</a:t>
            </a:fld>
            <a:endParaRPr lang="en-US" dirty="0"/>
          </a:p>
        </p:txBody>
      </p:sp>
    </p:spTree>
    <p:extLst>
      <p:ext uri="{BB962C8B-B14F-4D97-AF65-F5344CB8AC3E}">
        <p14:creationId xmlns:p14="http://schemas.microsoft.com/office/powerpoint/2010/main" val="1353966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7B8A1-0758-C518-AD2B-4A5AB797A38A}"/>
            </a:ext>
          </a:extLst>
        </p:cNvPr>
        <p:cNvGrpSpPr/>
        <p:nvPr/>
      </p:nvGrpSpPr>
      <p:grpSpPr>
        <a:xfrm>
          <a:off x="0" y="0"/>
          <a:ext cx="0" cy="0"/>
          <a:chOff x="0" y="0"/>
          <a:chExt cx="0" cy="0"/>
        </a:xfrm>
      </p:grpSpPr>
      <p:sp>
        <p:nvSpPr>
          <p:cNvPr id="7" name="Title 6" hidden="1">
            <a:extLst>
              <a:ext uri="{FF2B5EF4-FFF2-40B4-BE49-F238E27FC236}">
                <a16:creationId xmlns:a16="http://schemas.microsoft.com/office/drawing/2014/main" id="{ABC7E5C1-7840-3E58-5656-F35363F8AF47}"/>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2" name="Straight Connector 1">
            <a:extLst>
              <a:ext uri="{FF2B5EF4-FFF2-40B4-BE49-F238E27FC236}">
                <a16:creationId xmlns:a16="http://schemas.microsoft.com/office/drawing/2014/main" id="{EB66FC65-756E-5118-7E1F-C09769DB0C91}"/>
              </a:ext>
              <a:ext uri="{C183D7F6-B498-43B3-948B-1728B52AA6E4}">
                <adec:decorative xmlns:adec="http://schemas.microsoft.com/office/drawing/2017/decorative" val="1"/>
              </a:ext>
            </a:extLst>
          </p:cNvPr>
          <p:cNvCxnSpPr>
            <a:cxnSpLocks/>
          </p:cNvCxnSpPr>
          <p:nvPr/>
        </p:nvCxnSpPr>
        <p:spPr>
          <a:xfrm>
            <a:off x="8522563" y="842495"/>
            <a:ext cx="366943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5D4F223D-9059-FF6F-E0B1-CAB456B2B7E8}"/>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Low exports despite high investments received in some areas.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5" name="Straight Connector 4">
            <a:extLst>
              <a:ext uri="{FF2B5EF4-FFF2-40B4-BE49-F238E27FC236}">
                <a16:creationId xmlns:a16="http://schemas.microsoft.com/office/drawing/2014/main" id="{EAC4C53B-2D1F-0EA0-BB66-A0111DE91AFE}"/>
              </a:ext>
              <a:ext uri="{C183D7F6-B498-43B3-948B-1728B52AA6E4}">
                <adec:decorative xmlns:adec="http://schemas.microsoft.com/office/drawing/2017/decorative" val="1"/>
              </a:ext>
            </a:extLst>
          </p:cNvPr>
          <p:cNvCxnSpPr>
            <a:cxnSpLocks/>
          </p:cNvCxnSpPr>
          <p:nvPr/>
        </p:nvCxnSpPr>
        <p:spPr>
          <a:xfrm>
            <a:off x="0" y="842495"/>
            <a:ext cx="3568823"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88638313-48A0-721C-6886-3FE502FF72DA}"/>
              </a:ext>
            </a:extLst>
          </p:cNvPr>
          <p:cNvSpPr/>
          <p:nvPr/>
        </p:nvSpPr>
        <p:spPr>
          <a:xfrm>
            <a:off x="351558" y="1171325"/>
            <a:ext cx="5332686" cy="2185214"/>
          </a:xfrm>
          <a:prstGeom prst="rect">
            <a:avLst/>
          </a:prstGeom>
        </p:spPr>
        <p:txBody>
          <a:bodyPr wrap="square" lIns="0" tIns="0" rIns="0" bIns="0" anchor="t">
            <a:spAutoFit/>
          </a:bodyPr>
          <a:lstStyle/>
          <a:p>
            <a:pPr marL="171450" indent="-171450">
              <a:spcBef>
                <a:spcPts val="1200"/>
              </a:spcBef>
              <a:buClr>
                <a:schemeClr val="tx2"/>
              </a:buClr>
              <a:buFont typeface="Segoe UI Light" panose="020B0502040204020203" pitchFamily="34" charset="0"/>
              <a:buChar char="›"/>
            </a:pPr>
            <a:r>
              <a:rPr lang="en-US" sz="1400" dirty="0" err="1">
                <a:solidFill>
                  <a:schemeClr val="tx1">
                    <a:lumMod val="75000"/>
                    <a:lumOff val="25000"/>
                  </a:schemeClr>
                </a:solidFill>
                <a:cs typeface="Segoe UI" panose="020B0502040204020203" pitchFamily="34" charset="0"/>
              </a:rPr>
              <a:t>Medchal</a:t>
            </a:r>
            <a:r>
              <a:rPr lang="en-US" sz="1400" dirty="0">
                <a:solidFill>
                  <a:schemeClr val="tx1">
                    <a:lumMod val="75000"/>
                    <a:lumOff val="25000"/>
                  </a:schemeClr>
                </a:solidFill>
                <a:cs typeface="Segoe UI" panose="020B0502040204020203" pitchFamily="34" charset="0"/>
              </a:rPr>
              <a:t> and Sanga Reddy are the only two districts that have exports. The remaining districts, despite having investments, do not have exports.</a:t>
            </a:r>
          </a:p>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cs typeface="Segoe UI" panose="020B0502040204020203" pitchFamily="34" charset="0"/>
              </a:rPr>
              <a:t>This table gives the descriptive statistics of investments along with the export ratio. (%).</a:t>
            </a:r>
          </a:p>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cs typeface="Segoe UI" panose="020B0502040204020203" pitchFamily="34" charset="0"/>
              </a:rPr>
              <a:t>The combination chart provides a single visualization that combines two or more different chart types.</a:t>
            </a:r>
          </a:p>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cs typeface="Segoe UI" panose="020B0502040204020203" pitchFamily="34" charset="0"/>
              </a:rPr>
              <a:t>The combination chart is plotted with investment and export ratio.</a:t>
            </a:r>
          </a:p>
        </p:txBody>
      </p:sp>
      <p:pic>
        <p:nvPicPr>
          <p:cNvPr id="6" name="Picture 5">
            <a:extLst>
              <a:ext uri="{FF2B5EF4-FFF2-40B4-BE49-F238E27FC236}">
                <a16:creationId xmlns:a16="http://schemas.microsoft.com/office/drawing/2014/main" id="{8264E260-CEBB-DA6C-763F-924358F793A3}"/>
              </a:ext>
            </a:extLst>
          </p:cNvPr>
          <p:cNvPicPr>
            <a:picLocks noChangeAspect="1"/>
          </p:cNvPicPr>
          <p:nvPr/>
        </p:nvPicPr>
        <p:blipFill>
          <a:blip r:embed="rId3"/>
          <a:srcRect b="1317"/>
          <a:stretch>
            <a:fillRect/>
          </a:stretch>
        </p:blipFill>
        <p:spPr>
          <a:xfrm>
            <a:off x="6207651" y="653850"/>
            <a:ext cx="5232342" cy="3031739"/>
          </a:xfrm>
          <a:prstGeom prst="rect">
            <a:avLst/>
          </a:prstGeom>
        </p:spPr>
      </p:pic>
      <p:pic>
        <p:nvPicPr>
          <p:cNvPr id="9" name="Picture 8">
            <a:extLst>
              <a:ext uri="{FF2B5EF4-FFF2-40B4-BE49-F238E27FC236}">
                <a16:creationId xmlns:a16="http://schemas.microsoft.com/office/drawing/2014/main" id="{86ED44A5-61FE-952B-206A-E06789DD6DB7}"/>
              </a:ext>
            </a:extLst>
          </p:cNvPr>
          <p:cNvPicPr>
            <a:picLocks noChangeAspect="1"/>
          </p:cNvPicPr>
          <p:nvPr/>
        </p:nvPicPr>
        <p:blipFill>
          <a:blip r:embed="rId4"/>
          <a:srcRect t="1323"/>
          <a:stretch>
            <a:fillRect/>
          </a:stretch>
        </p:blipFill>
        <p:spPr>
          <a:xfrm>
            <a:off x="6177260" y="3635760"/>
            <a:ext cx="5293125" cy="3031740"/>
          </a:xfrm>
          <a:prstGeom prst="rect">
            <a:avLst/>
          </a:prstGeom>
        </p:spPr>
      </p:pic>
      <p:pic>
        <p:nvPicPr>
          <p:cNvPr id="11" name="Picture 10">
            <a:extLst>
              <a:ext uri="{FF2B5EF4-FFF2-40B4-BE49-F238E27FC236}">
                <a16:creationId xmlns:a16="http://schemas.microsoft.com/office/drawing/2014/main" id="{0CE78EC6-9384-935F-077E-E93FC77AF6C0}"/>
              </a:ext>
            </a:extLst>
          </p:cNvPr>
          <p:cNvPicPr>
            <a:picLocks noChangeAspect="1"/>
          </p:cNvPicPr>
          <p:nvPr/>
        </p:nvPicPr>
        <p:blipFill>
          <a:blip r:embed="rId5"/>
          <a:stretch>
            <a:fillRect/>
          </a:stretch>
        </p:blipFill>
        <p:spPr>
          <a:xfrm>
            <a:off x="351558" y="3792469"/>
            <a:ext cx="5687013" cy="2875031"/>
          </a:xfrm>
          <a:prstGeom prst="rect">
            <a:avLst/>
          </a:prstGeom>
        </p:spPr>
      </p:pic>
      <p:sp>
        <p:nvSpPr>
          <p:cNvPr id="3" name="Slide Number Placeholder 2">
            <a:extLst>
              <a:ext uri="{FF2B5EF4-FFF2-40B4-BE49-F238E27FC236}">
                <a16:creationId xmlns:a16="http://schemas.microsoft.com/office/drawing/2014/main" id="{95EE35CD-D174-F871-4599-F1BC5704516D}"/>
              </a:ext>
            </a:extLst>
          </p:cNvPr>
          <p:cNvSpPr>
            <a:spLocks noGrp="1"/>
          </p:cNvSpPr>
          <p:nvPr>
            <p:ph type="sldNum" sz="quarter" idx="12"/>
          </p:nvPr>
        </p:nvSpPr>
        <p:spPr/>
        <p:txBody>
          <a:bodyPr/>
          <a:lstStyle/>
          <a:p>
            <a:fld id="{06FEDF93-2BFD-41CA-ABC7-B039102F3792}" type="slidenum">
              <a:rPr lang="en-US" smtClean="0"/>
              <a:t>5</a:t>
            </a:fld>
            <a:endParaRPr lang="en-US" dirty="0"/>
          </a:p>
        </p:txBody>
      </p:sp>
    </p:spTree>
    <p:extLst>
      <p:ext uri="{BB962C8B-B14F-4D97-AF65-F5344CB8AC3E}">
        <p14:creationId xmlns:p14="http://schemas.microsoft.com/office/powerpoint/2010/main" val="675319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AA3DA-A0A8-B2DE-0AE9-D20892548FAD}"/>
            </a:ext>
          </a:extLst>
        </p:cNvPr>
        <p:cNvGrpSpPr/>
        <p:nvPr/>
      </p:nvGrpSpPr>
      <p:grpSpPr>
        <a:xfrm>
          <a:off x="0" y="0"/>
          <a:ext cx="0" cy="0"/>
          <a:chOff x="0" y="0"/>
          <a:chExt cx="0" cy="0"/>
        </a:xfrm>
      </p:grpSpPr>
      <p:sp>
        <p:nvSpPr>
          <p:cNvPr id="7" name="Title 6" hidden="1">
            <a:extLst>
              <a:ext uri="{FF2B5EF4-FFF2-40B4-BE49-F238E27FC236}">
                <a16:creationId xmlns:a16="http://schemas.microsoft.com/office/drawing/2014/main" id="{A70BDE79-8341-3038-B892-AB3B6D55C92F}"/>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2" name="Straight Connector 1">
            <a:extLst>
              <a:ext uri="{FF2B5EF4-FFF2-40B4-BE49-F238E27FC236}">
                <a16:creationId xmlns:a16="http://schemas.microsoft.com/office/drawing/2014/main" id="{A71B39E1-D07D-67FA-A5CF-4A2086D28C39}"/>
              </a:ext>
              <a:ext uri="{C183D7F6-B498-43B3-948B-1728B52AA6E4}">
                <adec:decorative xmlns:adec="http://schemas.microsoft.com/office/drawing/2017/decorative" val="1"/>
              </a:ext>
            </a:extLst>
          </p:cNvPr>
          <p:cNvCxnSpPr>
            <a:cxnSpLocks/>
          </p:cNvCxnSpPr>
          <p:nvPr/>
        </p:nvCxnSpPr>
        <p:spPr>
          <a:xfrm>
            <a:off x="8522563" y="842495"/>
            <a:ext cx="366943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7703D45E-225B-10C2-7168-32688E4E56F7}"/>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Low exports despite high investments received in some areas.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5" name="Straight Connector 4">
            <a:extLst>
              <a:ext uri="{FF2B5EF4-FFF2-40B4-BE49-F238E27FC236}">
                <a16:creationId xmlns:a16="http://schemas.microsoft.com/office/drawing/2014/main" id="{C4343607-93FC-0DA5-9511-7DCAF617DF6E}"/>
              </a:ext>
              <a:ext uri="{C183D7F6-B498-43B3-948B-1728B52AA6E4}">
                <adec:decorative xmlns:adec="http://schemas.microsoft.com/office/drawing/2017/decorative" val="1"/>
              </a:ext>
            </a:extLst>
          </p:cNvPr>
          <p:cNvCxnSpPr>
            <a:cxnSpLocks/>
          </p:cNvCxnSpPr>
          <p:nvPr/>
        </p:nvCxnSpPr>
        <p:spPr>
          <a:xfrm>
            <a:off x="0" y="842495"/>
            <a:ext cx="3568823"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F38ED08D-F4A4-3AE9-F169-9E145DB02BFE}"/>
              </a:ext>
            </a:extLst>
          </p:cNvPr>
          <p:cNvPicPr>
            <a:picLocks noChangeAspect="1"/>
          </p:cNvPicPr>
          <p:nvPr/>
        </p:nvPicPr>
        <p:blipFill>
          <a:blip r:embed="rId3"/>
          <a:stretch>
            <a:fillRect/>
          </a:stretch>
        </p:blipFill>
        <p:spPr>
          <a:xfrm>
            <a:off x="337349" y="1038423"/>
            <a:ext cx="5514762" cy="3262396"/>
          </a:xfrm>
          <a:prstGeom prst="rect">
            <a:avLst/>
          </a:prstGeom>
        </p:spPr>
      </p:pic>
      <p:sp>
        <p:nvSpPr>
          <p:cNvPr id="17" name="Rectangle 16">
            <a:extLst>
              <a:ext uri="{FF2B5EF4-FFF2-40B4-BE49-F238E27FC236}">
                <a16:creationId xmlns:a16="http://schemas.microsoft.com/office/drawing/2014/main" id="{0B8A72B8-3E62-32CF-2841-CF9F64C57D45}"/>
              </a:ext>
            </a:extLst>
          </p:cNvPr>
          <p:cNvSpPr/>
          <p:nvPr/>
        </p:nvSpPr>
        <p:spPr>
          <a:xfrm>
            <a:off x="519425" y="4398477"/>
            <a:ext cx="5332686" cy="2185214"/>
          </a:xfrm>
          <a:prstGeom prst="rect">
            <a:avLst/>
          </a:prstGeom>
        </p:spPr>
        <p:txBody>
          <a:bodyPr wrap="square" lIns="0" tIns="0" rIns="0" bIns="0" anchor="t">
            <a:spAutoFit/>
          </a:bodyPr>
          <a:lstStyle/>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cs typeface="Segoe UI" panose="020B0502040204020203" pitchFamily="34" charset="0"/>
              </a:rPr>
              <a:t>Regression analysis was performed to plot the relationship between Investment and export ratio. </a:t>
            </a:r>
          </a:p>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cs typeface="Segoe UI" panose="020B0502040204020203" pitchFamily="34" charset="0"/>
              </a:rPr>
              <a:t>The blue line is the regression line is straight.</a:t>
            </a:r>
          </a:p>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cs typeface="Segoe UI" panose="020B0502040204020203" pitchFamily="34" charset="0"/>
              </a:rPr>
              <a:t>It indicates that with an increase in Investment, the export ratio also increases. The correlation (0.68) indicates a moderately strong positive correlation between Investment and the export ratio. </a:t>
            </a:r>
          </a:p>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cs typeface="Segoe UI" panose="020B0502040204020203" pitchFamily="34" charset="0"/>
              </a:rPr>
              <a:t>Regression Analysis showing that, with the increase in the investment, exports increase. It contradicts the statement.</a:t>
            </a:r>
          </a:p>
        </p:txBody>
      </p:sp>
      <p:sp>
        <p:nvSpPr>
          <p:cNvPr id="18" name="Rectangle 17">
            <a:extLst>
              <a:ext uri="{FF2B5EF4-FFF2-40B4-BE49-F238E27FC236}">
                <a16:creationId xmlns:a16="http://schemas.microsoft.com/office/drawing/2014/main" id="{35B075E8-A830-B80C-1F79-EA37321D11A5}"/>
              </a:ext>
            </a:extLst>
          </p:cNvPr>
          <p:cNvSpPr/>
          <p:nvPr/>
        </p:nvSpPr>
        <p:spPr>
          <a:xfrm>
            <a:off x="6339891" y="997622"/>
            <a:ext cx="5332686" cy="2923877"/>
          </a:xfrm>
          <a:prstGeom prst="rect">
            <a:avLst/>
          </a:prstGeom>
        </p:spPr>
        <p:txBody>
          <a:bodyPr wrap="square" lIns="0" tIns="0" rIns="0" bIns="0" anchor="t">
            <a:spAutoFit/>
          </a:bodyPr>
          <a:lstStyle/>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cs typeface="Segoe UI" panose="020B0502040204020203" pitchFamily="34" charset="0"/>
              </a:rPr>
              <a:t>Further analysis has been done based on Industry Category.</a:t>
            </a:r>
          </a:p>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cs typeface="Segoe UI" panose="020B0502040204020203" pitchFamily="34" charset="0"/>
              </a:rPr>
              <a:t>In the Industry Category, there are four types.</a:t>
            </a:r>
          </a:p>
          <a:p>
            <a:pPr lvl="1">
              <a:spcBef>
                <a:spcPts val="1200"/>
              </a:spcBef>
              <a:buClr>
                <a:schemeClr val="tx2"/>
              </a:buClr>
            </a:pPr>
            <a:r>
              <a:rPr lang="en-US" sz="1400" b="1" dirty="0">
                <a:solidFill>
                  <a:schemeClr val="tx1">
                    <a:lumMod val="75000"/>
                    <a:lumOff val="25000"/>
                  </a:schemeClr>
                </a:solidFill>
                <a:cs typeface="Segoe UI" panose="020B0502040204020203" pitchFamily="34" charset="0"/>
              </a:rPr>
              <a:t>Micro | Small |  Medium | Mega</a:t>
            </a:r>
          </a:p>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cs typeface="Segoe UI" panose="020B0502040204020203" pitchFamily="34" charset="0"/>
              </a:rPr>
              <a:t>Based on this analysis, a decision has been made.</a:t>
            </a:r>
          </a:p>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cs typeface="Segoe UI" panose="020B0502040204020203" pitchFamily="34" charset="0"/>
              </a:rPr>
              <a:t>It is observed that most of the investments went to Small and Micro industries. Medium and Mega industries received a very small amount. Small and Micro focus on the domestic markets.</a:t>
            </a:r>
          </a:p>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cs typeface="Segoe UI" panose="020B0502040204020203" pitchFamily="34" charset="0"/>
              </a:rPr>
              <a:t>Due to very low investment in the Mega and Medium industries, the exports are marginal as the Mega and Medium industries focus on export markets. </a:t>
            </a:r>
          </a:p>
        </p:txBody>
      </p:sp>
      <p:grpSp>
        <p:nvGrpSpPr>
          <p:cNvPr id="38" name="Group 37">
            <a:extLst>
              <a:ext uri="{FF2B5EF4-FFF2-40B4-BE49-F238E27FC236}">
                <a16:creationId xmlns:a16="http://schemas.microsoft.com/office/drawing/2014/main" id="{53E16EE3-8F57-9565-51F3-0F2D38134EF2}"/>
              </a:ext>
            </a:extLst>
          </p:cNvPr>
          <p:cNvGrpSpPr/>
          <p:nvPr/>
        </p:nvGrpSpPr>
        <p:grpSpPr>
          <a:xfrm>
            <a:off x="6096000" y="3995255"/>
            <a:ext cx="5867400" cy="2588436"/>
            <a:chOff x="6096000" y="3448976"/>
            <a:chExt cx="5867400" cy="2588436"/>
          </a:xfrm>
        </p:grpSpPr>
        <p:grpSp>
          <p:nvGrpSpPr>
            <p:cNvPr id="31" name="Group 30">
              <a:extLst>
                <a:ext uri="{FF2B5EF4-FFF2-40B4-BE49-F238E27FC236}">
                  <a16:creationId xmlns:a16="http://schemas.microsoft.com/office/drawing/2014/main" id="{6EC6C6A9-434C-942B-E43F-F856CB68ABAA}"/>
                </a:ext>
              </a:extLst>
            </p:cNvPr>
            <p:cNvGrpSpPr/>
            <p:nvPr/>
          </p:nvGrpSpPr>
          <p:grpSpPr>
            <a:xfrm>
              <a:off x="6096000" y="3491207"/>
              <a:ext cx="5867400" cy="2546205"/>
              <a:chOff x="6096000" y="3491207"/>
              <a:chExt cx="5867400" cy="2546205"/>
            </a:xfrm>
          </p:grpSpPr>
          <p:pic>
            <p:nvPicPr>
              <p:cNvPr id="26" name="Picture 25">
                <a:extLst>
                  <a:ext uri="{FF2B5EF4-FFF2-40B4-BE49-F238E27FC236}">
                    <a16:creationId xmlns:a16="http://schemas.microsoft.com/office/drawing/2014/main" id="{8F2A5D73-D8D4-14EE-CD54-9B5FC6AC625C}"/>
                  </a:ext>
                </a:extLst>
              </p:cNvPr>
              <p:cNvPicPr>
                <a:picLocks noChangeAspect="1"/>
              </p:cNvPicPr>
              <p:nvPr/>
            </p:nvPicPr>
            <p:blipFill>
              <a:blip r:embed="rId4"/>
              <a:srcRect b="48154"/>
              <a:stretch>
                <a:fillRect/>
              </a:stretch>
            </p:blipFill>
            <p:spPr>
              <a:xfrm>
                <a:off x="6096000" y="3491207"/>
                <a:ext cx="2905956" cy="2457989"/>
              </a:xfrm>
              <a:prstGeom prst="rect">
                <a:avLst/>
              </a:prstGeom>
            </p:spPr>
          </p:pic>
          <p:pic>
            <p:nvPicPr>
              <p:cNvPr id="27" name="Picture 26">
                <a:extLst>
                  <a:ext uri="{FF2B5EF4-FFF2-40B4-BE49-F238E27FC236}">
                    <a16:creationId xmlns:a16="http://schemas.microsoft.com/office/drawing/2014/main" id="{61058BDA-C6F5-2211-F9BC-FAFAEF5D731F}"/>
                  </a:ext>
                </a:extLst>
              </p:cNvPr>
              <p:cNvPicPr>
                <a:picLocks noChangeAspect="1"/>
              </p:cNvPicPr>
              <p:nvPr/>
            </p:nvPicPr>
            <p:blipFill>
              <a:blip r:embed="rId4"/>
              <a:srcRect t="51470"/>
              <a:stretch>
                <a:fillRect/>
              </a:stretch>
            </p:blipFill>
            <p:spPr>
              <a:xfrm>
                <a:off x="9010996" y="3699869"/>
                <a:ext cx="2952404" cy="2337543"/>
              </a:xfrm>
              <a:prstGeom prst="rect">
                <a:avLst/>
              </a:prstGeom>
            </p:spPr>
          </p:pic>
        </p:grpSp>
        <p:pic>
          <p:nvPicPr>
            <p:cNvPr id="30" name="Picture 29">
              <a:extLst>
                <a:ext uri="{FF2B5EF4-FFF2-40B4-BE49-F238E27FC236}">
                  <a16:creationId xmlns:a16="http://schemas.microsoft.com/office/drawing/2014/main" id="{78C09558-0878-7154-231D-CFE45914ED1A}"/>
                </a:ext>
              </a:extLst>
            </p:cNvPr>
            <p:cNvPicPr>
              <a:picLocks noChangeAspect="1"/>
            </p:cNvPicPr>
            <p:nvPr/>
          </p:nvPicPr>
          <p:blipFill>
            <a:blip r:embed="rId5"/>
            <a:stretch>
              <a:fillRect/>
            </a:stretch>
          </p:blipFill>
          <p:spPr>
            <a:xfrm>
              <a:off x="9028752" y="3448976"/>
              <a:ext cx="2905957" cy="277183"/>
            </a:xfrm>
            <a:prstGeom prst="rect">
              <a:avLst/>
            </a:prstGeom>
          </p:spPr>
        </p:pic>
      </p:grpSp>
      <p:sp>
        <p:nvSpPr>
          <p:cNvPr id="3" name="Slide Number Placeholder 2">
            <a:extLst>
              <a:ext uri="{FF2B5EF4-FFF2-40B4-BE49-F238E27FC236}">
                <a16:creationId xmlns:a16="http://schemas.microsoft.com/office/drawing/2014/main" id="{1F8AF292-23C6-EF26-40A0-8A2E504D27C8}"/>
              </a:ext>
            </a:extLst>
          </p:cNvPr>
          <p:cNvSpPr>
            <a:spLocks noGrp="1"/>
          </p:cNvSpPr>
          <p:nvPr>
            <p:ph type="sldNum" sz="quarter" idx="12"/>
          </p:nvPr>
        </p:nvSpPr>
        <p:spPr/>
        <p:txBody>
          <a:bodyPr/>
          <a:lstStyle/>
          <a:p>
            <a:fld id="{06FEDF93-2BFD-41CA-ABC7-B039102F3792}" type="slidenum">
              <a:rPr lang="en-US" smtClean="0"/>
              <a:t>6</a:t>
            </a:fld>
            <a:endParaRPr lang="en-US" dirty="0"/>
          </a:p>
        </p:txBody>
      </p:sp>
    </p:spTree>
    <p:extLst>
      <p:ext uri="{BB962C8B-B14F-4D97-AF65-F5344CB8AC3E}">
        <p14:creationId xmlns:p14="http://schemas.microsoft.com/office/powerpoint/2010/main" val="1237995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A5E80-898D-1923-6AB3-45680E978653}"/>
            </a:ext>
          </a:extLst>
        </p:cNvPr>
        <p:cNvGrpSpPr/>
        <p:nvPr/>
      </p:nvGrpSpPr>
      <p:grpSpPr>
        <a:xfrm>
          <a:off x="0" y="0"/>
          <a:ext cx="0" cy="0"/>
          <a:chOff x="0" y="0"/>
          <a:chExt cx="0" cy="0"/>
        </a:xfrm>
      </p:grpSpPr>
      <p:sp>
        <p:nvSpPr>
          <p:cNvPr id="7" name="Title 6" hidden="1">
            <a:extLst>
              <a:ext uri="{FF2B5EF4-FFF2-40B4-BE49-F238E27FC236}">
                <a16:creationId xmlns:a16="http://schemas.microsoft.com/office/drawing/2014/main" id="{4B013DB6-5692-C4E2-7ACB-7A02C058E4F5}"/>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2" name="Straight Connector 1">
            <a:extLst>
              <a:ext uri="{FF2B5EF4-FFF2-40B4-BE49-F238E27FC236}">
                <a16:creationId xmlns:a16="http://schemas.microsoft.com/office/drawing/2014/main" id="{A09ACC3A-284D-E55B-899E-6E208C71FB85}"/>
              </a:ext>
              <a:ext uri="{C183D7F6-B498-43B3-948B-1728B52AA6E4}">
                <adec:decorative xmlns:adec="http://schemas.microsoft.com/office/drawing/2017/decorative" val="1"/>
              </a:ext>
            </a:extLst>
          </p:cNvPr>
          <p:cNvCxnSpPr>
            <a:cxnSpLocks/>
          </p:cNvCxnSpPr>
          <p:nvPr/>
        </p:nvCxnSpPr>
        <p:spPr>
          <a:xfrm>
            <a:off x="8522563" y="842495"/>
            <a:ext cx="366943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B59D72FF-EE75-39CF-67E0-D427B9CD32B6}"/>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Investment concentrated in only few districts. (3 of 31)</a:t>
            </a:r>
          </a:p>
        </p:txBody>
      </p:sp>
      <p:cxnSp>
        <p:nvCxnSpPr>
          <p:cNvPr id="5" name="Straight Connector 4">
            <a:extLst>
              <a:ext uri="{FF2B5EF4-FFF2-40B4-BE49-F238E27FC236}">
                <a16:creationId xmlns:a16="http://schemas.microsoft.com/office/drawing/2014/main" id="{ECA8A35A-F5B5-1D8D-7420-105B70DA4932}"/>
              </a:ext>
              <a:ext uri="{C183D7F6-B498-43B3-948B-1728B52AA6E4}">
                <adec:decorative xmlns:adec="http://schemas.microsoft.com/office/drawing/2017/decorative" val="1"/>
              </a:ext>
            </a:extLst>
          </p:cNvPr>
          <p:cNvCxnSpPr>
            <a:cxnSpLocks/>
          </p:cNvCxnSpPr>
          <p:nvPr/>
        </p:nvCxnSpPr>
        <p:spPr>
          <a:xfrm>
            <a:off x="0" y="842495"/>
            <a:ext cx="3568823"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7FFCE999-0258-97DF-744E-9692B4795F70}"/>
              </a:ext>
            </a:extLst>
          </p:cNvPr>
          <p:cNvPicPr>
            <a:picLocks noChangeAspect="1"/>
          </p:cNvPicPr>
          <p:nvPr/>
        </p:nvPicPr>
        <p:blipFill>
          <a:blip r:embed="rId3"/>
          <a:srcRect l="1997" r="1096"/>
          <a:stretch>
            <a:fillRect/>
          </a:stretch>
        </p:blipFill>
        <p:spPr>
          <a:xfrm>
            <a:off x="310718" y="1106693"/>
            <a:ext cx="4563123" cy="3439230"/>
          </a:xfrm>
          <a:prstGeom prst="rect">
            <a:avLst/>
          </a:prstGeom>
        </p:spPr>
      </p:pic>
      <p:sp>
        <p:nvSpPr>
          <p:cNvPr id="8" name="Rectangle 7">
            <a:extLst>
              <a:ext uri="{FF2B5EF4-FFF2-40B4-BE49-F238E27FC236}">
                <a16:creationId xmlns:a16="http://schemas.microsoft.com/office/drawing/2014/main" id="{707AF444-6212-70F2-955F-0578FD3DB849}"/>
              </a:ext>
            </a:extLst>
          </p:cNvPr>
          <p:cNvSpPr/>
          <p:nvPr/>
        </p:nvSpPr>
        <p:spPr>
          <a:xfrm>
            <a:off x="310718" y="4576291"/>
            <a:ext cx="5332686" cy="1384995"/>
          </a:xfrm>
          <a:prstGeom prst="rect">
            <a:avLst/>
          </a:prstGeom>
        </p:spPr>
        <p:txBody>
          <a:bodyPr wrap="square" lIns="0" tIns="0" rIns="0" bIns="0" anchor="t">
            <a:spAutoFit/>
          </a:bodyPr>
          <a:lstStyle/>
          <a:p>
            <a:pPr marL="171450" indent="-171450">
              <a:spcBef>
                <a:spcPts val="1200"/>
              </a:spcBef>
              <a:buClr>
                <a:schemeClr val="tx2"/>
              </a:buClr>
              <a:buFont typeface="Segoe UI Light" panose="020B0502040204020203" pitchFamily="34" charset="0"/>
              <a:buChar char="›"/>
            </a:pPr>
            <a:r>
              <a:rPr lang="en-US" sz="1400" dirty="0">
                <a:latin typeface="Segoe UI Light (Body)"/>
              </a:rPr>
              <a:t>Time series analysis is a way of analyzing a sequence of data points collected over an interval of time.</a:t>
            </a:r>
          </a:p>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latin typeface="Segoe UI Light (Body)"/>
                <a:cs typeface="Segoe UI" panose="020B0502040204020203" pitchFamily="34" charset="0"/>
              </a:rPr>
              <a:t>The above plotted chart is on multiple time series.</a:t>
            </a:r>
          </a:p>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latin typeface="Segoe UI Light (Body)"/>
                <a:cs typeface="Segoe UI" panose="020B0502040204020203" pitchFamily="34" charset="0"/>
              </a:rPr>
              <a:t>The time series analysis clearly shows the majority of the investment concentration for the top 3 districts.</a:t>
            </a:r>
            <a:endParaRPr lang="en-US" sz="1100" dirty="0">
              <a:solidFill>
                <a:schemeClr val="tx1">
                  <a:lumMod val="75000"/>
                  <a:lumOff val="25000"/>
                </a:schemeClr>
              </a:solidFill>
              <a:latin typeface="Segoe UI Light (Body)"/>
              <a:cs typeface="Segoe UI" panose="020B0502040204020203" pitchFamily="34" charset="0"/>
            </a:endParaRPr>
          </a:p>
        </p:txBody>
      </p:sp>
      <p:pic>
        <p:nvPicPr>
          <p:cNvPr id="11" name="Picture 10">
            <a:extLst>
              <a:ext uri="{FF2B5EF4-FFF2-40B4-BE49-F238E27FC236}">
                <a16:creationId xmlns:a16="http://schemas.microsoft.com/office/drawing/2014/main" id="{A50565FB-DB75-23B0-42AB-5D9DC98298F8}"/>
              </a:ext>
            </a:extLst>
          </p:cNvPr>
          <p:cNvPicPr>
            <a:picLocks noChangeAspect="1"/>
          </p:cNvPicPr>
          <p:nvPr/>
        </p:nvPicPr>
        <p:blipFill>
          <a:blip r:embed="rId4"/>
          <a:stretch>
            <a:fillRect/>
          </a:stretch>
        </p:blipFill>
        <p:spPr>
          <a:xfrm>
            <a:off x="6806378" y="1199601"/>
            <a:ext cx="4505954" cy="2257740"/>
          </a:xfrm>
          <a:prstGeom prst="rect">
            <a:avLst/>
          </a:prstGeom>
        </p:spPr>
      </p:pic>
      <p:sp>
        <p:nvSpPr>
          <p:cNvPr id="12" name="Rectangle 11">
            <a:extLst>
              <a:ext uri="{FF2B5EF4-FFF2-40B4-BE49-F238E27FC236}">
                <a16:creationId xmlns:a16="http://schemas.microsoft.com/office/drawing/2014/main" id="{2132306C-31D5-D918-AF0D-7B70370D50AD}"/>
              </a:ext>
            </a:extLst>
          </p:cNvPr>
          <p:cNvSpPr/>
          <p:nvPr/>
        </p:nvSpPr>
        <p:spPr>
          <a:xfrm>
            <a:off x="6704120" y="3523936"/>
            <a:ext cx="5259280" cy="2831544"/>
          </a:xfrm>
          <a:prstGeom prst="rect">
            <a:avLst/>
          </a:prstGeom>
        </p:spPr>
        <p:txBody>
          <a:bodyPr wrap="square" lIns="0" tIns="0" rIns="0" bIns="0" anchor="t">
            <a:spAutoFit/>
          </a:bodyPr>
          <a:lstStyle/>
          <a:p>
            <a:pPr marL="171450" indent="-171450">
              <a:spcBef>
                <a:spcPts val="1200"/>
              </a:spcBef>
              <a:buClr>
                <a:schemeClr val="tx2"/>
              </a:buClr>
              <a:buFont typeface="Segoe UI Light" panose="020B0502040204020203" pitchFamily="34" charset="0"/>
              <a:buChar char="›"/>
            </a:pPr>
            <a:r>
              <a:rPr lang="en-US" sz="1400" dirty="0">
                <a:latin typeface="Segoe UI Light (Body)"/>
              </a:rPr>
              <a:t>The districts receiving the maximum amount of investment in the state are </a:t>
            </a:r>
            <a:r>
              <a:rPr lang="en-US" sz="1400" dirty="0" err="1">
                <a:latin typeface="Segoe UI Light (Body)"/>
              </a:rPr>
              <a:t>Medchal</a:t>
            </a:r>
            <a:r>
              <a:rPr lang="en-US" sz="1400" dirty="0">
                <a:latin typeface="Segoe UI Light (Body)"/>
              </a:rPr>
              <a:t>, </a:t>
            </a:r>
            <a:r>
              <a:rPr lang="en-US" sz="1400" dirty="0" err="1">
                <a:latin typeface="Segoe UI Light (Body)"/>
              </a:rPr>
              <a:t>Sangareddy</a:t>
            </a:r>
            <a:r>
              <a:rPr lang="en-US" sz="1400" dirty="0">
                <a:latin typeface="Segoe UI Light (Body)"/>
              </a:rPr>
              <a:t>, and </a:t>
            </a:r>
            <a:r>
              <a:rPr lang="en-US" sz="1400" dirty="0" err="1">
                <a:latin typeface="Segoe UI Light (Body)"/>
              </a:rPr>
              <a:t>Rangareddy</a:t>
            </a:r>
            <a:r>
              <a:rPr lang="en-US" sz="1400" dirty="0">
                <a:latin typeface="Segoe UI Light (Body)"/>
              </a:rPr>
              <a:t>..</a:t>
            </a:r>
          </a:p>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latin typeface="Segoe UI Light (Body)"/>
                <a:cs typeface="Segoe UI" panose="020B0502040204020203" pitchFamily="34" charset="0"/>
              </a:rPr>
              <a:t>From the analysis, most of the investments are given to these three districts. The Investments are not distributed evenly. </a:t>
            </a:r>
          </a:p>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latin typeface="Segoe UI Light (Body)"/>
                <a:cs typeface="Segoe UI" panose="020B0502040204020203" pitchFamily="34" charset="0"/>
              </a:rPr>
              <a:t>From the table. In September, the three districts account for more than 50 percent of the investment.</a:t>
            </a:r>
          </a:p>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latin typeface="Segoe UI Light (Body)"/>
                <a:cs typeface="Segoe UI" panose="020B0502040204020203" pitchFamily="34" charset="0"/>
              </a:rPr>
              <a:t>Investments are not evenly distributed among the districts. Unequal distributions lead to poor investment reception in a few districts, such as </a:t>
            </a:r>
            <a:r>
              <a:rPr lang="en-US" sz="1400" dirty="0"/>
              <a:t>Adilabad</a:t>
            </a:r>
            <a:r>
              <a:rPr lang="en-US" sz="1400" b="1" dirty="0"/>
              <a:t>,</a:t>
            </a:r>
            <a:r>
              <a:rPr lang="en-US" sz="1400" dirty="0"/>
              <a:t> Warangal, Hyderabad, and </a:t>
            </a:r>
            <a:r>
              <a:rPr lang="en-US" sz="1400" dirty="0" err="1"/>
              <a:t>Bhupalpally</a:t>
            </a:r>
            <a:r>
              <a:rPr lang="en-US" sz="1400" dirty="0"/>
              <a:t>. </a:t>
            </a:r>
            <a:r>
              <a:rPr lang="en-US" dirty="0"/>
              <a:t>	</a:t>
            </a:r>
          </a:p>
          <a:p>
            <a:pPr marL="171450" indent="-171450">
              <a:spcBef>
                <a:spcPts val="1200"/>
              </a:spcBef>
              <a:buClr>
                <a:schemeClr val="tx2"/>
              </a:buClr>
              <a:buFont typeface="Segoe UI Light" panose="020B0502040204020203" pitchFamily="34" charset="0"/>
              <a:buChar char="›"/>
            </a:pPr>
            <a:r>
              <a:rPr lang="en-US" sz="1400" dirty="0"/>
              <a:t>Unequal distribution dented the overall progress of the industries</a:t>
            </a:r>
            <a:endParaRPr lang="en-US" sz="1100" dirty="0">
              <a:solidFill>
                <a:schemeClr val="tx1">
                  <a:lumMod val="75000"/>
                  <a:lumOff val="25000"/>
                </a:schemeClr>
              </a:solidFill>
              <a:latin typeface="Segoe UI Light (Body)"/>
              <a:cs typeface="Segoe UI" panose="020B0502040204020203" pitchFamily="34" charset="0"/>
            </a:endParaRPr>
          </a:p>
        </p:txBody>
      </p:sp>
      <p:sp>
        <p:nvSpPr>
          <p:cNvPr id="3" name="Slide Number Placeholder 2">
            <a:extLst>
              <a:ext uri="{FF2B5EF4-FFF2-40B4-BE49-F238E27FC236}">
                <a16:creationId xmlns:a16="http://schemas.microsoft.com/office/drawing/2014/main" id="{1BD87A9D-0149-A91E-B1EF-9DA0F7125EBA}"/>
              </a:ext>
            </a:extLst>
          </p:cNvPr>
          <p:cNvSpPr>
            <a:spLocks noGrp="1"/>
          </p:cNvSpPr>
          <p:nvPr>
            <p:ph type="sldNum" sz="quarter" idx="12"/>
          </p:nvPr>
        </p:nvSpPr>
        <p:spPr/>
        <p:txBody>
          <a:bodyPr/>
          <a:lstStyle/>
          <a:p>
            <a:fld id="{06FEDF93-2BFD-41CA-ABC7-B039102F3792}" type="slidenum">
              <a:rPr lang="en-US" smtClean="0"/>
              <a:t>7</a:t>
            </a:fld>
            <a:endParaRPr lang="en-US" dirty="0"/>
          </a:p>
        </p:txBody>
      </p:sp>
    </p:spTree>
    <p:extLst>
      <p:ext uri="{BB962C8B-B14F-4D97-AF65-F5344CB8AC3E}">
        <p14:creationId xmlns:p14="http://schemas.microsoft.com/office/powerpoint/2010/main" val="1124981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461D3-3789-F312-123F-CE4B38BBEB6F}"/>
            </a:ext>
          </a:extLst>
        </p:cNvPr>
        <p:cNvGrpSpPr/>
        <p:nvPr/>
      </p:nvGrpSpPr>
      <p:grpSpPr>
        <a:xfrm>
          <a:off x="0" y="0"/>
          <a:ext cx="0" cy="0"/>
          <a:chOff x="0" y="0"/>
          <a:chExt cx="0" cy="0"/>
        </a:xfrm>
      </p:grpSpPr>
      <p:sp>
        <p:nvSpPr>
          <p:cNvPr id="7" name="Title 6" hidden="1">
            <a:extLst>
              <a:ext uri="{FF2B5EF4-FFF2-40B4-BE49-F238E27FC236}">
                <a16:creationId xmlns:a16="http://schemas.microsoft.com/office/drawing/2014/main" id="{1DF7F041-F3EE-37B1-3DC9-9D11F2BB8CFA}"/>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2" name="Straight Connector 1">
            <a:extLst>
              <a:ext uri="{FF2B5EF4-FFF2-40B4-BE49-F238E27FC236}">
                <a16:creationId xmlns:a16="http://schemas.microsoft.com/office/drawing/2014/main" id="{3D883C75-C42E-CDEE-6C08-0FE7CFAADDB3}"/>
              </a:ext>
              <a:ext uri="{C183D7F6-B498-43B3-948B-1728B52AA6E4}">
                <adec:decorative xmlns:adec="http://schemas.microsoft.com/office/drawing/2017/decorative" val="1"/>
              </a:ext>
            </a:extLst>
          </p:cNvPr>
          <p:cNvCxnSpPr>
            <a:cxnSpLocks/>
          </p:cNvCxnSpPr>
          <p:nvPr/>
        </p:nvCxnSpPr>
        <p:spPr>
          <a:xfrm>
            <a:off x="8522563" y="842495"/>
            <a:ext cx="366943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740ADFEF-13A7-1C99-2568-A0094D615616}"/>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Lack of awareness of government incentives.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5" name="Straight Connector 4">
            <a:extLst>
              <a:ext uri="{FF2B5EF4-FFF2-40B4-BE49-F238E27FC236}">
                <a16:creationId xmlns:a16="http://schemas.microsoft.com/office/drawing/2014/main" id="{CEC18016-1C97-BB9B-2EA5-2BB7F0444BBC}"/>
              </a:ext>
              <a:ext uri="{C183D7F6-B498-43B3-948B-1728B52AA6E4}">
                <adec:decorative xmlns:adec="http://schemas.microsoft.com/office/drawing/2017/decorative" val="1"/>
              </a:ext>
            </a:extLst>
          </p:cNvPr>
          <p:cNvCxnSpPr>
            <a:cxnSpLocks/>
          </p:cNvCxnSpPr>
          <p:nvPr/>
        </p:nvCxnSpPr>
        <p:spPr>
          <a:xfrm>
            <a:off x="0" y="842495"/>
            <a:ext cx="3568823"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C0970780-E44D-65D8-E7AC-942712A08B61}"/>
              </a:ext>
            </a:extLst>
          </p:cNvPr>
          <p:cNvPicPr>
            <a:picLocks noChangeAspect="1"/>
          </p:cNvPicPr>
          <p:nvPr/>
        </p:nvPicPr>
        <p:blipFill>
          <a:blip r:embed="rId3"/>
          <a:stretch>
            <a:fillRect/>
          </a:stretch>
        </p:blipFill>
        <p:spPr>
          <a:xfrm>
            <a:off x="228600" y="1040798"/>
            <a:ext cx="5493004" cy="3230290"/>
          </a:xfrm>
          <a:prstGeom prst="rect">
            <a:avLst/>
          </a:prstGeom>
        </p:spPr>
      </p:pic>
      <p:sp>
        <p:nvSpPr>
          <p:cNvPr id="8" name="Rectangle 7">
            <a:extLst>
              <a:ext uri="{FF2B5EF4-FFF2-40B4-BE49-F238E27FC236}">
                <a16:creationId xmlns:a16="http://schemas.microsoft.com/office/drawing/2014/main" id="{2110D81B-7D5F-E148-B9F0-7BA7E17597D6}"/>
              </a:ext>
            </a:extLst>
          </p:cNvPr>
          <p:cNvSpPr/>
          <p:nvPr/>
        </p:nvSpPr>
        <p:spPr>
          <a:xfrm>
            <a:off x="310718" y="4576291"/>
            <a:ext cx="5332686" cy="215444"/>
          </a:xfrm>
          <a:prstGeom prst="rect">
            <a:avLst/>
          </a:prstGeom>
        </p:spPr>
        <p:txBody>
          <a:bodyPr wrap="square" lIns="0" tIns="0" rIns="0" bIns="0" anchor="t">
            <a:spAutoFit/>
          </a:bodyPr>
          <a:lstStyle/>
          <a:p>
            <a:pPr marL="171450" indent="-171450">
              <a:spcBef>
                <a:spcPts val="1200"/>
              </a:spcBef>
              <a:buClr>
                <a:schemeClr val="tx2"/>
              </a:buClr>
              <a:buFont typeface="Segoe UI Light" panose="020B0502040204020203" pitchFamily="34" charset="0"/>
              <a:buChar char="›"/>
            </a:pPr>
            <a:r>
              <a:rPr lang="en-US" sz="1400" dirty="0">
                <a:latin typeface="Segoe UI Light (Body)"/>
              </a:rPr>
              <a:t>The Telangana Government provides incentives to industries.</a:t>
            </a:r>
          </a:p>
        </p:txBody>
      </p:sp>
      <p:pic>
        <p:nvPicPr>
          <p:cNvPr id="10" name="Picture 9">
            <a:extLst>
              <a:ext uri="{FF2B5EF4-FFF2-40B4-BE49-F238E27FC236}">
                <a16:creationId xmlns:a16="http://schemas.microsoft.com/office/drawing/2014/main" id="{0D8437B4-E5E3-ECD4-665C-90526A21339C}"/>
              </a:ext>
            </a:extLst>
          </p:cNvPr>
          <p:cNvPicPr>
            <a:picLocks noChangeAspect="1"/>
          </p:cNvPicPr>
          <p:nvPr/>
        </p:nvPicPr>
        <p:blipFill>
          <a:blip r:embed="rId4"/>
          <a:stretch>
            <a:fillRect/>
          </a:stretch>
        </p:blipFill>
        <p:spPr>
          <a:xfrm>
            <a:off x="7847202" y="1108140"/>
            <a:ext cx="3268518" cy="1689846"/>
          </a:xfrm>
          <a:prstGeom prst="rect">
            <a:avLst/>
          </a:prstGeom>
        </p:spPr>
      </p:pic>
      <p:sp>
        <p:nvSpPr>
          <p:cNvPr id="11" name="Rectangle 10">
            <a:extLst>
              <a:ext uri="{FF2B5EF4-FFF2-40B4-BE49-F238E27FC236}">
                <a16:creationId xmlns:a16="http://schemas.microsoft.com/office/drawing/2014/main" id="{83F91837-CC5D-1C4D-D326-1C59D15CFF74}"/>
              </a:ext>
            </a:extLst>
          </p:cNvPr>
          <p:cNvSpPr/>
          <p:nvPr/>
        </p:nvSpPr>
        <p:spPr>
          <a:xfrm>
            <a:off x="6630714" y="3254998"/>
            <a:ext cx="5332686" cy="2400657"/>
          </a:xfrm>
          <a:prstGeom prst="rect">
            <a:avLst/>
          </a:prstGeom>
        </p:spPr>
        <p:txBody>
          <a:bodyPr wrap="square" lIns="0" tIns="0" rIns="0" bIns="0" anchor="t">
            <a:spAutoFit/>
          </a:bodyPr>
          <a:lstStyle/>
          <a:p>
            <a:pPr marL="171450" indent="-171450">
              <a:spcBef>
                <a:spcPts val="1200"/>
              </a:spcBef>
              <a:buClr>
                <a:schemeClr val="tx2"/>
              </a:buClr>
              <a:buFont typeface="Segoe UI Light" panose="020B0502040204020203" pitchFamily="34" charset="0"/>
              <a:buChar char="›"/>
            </a:pPr>
            <a:r>
              <a:rPr lang="en-US" sz="1400" dirty="0">
                <a:latin typeface="Segoe UI Light (Body)"/>
              </a:rPr>
              <a:t> The time series analysis is performed on the incentives data for 6 months.</a:t>
            </a:r>
          </a:p>
          <a:p>
            <a:pPr marL="171450" indent="-171450">
              <a:spcBef>
                <a:spcPts val="1200"/>
              </a:spcBef>
              <a:buClr>
                <a:schemeClr val="tx2"/>
              </a:buClr>
              <a:buFont typeface="Segoe UI Light" panose="020B0502040204020203" pitchFamily="34" charset="0"/>
              <a:buChar char="›"/>
            </a:pPr>
            <a:r>
              <a:rPr lang="en-US" sz="1400" dirty="0">
                <a:latin typeface="Segoe UI Light (Body)"/>
              </a:rPr>
              <a:t>Comparing MSME and incentives data based on the unit name. created a column “Got incentive”. It takes the sum of the incentives received. Based on it, the awareness pact is calculated in terms of percentage. From the tables, awareness of the incentives is less than 60%.</a:t>
            </a:r>
          </a:p>
          <a:p>
            <a:pPr marL="171450" indent="-171450">
              <a:spcBef>
                <a:spcPts val="1200"/>
              </a:spcBef>
              <a:buClr>
                <a:schemeClr val="tx2"/>
              </a:buClr>
              <a:buFont typeface="Segoe UI Light" panose="020B0502040204020203" pitchFamily="34" charset="0"/>
              <a:buChar char="›"/>
            </a:pPr>
            <a:r>
              <a:rPr lang="en-US" sz="1400" dirty="0">
                <a:latin typeface="Segoe UI Light (Body)"/>
              </a:rPr>
              <a:t>The tables shows the monthly incentive awareness.</a:t>
            </a:r>
          </a:p>
          <a:p>
            <a:pPr marL="171450" indent="-171450">
              <a:spcBef>
                <a:spcPts val="1200"/>
              </a:spcBef>
              <a:buClr>
                <a:schemeClr val="tx2"/>
              </a:buClr>
              <a:buFont typeface="Segoe UI Light" panose="020B0502040204020203" pitchFamily="34" charset="0"/>
              <a:buChar char="›"/>
            </a:pPr>
            <a:endParaRPr lang="en-US" sz="1400" dirty="0">
              <a:latin typeface="Segoe UI Light (Body)"/>
            </a:endParaRPr>
          </a:p>
        </p:txBody>
      </p:sp>
      <p:sp>
        <p:nvSpPr>
          <p:cNvPr id="12" name="Rectangle 1">
            <a:extLst>
              <a:ext uri="{FF2B5EF4-FFF2-40B4-BE49-F238E27FC236}">
                <a16:creationId xmlns:a16="http://schemas.microsoft.com/office/drawing/2014/main" id="{A4989E9F-A5A7-4856-C9B4-437BFE651582}"/>
              </a:ext>
            </a:extLst>
          </p:cNvPr>
          <p:cNvSpPr>
            <a:spLocks noChangeArrowheads="1"/>
          </p:cNvSpPr>
          <p:nvPr/>
        </p:nvSpPr>
        <p:spPr bwMode="auto">
          <a:xfrm>
            <a:off x="458517" y="4993815"/>
            <a:ext cx="2205964" cy="1021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sz="1400" dirty="0">
                <a:solidFill>
                  <a:schemeClr val="tx1">
                    <a:lumMod val="75000"/>
                    <a:lumOff val="25000"/>
                  </a:schemeClr>
                </a:solidFill>
                <a:latin typeface="Segoe UI Light (Body)"/>
                <a:cs typeface="Segoe UI" panose="020B0502040204020203" pitchFamily="34" charset="0"/>
              </a:rPr>
              <a:t>Total MSMEs: 299 Units</a:t>
            </a: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sz="1400" dirty="0">
                <a:solidFill>
                  <a:schemeClr val="tx1">
                    <a:lumMod val="75000"/>
                    <a:lumOff val="25000"/>
                  </a:schemeClr>
                </a:solidFill>
                <a:latin typeface="Segoe UI Light (Body)"/>
                <a:cs typeface="Segoe UI" panose="020B0502040204020203" pitchFamily="34" charset="0"/>
              </a:rPr>
              <a:t>Received incentives: 125 </a:t>
            </a: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sz="1400" dirty="0">
                <a:solidFill>
                  <a:schemeClr val="tx1">
                    <a:lumMod val="75000"/>
                    <a:lumOff val="25000"/>
                  </a:schemeClr>
                </a:solidFill>
                <a:latin typeface="Segoe UI Light (Body)"/>
                <a:cs typeface="Segoe UI" panose="020B0502040204020203" pitchFamily="34" charset="0"/>
              </a:rPr>
              <a:t>Incentive usage: 41.81% </a:t>
            </a:r>
          </a:p>
        </p:txBody>
      </p:sp>
      <p:sp>
        <p:nvSpPr>
          <p:cNvPr id="14" name="Rectangle 1">
            <a:extLst>
              <a:ext uri="{FF2B5EF4-FFF2-40B4-BE49-F238E27FC236}">
                <a16:creationId xmlns:a16="http://schemas.microsoft.com/office/drawing/2014/main" id="{987E7CB7-47F0-9715-4E4F-EF493E77B75E}"/>
              </a:ext>
            </a:extLst>
          </p:cNvPr>
          <p:cNvSpPr>
            <a:spLocks noChangeArrowheads="1"/>
          </p:cNvSpPr>
          <p:nvPr/>
        </p:nvSpPr>
        <p:spPr bwMode="auto">
          <a:xfrm>
            <a:off x="2824279" y="4993815"/>
            <a:ext cx="3126720" cy="1021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sz="1400" dirty="0">
                <a:solidFill>
                  <a:schemeClr val="tx1">
                    <a:lumMod val="75000"/>
                    <a:lumOff val="25000"/>
                  </a:schemeClr>
                </a:solidFill>
                <a:latin typeface="Segoe UI Light (Body)"/>
                <a:cs typeface="Segoe UI" panose="020B0502040204020203" pitchFamily="34" charset="0"/>
              </a:rPr>
              <a:t>Overall, only 125 units have received the benefits. The non-receiving units are unaware of the incentives.</a:t>
            </a:r>
          </a:p>
        </p:txBody>
      </p:sp>
      <p:sp>
        <p:nvSpPr>
          <p:cNvPr id="3" name="Slide Number Placeholder 2">
            <a:extLst>
              <a:ext uri="{FF2B5EF4-FFF2-40B4-BE49-F238E27FC236}">
                <a16:creationId xmlns:a16="http://schemas.microsoft.com/office/drawing/2014/main" id="{0A8BC7AF-B2E9-B1D0-2778-F4041B6AB473}"/>
              </a:ext>
            </a:extLst>
          </p:cNvPr>
          <p:cNvSpPr>
            <a:spLocks noGrp="1"/>
          </p:cNvSpPr>
          <p:nvPr>
            <p:ph type="sldNum" sz="quarter" idx="12"/>
          </p:nvPr>
        </p:nvSpPr>
        <p:spPr/>
        <p:txBody>
          <a:bodyPr/>
          <a:lstStyle/>
          <a:p>
            <a:fld id="{06FEDF93-2BFD-41CA-ABC7-B039102F3792}" type="slidenum">
              <a:rPr lang="en-US" smtClean="0"/>
              <a:t>8</a:t>
            </a:fld>
            <a:endParaRPr lang="en-US" dirty="0"/>
          </a:p>
        </p:txBody>
      </p:sp>
    </p:spTree>
    <p:extLst>
      <p:ext uri="{BB962C8B-B14F-4D97-AF65-F5344CB8AC3E}">
        <p14:creationId xmlns:p14="http://schemas.microsoft.com/office/powerpoint/2010/main" val="3063533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2A6FA-E2BE-CBAB-9519-CA533DE8CAF4}"/>
            </a:ext>
          </a:extLst>
        </p:cNvPr>
        <p:cNvGrpSpPr/>
        <p:nvPr/>
      </p:nvGrpSpPr>
      <p:grpSpPr>
        <a:xfrm>
          <a:off x="0" y="0"/>
          <a:ext cx="0" cy="0"/>
          <a:chOff x="0" y="0"/>
          <a:chExt cx="0" cy="0"/>
        </a:xfrm>
      </p:grpSpPr>
      <p:sp>
        <p:nvSpPr>
          <p:cNvPr id="7" name="Title 6" hidden="1">
            <a:extLst>
              <a:ext uri="{FF2B5EF4-FFF2-40B4-BE49-F238E27FC236}">
                <a16:creationId xmlns:a16="http://schemas.microsoft.com/office/drawing/2014/main" id="{74CA509D-B893-F967-6410-2BEA5A382EB4}"/>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2" name="Straight Connector 1">
            <a:extLst>
              <a:ext uri="{FF2B5EF4-FFF2-40B4-BE49-F238E27FC236}">
                <a16:creationId xmlns:a16="http://schemas.microsoft.com/office/drawing/2014/main" id="{D3A8DD08-0733-798D-A5FA-E5F04BD1F530}"/>
              </a:ext>
              <a:ext uri="{C183D7F6-B498-43B3-948B-1728B52AA6E4}">
                <adec:decorative xmlns:adec="http://schemas.microsoft.com/office/drawing/2017/decorative" val="1"/>
              </a:ext>
            </a:extLst>
          </p:cNvPr>
          <p:cNvCxnSpPr>
            <a:cxnSpLocks/>
          </p:cNvCxnSpPr>
          <p:nvPr/>
        </p:nvCxnSpPr>
        <p:spPr>
          <a:xfrm>
            <a:off x="8522563" y="842495"/>
            <a:ext cx="366943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31931C9C-EB8F-CD7D-7267-EC92F95F1144}"/>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Recommendations</a:t>
            </a:r>
            <a:endParaRPr lang="en-US" sz="2800" dirty="0">
              <a:solidFill>
                <a:schemeClr val="tx1">
                  <a:lumMod val="75000"/>
                  <a:lumOff val="25000"/>
                </a:schemeClr>
              </a:solidFill>
            </a:endParaRPr>
          </a:p>
        </p:txBody>
      </p:sp>
      <p:cxnSp>
        <p:nvCxnSpPr>
          <p:cNvPr id="5" name="Straight Connector 4">
            <a:extLst>
              <a:ext uri="{FF2B5EF4-FFF2-40B4-BE49-F238E27FC236}">
                <a16:creationId xmlns:a16="http://schemas.microsoft.com/office/drawing/2014/main" id="{A66B7AE4-14CB-E1CF-4EC8-76EC8E9A775D}"/>
              </a:ext>
              <a:ext uri="{C183D7F6-B498-43B3-948B-1728B52AA6E4}">
                <adec:decorative xmlns:adec="http://schemas.microsoft.com/office/drawing/2017/decorative" val="1"/>
              </a:ext>
            </a:extLst>
          </p:cNvPr>
          <p:cNvCxnSpPr>
            <a:cxnSpLocks/>
          </p:cNvCxnSpPr>
          <p:nvPr/>
        </p:nvCxnSpPr>
        <p:spPr>
          <a:xfrm>
            <a:off x="0" y="842495"/>
            <a:ext cx="3568823"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99033A4D-1F2A-90BA-C161-E9CEE72BDE16}"/>
              </a:ext>
            </a:extLst>
          </p:cNvPr>
          <p:cNvSpPr/>
          <p:nvPr/>
        </p:nvSpPr>
        <p:spPr>
          <a:xfrm>
            <a:off x="435003" y="2272680"/>
            <a:ext cx="3311371" cy="4239081"/>
          </a:xfrm>
          <a:prstGeom prst="rect">
            <a:avLst/>
          </a:prstGeom>
          <a:solidFill>
            <a:schemeClr val="bg1">
              <a:lumMod val="95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r>
              <a:rPr lang="en-US" sz="1200" dirty="0">
                <a:solidFill>
                  <a:schemeClr val="tx1"/>
                </a:solidFill>
              </a:rPr>
              <a:t>Following the investment distributions as depicted below would be advantageous for export improvement. </a:t>
            </a:r>
          </a:p>
          <a:p>
            <a:pPr marL="171450" indent="-171450">
              <a:buFont typeface="Arial" panose="020B0604020202020204" pitchFamily="34" charset="0"/>
              <a:buChar char="•"/>
            </a:pPr>
            <a:r>
              <a:rPr lang="en-US" sz="1200" dirty="0">
                <a:solidFill>
                  <a:schemeClr val="tx1"/>
                </a:solidFill>
              </a:rPr>
              <a:t>Micro &amp; Small Enterprises (MSEs): 45-50% </a:t>
            </a:r>
          </a:p>
          <a:p>
            <a:pPr marL="171450" indent="-171450">
              <a:buFont typeface="Arial" panose="020B0604020202020204" pitchFamily="34" charset="0"/>
              <a:buChar char="•"/>
            </a:pPr>
            <a:r>
              <a:rPr lang="en-US" sz="1200" dirty="0">
                <a:solidFill>
                  <a:schemeClr val="tx1"/>
                </a:solidFill>
              </a:rPr>
              <a:t>Medium Enterprises (MEs): 30-35% </a:t>
            </a:r>
          </a:p>
          <a:p>
            <a:pPr marL="171450" indent="-171450">
              <a:buFont typeface="Arial" panose="020B0604020202020204" pitchFamily="34" charset="0"/>
              <a:buChar char="•"/>
            </a:pPr>
            <a:r>
              <a:rPr lang="en-US" sz="1200" dirty="0">
                <a:solidFill>
                  <a:schemeClr val="tx1"/>
                </a:solidFill>
              </a:rPr>
              <a:t>Mega Industries: 25-30% </a:t>
            </a:r>
          </a:p>
          <a:p>
            <a:endParaRPr lang="en-US" sz="1200" dirty="0">
              <a:solidFill>
                <a:schemeClr val="tx1"/>
              </a:solidFill>
            </a:endParaRPr>
          </a:p>
          <a:p>
            <a:r>
              <a:rPr lang="en-US" sz="1200" dirty="0">
                <a:solidFill>
                  <a:schemeClr val="tx1"/>
                </a:solidFill>
              </a:rPr>
              <a:t>Investments should also be concentrated on mega and medium-sized industries. Since mega and medium enterprises focus on export markets.</a:t>
            </a:r>
          </a:p>
          <a:p>
            <a:endParaRPr lang="en-US" sz="1200" dirty="0">
              <a:solidFill>
                <a:schemeClr val="tx1"/>
              </a:solidFill>
            </a:endParaRPr>
          </a:p>
          <a:p>
            <a:r>
              <a:rPr lang="en-US" sz="1200" dirty="0">
                <a:solidFill>
                  <a:schemeClr val="tx1"/>
                </a:solidFill>
              </a:rPr>
              <a:t>Encourage medium and mega industry investments by offering additional export-linked subsidies.</a:t>
            </a:r>
          </a:p>
          <a:p>
            <a:endParaRPr lang="en-US" sz="1200" dirty="0">
              <a:solidFill>
                <a:schemeClr val="tx1"/>
              </a:solidFill>
            </a:endParaRPr>
          </a:p>
          <a:p>
            <a:r>
              <a:rPr lang="en-US" sz="1200" dirty="0">
                <a:solidFill>
                  <a:schemeClr val="tx1"/>
                </a:solidFill>
              </a:rPr>
              <a:t>Establish Export Facilitation Centers in backward districts.</a:t>
            </a:r>
          </a:p>
          <a:p>
            <a:endParaRPr lang="en-US" sz="1200" dirty="0">
              <a:solidFill>
                <a:schemeClr val="tx1"/>
              </a:solidFill>
            </a:endParaRPr>
          </a:p>
          <a:p>
            <a:r>
              <a:rPr lang="en-US" sz="1200" dirty="0">
                <a:solidFill>
                  <a:schemeClr val="tx1"/>
                </a:solidFill>
              </a:rPr>
              <a:t>Global Partnerships – Facilitate tie-ups between Telangana MSMEs and foreign buyers via trade expos and </a:t>
            </a:r>
            <a:r>
              <a:rPr lang="en-US" sz="1200" dirty="0" err="1">
                <a:solidFill>
                  <a:schemeClr val="tx1"/>
                </a:solidFill>
              </a:rPr>
              <a:t>MoUs</a:t>
            </a:r>
            <a:r>
              <a:rPr lang="en-US" sz="1200" dirty="0">
                <a:solidFill>
                  <a:schemeClr val="tx1"/>
                </a:solidFill>
              </a:rPr>
              <a:t>.</a:t>
            </a:r>
          </a:p>
        </p:txBody>
      </p:sp>
      <p:sp>
        <p:nvSpPr>
          <p:cNvPr id="17" name="Rectangle: Rounded Corners 16">
            <a:extLst>
              <a:ext uri="{FF2B5EF4-FFF2-40B4-BE49-F238E27FC236}">
                <a16:creationId xmlns:a16="http://schemas.microsoft.com/office/drawing/2014/main" id="{EBBE1093-5E2C-22DB-8773-F4B39A733230}"/>
              </a:ext>
            </a:extLst>
          </p:cNvPr>
          <p:cNvSpPr/>
          <p:nvPr/>
        </p:nvSpPr>
        <p:spPr>
          <a:xfrm>
            <a:off x="435004" y="1065316"/>
            <a:ext cx="3311371" cy="1251743"/>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Prescriptions to improve exports</a:t>
            </a:r>
          </a:p>
        </p:txBody>
      </p:sp>
      <p:sp>
        <p:nvSpPr>
          <p:cNvPr id="18" name="Rectangle 17">
            <a:extLst>
              <a:ext uri="{FF2B5EF4-FFF2-40B4-BE49-F238E27FC236}">
                <a16:creationId xmlns:a16="http://schemas.microsoft.com/office/drawing/2014/main" id="{5C7DD2F4-DFF9-EEDF-2A4B-D91A573F1DAD}"/>
              </a:ext>
            </a:extLst>
          </p:cNvPr>
          <p:cNvSpPr/>
          <p:nvPr/>
        </p:nvSpPr>
        <p:spPr>
          <a:xfrm>
            <a:off x="4475823" y="2317057"/>
            <a:ext cx="3311371" cy="4194704"/>
          </a:xfrm>
          <a:prstGeom prst="rect">
            <a:avLst/>
          </a:prstGeom>
          <a:solidFill>
            <a:schemeClr val="bg1">
              <a:lumMod val="95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r>
              <a:rPr lang="en-US" sz="1200" dirty="0">
                <a:solidFill>
                  <a:schemeClr val="tx1"/>
                </a:solidFill>
              </a:rPr>
              <a:t>Unequal distribution of investments among the districts is also a reason for the poor export performance.</a:t>
            </a:r>
          </a:p>
          <a:p>
            <a:endParaRPr lang="en-US" sz="1200" dirty="0">
              <a:solidFill>
                <a:schemeClr val="tx1"/>
              </a:solidFill>
            </a:endParaRPr>
          </a:p>
          <a:p>
            <a:r>
              <a:rPr lang="en-US" sz="1200" dirty="0">
                <a:solidFill>
                  <a:schemeClr val="tx1"/>
                </a:solidFill>
              </a:rPr>
              <a:t>Introduce special investment packages for backward districts (tax rebates, faster clearances, land at concessional rates)..</a:t>
            </a:r>
          </a:p>
          <a:p>
            <a:endParaRPr lang="en-US" sz="1200" dirty="0">
              <a:solidFill>
                <a:schemeClr val="tx1"/>
              </a:solidFill>
            </a:endParaRPr>
          </a:p>
          <a:p>
            <a:r>
              <a:rPr lang="en-US" sz="1200" dirty="0">
                <a:solidFill>
                  <a:schemeClr val="tx1"/>
                </a:solidFill>
              </a:rPr>
              <a:t>Develop sector-specific industrial clusters in low-investment districts (example: food processing in Adilabad, textiles in Warangal).</a:t>
            </a:r>
          </a:p>
          <a:p>
            <a:endParaRPr lang="en-US" sz="1200" dirty="0">
              <a:solidFill>
                <a:schemeClr val="tx1"/>
              </a:solidFill>
            </a:endParaRPr>
          </a:p>
          <a:p>
            <a:r>
              <a:rPr lang="en-US" sz="1200" dirty="0">
                <a:solidFill>
                  <a:schemeClr val="tx1"/>
                </a:solidFill>
              </a:rPr>
              <a:t>The government should establish special export industrial zones to encourage industries in districts like Adilabad, Warangal, and </a:t>
            </a:r>
            <a:r>
              <a:rPr lang="en-US" sz="1200" dirty="0" err="1">
                <a:solidFill>
                  <a:schemeClr val="tx1"/>
                </a:solidFill>
              </a:rPr>
              <a:t>Bhupalpally</a:t>
            </a:r>
            <a:r>
              <a:rPr lang="en-US" sz="1200" dirty="0">
                <a:solidFill>
                  <a:schemeClr val="tx1"/>
                </a:solidFill>
              </a:rPr>
              <a:t>, among others.</a:t>
            </a:r>
          </a:p>
          <a:p>
            <a:endParaRPr lang="en-US" sz="1200" dirty="0">
              <a:solidFill>
                <a:schemeClr val="tx1"/>
              </a:solidFill>
            </a:endParaRPr>
          </a:p>
          <a:p>
            <a:r>
              <a:rPr lang="en-US" sz="1200" dirty="0">
                <a:solidFill>
                  <a:schemeClr val="tx1"/>
                </a:solidFill>
              </a:rPr>
              <a:t>If all districts receive an equal distribution of investments, employment will also be improved across the state.</a:t>
            </a:r>
          </a:p>
        </p:txBody>
      </p:sp>
      <p:sp>
        <p:nvSpPr>
          <p:cNvPr id="19" name="Rectangle: Rounded Corners 18">
            <a:extLst>
              <a:ext uri="{FF2B5EF4-FFF2-40B4-BE49-F238E27FC236}">
                <a16:creationId xmlns:a16="http://schemas.microsoft.com/office/drawing/2014/main" id="{8B070E9D-DFB1-D8DE-5366-380D5B6B11E5}"/>
              </a:ext>
            </a:extLst>
          </p:cNvPr>
          <p:cNvSpPr/>
          <p:nvPr/>
        </p:nvSpPr>
        <p:spPr>
          <a:xfrm>
            <a:off x="4475823" y="1065316"/>
            <a:ext cx="3311371" cy="1251743"/>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Interpretations for unequal distribution</a:t>
            </a:r>
          </a:p>
        </p:txBody>
      </p:sp>
      <p:sp>
        <p:nvSpPr>
          <p:cNvPr id="20" name="Rectangle 19">
            <a:extLst>
              <a:ext uri="{FF2B5EF4-FFF2-40B4-BE49-F238E27FC236}">
                <a16:creationId xmlns:a16="http://schemas.microsoft.com/office/drawing/2014/main" id="{12E24883-81F4-1134-1C41-2CA38B2A465C}"/>
              </a:ext>
            </a:extLst>
          </p:cNvPr>
          <p:cNvSpPr/>
          <p:nvPr/>
        </p:nvSpPr>
        <p:spPr>
          <a:xfrm>
            <a:off x="8438963" y="2317057"/>
            <a:ext cx="3311371" cy="4194704"/>
          </a:xfrm>
          <a:prstGeom prst="rect">
            <a:avLst/>
          </a:prstGeom>
          <a:solidFill>
            <a:schemeClr val="bg1">
              <a:lumMod val="95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r>
              <a:rPr lang="en-US" sz="1200" dirty="0">
                <a:solidFill>
                  <a:schemeClr val="tx1"/>
                </a:solidFill>
                <a:latin typeface="Segoe UI Light (Body)"/>
              </a:rPr>
              <a:t>The government should launch campaigns to promote industrial incentives across all districts and segments.</a:t>
            </a:r>
          </a:p>
          <a:p>
            <a:endParaRPr lang="en-US" sz="1200" dirty="0">
              <a:solidFill>
                <a:schemeClr val="tx1"/>
              </a:solidFill>
              <a:latin typeface="Segoe UI Light (Body)"/>
            </a:endParaRPr>
          </a:p>
          <a:p>
            <a:r>
              <a:rPr lang="en-US" sz="1200" dirty="0">
                <a:solidFill>
                  <a:schemeClr val="tx1"/>
                </a:solidFill>
                <a:latin typeface="Segoe UI Light (Body)"/>
              </a:rPr>
              <a:t>Focus on districts that do not have awareness of the incentive programs.</a:t>
            </a:r>
          </a:p>
          <a:p>
            <a:endParaRPr lang="en-US" sz="1200" dirty="0">
              <a:solidFill>
                <a:schemeClr val="tx1"/>
              </a:solidFill>
              <a:latin typeface="Segoe UI Light (Body)"/>
            </a:endParaRPr>
          </a:p>
          <a:p>
            <a:r>
              <a:rPr lang="en-US" sz="1200" dirty="0">
                <a:solidFill>
                  <a:schemeClr val="tx1"/>
                </a:solidFill>
                <a:latin typeface="Segoe UI Light (Body)"/>
              </a:rPr>
              <a:t>The government should provide more incentives and loans for mega industries to promote the export business.</a:t>
            </a:r>
          </a:p>
          <a:p>
            <a:endParaRPr lang="en-US" sz="1200" dirty="0">
              <a:solidFill>
                <a:schemeClr val="tx1"/>
              </a:solidFill>
              <a:latin typeface="Segoe UI Light (Body)"/>
            </a:endParaRPr>
          </a:p>
          <a:p>
            <a:r>
              <a:rPr lang="en-US" sz="1200" dirty="0">
                <a:solidFill>
                  <a:schemeClr val="tx1"/>
                </a:solidFill>
                <a:latin typeface="Segoe UI Light (Body)"/>
              </a:rPr>
              <a:t>Adilabad has low incentives as per the Analysis. More awareness programs are to be conducted in this District, along with encouraging investors to increase their Investment to enhance its export productivity.</a:t>
            </a:r>
          </a:p>
          <a:p>
            <a:endParaRPr lang="en-US" sz="1200" dirty="0">
              <a:solidFill>
                <a:schemeClr val="tx1"/>
              </a:solidFill>
              <a:latin typeface="Segoe UI Light (Body)"/>
            </a:endParaRPr>
          </a:p>
          <a:p>
            <a:r>
              <a:rPr lang="en-US" sz="1200" dirty="0">
                <a:solidFill>
                  <a:schemeClr val="tx1"/>
                </a:solidFill>
                <a:latin typeface="Segoe UI Light (Body)"/>
              </a:rPr>
              <a:t>Launch digital portals &amp; mobile apps for easy access to scheme details, application tracking, and grievance redressal.</a:t>
            </a:r>
          </a:p>
          <a:p>
            <a:endParaRPr lang="en-US" sz="1200" dirty="0">
              <a:solidFill>
                <a:schemeClr val="tx1"/>
              </a:solidFill>
              <a:latin typeface="Segoe UI Light (Body)"/>
            </a:endParaRPr>
          </a:p>
        </p:txBody>
      </p:sp>
      <p:sp>
        <p:nvSpPr>
          <p:cNvPr id="21" name="Rectangle: Rounded Corners 20">
            <a:extLst>
              <a:ext uri="{FF2B5EF4-FFF2-40B4-BE49-F238E27FC236}">
                <a16:creationId xmlns:a16="http://schemas.microsoft.com/office/drawing/2014/main" id="{A4E9A500-A981-0D03-C291-B3AE84F0ACBB}"/>
              </a:ext>
            </a:extLst>
          </p:cNvPr>
          <p:cNvSpPr/>
          <p:nvPr/>
        </p:nvSpPr>
        <p:spPr>
          <a:xfrm>
            <a:off x="8438963" y="1065316"/>
            <a:ext cx="3311371" cy="1251743"/>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Suggestions for low awareness of incentives</a:t>
            </a:r>
          </a:p>
        </p:txBody>
      </p:sp>
      <p:sp>
        <p:nvSpPr>
          <p:cNvPr id="3" name="Slide Number Placeholder 2">
            <a:extLst>
              <a:ext uri="{FF2B5EF4-FFF2-40B4-BE49-F238E27FC236}">
                <a16:creationId xmlns:a16="http://schemas.microsoft.com/office/drawing/2014/main" id="{D008892C-9A5F-7F7B-27EA-45E4041B5837}"/>
              </a:ext>
            </a:extLst>
          </p:cNvPr>
          <p:cNvSpPr>
            <a:spLocks noGrp="1"/>
          </p:cNvSpPr>
          <p:nvPr>
            <p:ph type="sldNum" sz="quarter" idx="12"/>
          </p:nvPr>
        </p:nvSpPr>
        <p:spPr/>
        <p:txBody>
          <a:bodyPr/>
          <a:lstStyle/>
          <a:p>
            <a:fld id="{06FEDF93-2BFD-41CA-ABC7-B039102F3792}" type="slidenum">
              <a:rPr lang="en-US" smtClean="0"/>
              <a:t>9</a:t>
            </a:fld>
            <a:endParaRPr lang="en-US" dirty="0"/>
          </a:p>
        </p:txBody>
      </p:sp>
    </p:spTree>
    <p:extLst>
      <p:ext uri="{BB962C8B-B14F-4D97-AF65-F5344CB8AC3E}">
        <p14:creationId xmlns:p14="http://schemas.microsoft.com/office/powerpoint/2010/main" val="3631274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FAD9B-1572-A8B8-FAFD-CA86CE1BE169}"/>
            </a:ext>
          </a:extLst>
        </p:cNvPr>
        <p:cNvGrpSpPr/>
        <p:nvPr/>
      </p:nvGrpSpPr>
      <p:grpSpPr>
        <a:xfrm>
          <a:off x="0" y="0"/>
          <a:ext cx="0" cy="0"/>
          <a:chOff x="0" y="0"/>
          <a:chExt cx="0" cy="0"/>
        </a:xfrm>
      </p:grpSpPr>
      <p:sp>
        <p:nvSpPr>
          <p:cNvPr id="7" name="Title 6" hidden="1">
            <a:extLst>
              <a:ext uri="{FF2B5EF4-FFF2-40B4-BE49-F238E27FC236}">
                <a16:creationId xmlns:a16="http://schemas.microsoft.com/office/drawing/2014/main" id="{1FC1C993-B239-8817-EAFC-951907ED5A9F}"/>
              </a:ext>
            </a:extLst>
          </p:cNvPr>
          <p:cNvSpPr>
            <a:spLocks noGrp="1"/>
          </p:cNvSpPr>
          <p:nvPr>
            <p:ph type="title" idx="4294967295"/>
          </p:nvPr>
        </p:nvSpPr>
        <p:spPr>
          <a:xfrm>
            <a:off x="0" y="365125"/>
            <a:ext cx="10515600" cy="1325563"/>
          </a:xfrm>
        </p:spPr>
        <p:txBody>
          <a:bodyPr/>
          <a:lstStyle/>
          <a:p>
            <a:r>
              <a:rPr lang="en-US" dirty="0"/>
              <a:t>Project analysis slide 6</a:t>
            </a:r>
          </a:p>
        </p:txBody>
      </p:sp>
      <p:cxnSp>
        <p:nvCxnSpPr>
          <p:cNvPr id="2" name="Straight Connector 1">
            <a:extLst>
              <a:ext uri="{FF2B5EF4-FFF2-40B4-BE49-F238E27FC236}">
                <a16:creationId xmlns:a16="http://schemas.microsoft.com/office/drawing/2014/main" id="{6945005D-B358-26F1-A947-4DDCAE9EA957}"/>
              </a:ext>
              <a:ext uri="{C183D7F6-B498-43B3-948B-1728B52AA6E4}">
                <adec:decorative xmlns:adec="http://schemas.microsoft.com/office/drawing/2017/decorative" val="1"/>
              </a:ext>
            </a:extLst>
          </p:cNvPr>
          <p:cNvCxnSpPr>
            <a:cxnSpLocks/>
          </p:cNvCxnSpPr>
          <p:nvPr/>
        </p:nvCxnSpPr>
        <p:spPr>
          <a:xfrm>
            <a:off x="8522563" y="842495"/>
            <a:ext cx="366943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E7A734AC-B296-69EA-E132-3ECC674E530C}"/>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Conclusion</a:t>
            </a:r>
            <a:endParaRPr lang="en-US" sz="2800" dirty="0">
              <a:solidFill>
                <a:schemeClr val="tx1">
                  <a:lumMod val="75000"/>
                  <a:lumOff val="25000"/>
                </a:schemeClr>
              </a:solidFill>
            </a:endParaRPr>
          </a:p>
        </p:txBody>
      </p:sp>
      <p:cxnSp>
        <p:nvCxnSpPr>
          <p:cNvPr id="5" name="Straight Connector 4">
            <a:extLst>
              <a:ext uri="{FF2B5EF4-FFF2-40B4-BE49-F238E27FC236}">
                <a16:creationId xmlns:a16="http://schemas.microsoft.com/office/drawing/2014/main" id="{39C643CB-5281-0775-43CB-57258ABF30F8}"/>
              </a:ext>
              <a:ext uri="{C183D7F6-B498-43B3-948B-1728B52AA6E4}">
                <adec:decorative xmlns:adec="http://schemas.microsoft.com/office/drawing/2017/decorative" val="1"/>
              </a:ext>
            </a:extLst>
          </p:cNvPr>
          <p:cNvCxnSpPr>
            <a:cxnSpLocks/>
          </p:cNvCxnSpPr>
          <p:nvPr/>
        </p:nvCxnSpPr>
        <p:spPr>
          <a:xfrm>
            <a:off x="0" y="842495"/>
            <a:ext cx="3568823"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1E1FF688-26C6-810E-6549-2A749886048B}"/>
              </a:ext>
            </a:extLst>
          </p:cNvPr>
          <p:cNvSpPr/>
          <p:nvPr/>
        </p:nvSpPr>
        <p:spPr>
          <a:xfrm>
            <a:off x="902480" y="1399565"/>
            <a:ext cx="10025932" cy="4401205"/>
          </a:xfrm>
          <a:prstGeom prst="rect">
            <a:avLst/>
          </a:prstGeom>
        </p:spPr>
        <p:txBody>
          <a:bodyPr wrap="square" lIns="0" tIns="0" rIns="0" bIns="0" anchor="t">
            <a:spAutoFit/>
          </a:bodyPr>
          <a:lstStyle/>
          <a:p>
            <a:pPr marL="285750" indent="-285750">
              <a:spcBef>
                <a:spcPts val="1200"/>
              </a:spcBef>
              <a:buClr>
                <a:schemeClr val="tx2"/>
              </a:buClr>
              <a:buFont typeface="Wingdings" panose="05000000000000000000" pitchFamily="2" charset="2"/>
              <a:buChar char="q"/>
            </a:pPr>
            <a:r>
              <a:rPr lang="en-US" sz="1400" dirty="0">
                <a:latin typeface="Segoe UI Light (Body)"/>
              </a:rPr>
              <a:t>The analysis of industrial growth in Telangana’s backward districts highlights three significant challenges:</a:t>
            </a:r>
          </a:p>
          <a:p>
            <a:pPr marL="742950" lvl="1" indent="-285750">
              <a:spcBef>
                <a:spcPts val="1200"/>
              </a:spcBef>
              <a:buClr>
                <a:schemeClr val="tx2"/>
              </a:buClr>
              <a:buFont typeface="Wingdings" panose="05000000000000000000" pitchFamily="2" charset="2"/>
              <a:buChar char="v"/>
            </a:pPr>
            <a:r>
              <a:rPr lang="en-US" sz="1400" dirty="0">
                <a:latin typeface="Segoe UI Light (Body)"/>
              </a:rPr>
              <a:t>Low exports despite high investments, due to concentration in micro and small-scale industries.</a:t>
            </a:r>
          </a:p>
          <a:p>
            <a:pPr marL="742950" lvl="1" indent="-285750">
              <a:spcBef>
                <a:spcPts val="1200"/>
              </a:spcBef>
              <a:buClr>
                <a:schemeClr val="tx2"/>
              </a:buClr>
              <a:buFont typeface="Wingdings" panose="05000000000000000000" pitchFamily="2" charset="2"/>
              <a:buChar char="v"/>
            </a:pPr>
            <a:r>
              <a:rPr lang="en-US" sz="1400" dirty="0">
                <a:latin typeface="Segoe UI Light (Body)"/>
              </a:rPr>
              <a:t>Unequal investment distribution, with most funds flowing into only three districts.</a:t>
            </a:r>
          </a:p>
          <a:p>
            <a:pPr marL="742950" lvl="1" indent="-285750">
              <a:spcBef>
                <a:spcPts val="1200"/>
              </a:spcBef>
              <a:buClr>
                <a:schemeClr val="tx2"/>
              </a:buClr>
              <a:buFont typeface="Wingdings" panose="05000000000000000000" pitchFamily="2" charset="2"/>
              <a:buChar char="v"/>
            </a:pPr>
            <a:r>
              <a:rPr lang="en-US" sz="1400" dirty="0">
                <a:latin typeface="Segoe UI Light (Body)"/>
              </a:rPr>
              <a:t>Low awareness of government incentives, which prevents MSMEs in many districts from accessing available benefits.</a:t>
            </a:r>
          </a:p>
          <a:p>
            <a:pPr marL="285750" indent="-285750">
              <a:spcBef>
                <a:spcPts val="1200"/>
              </a:spcBef>
              <a:buClr>
                <a:schemeClr val="tx2"/>
              </a:buClr>
              <a:buFont typeface="Wingdings" panose="05000000000000000000" pitchFamily="2" charset="2"/>
              <a:buChar char="q"/>
            </a:pPr>
            <a:r>
              <a:rPr lang="en-US" sz="1400" dirty="0">
                <a:latin typeface="Segoe UI Light (Body)"/>
              </a:rPr>
              <a:t>Despite these issues, Telangana has immense potential for industrial diversification and export growth. By strategically shifting investments towards medium and large enterprises, ensuring equitable investment across all districts, and improving awareness of industrial incentives, the state can foster inclusive and sustainable industrial growth.</a:t>
            </a:r>
          </a:p>
          <a:p>
            <a:pPr marL="285750" indent="-285750">
              <a:spcBef>
                <a:spcPts val="1200"/>
              </a:spcBef>
              <a:buClr>
                <a:schemeClr val="tx2"/>
              </a:buClr>
              <a:buFont typeface="Wingdings" panose="05000000000000000000" pitchFamily="2" charset="2"/>
              <a:buChar char="q"/>
            </a:pPr>
            <a:endParaRPr lang="en-US" sz="1400" dirty="0">
              <a:latin typeface="Segoe UI Light (Body)"/>
            </a:endParaRPr>
          </a:p>
          <a:p>
            <a:pPr>
              <a:spcBef>
                <a:spcPts val="1200"/>
              </a:spcBef>
              <a:buClr>
                <a:schemeClr val="tx2"/>
              </a:buClr>
            </a:pPr>
            <a:r>
              <a:rPr lang="en-US" sz="1400" b="1" dirty="0">
                <a:latin typeface="Segoe UI Light (Body)"/>
              </a:rPr>
              <a:t>Next Steps</a:t>
            </a:r>
          </a:p>
          <a:p>
            <a:pPr marL="285750" indent="-285750">
              <a:spcBef>
                <a:spcPts val="1200"/>
              </a:spcBef>
              <a:buClr>
                <a:schemeClr val="tx2"/>
              </a:buClr>
              <a:buFont typeface="Wingdings" panose="05000000000000000000" pitchFamily="2" charset="2"/>
              <a:buChar char="q"/>
            </a:pPr>
            <a:r>
              <a:rPr lang="en-US" sz="1400" dirty="0">
                <a:latin typeface="Segoe UI Light (Body)"/>
              </a:rPr>
              <a:t>Policy – The Telangana government should adopt a “Balanced Industrial Development Policy” to reduce regional disparities and focus on export-oriented industries.</a:t>
            </a:r>
          </a:p>
          <a:p>
            <a:pPr marL="285750" indent="-285750">
              <a:spcBef>
                <a:spcPts val="1200"/>
              </a:spcBef>
              <a:buClr>
                <a:schemeClr val="tx2"/>
              </a:buClr>
              <a:buFont typeface="Wingdings" panose="05000000000000000000" pitchFamily="2" charset="2"/>
              <a:buChar char="q"/>
            </a:pPr>
            <a:r>
              <a:rPr lang="en-US" sz="1400" dirty="0">
                <a:latin typeface="Segoe UI Light (Body)"/>
              </a:rPr>
              <a:t>Monitoring – Develop a District Industrial Performance Dashboard to track investment, exports, and incentive utilization in real-time.</a:t>
            </a:r>
          </a:p>
          <a:p>
            <a:pPr marL="285750" indent="-285750">
              <a:spcBef>
                <a:spcPts val="1200"/>
              </a:spcBef>
              <a:buClr>
                <a:schemeClr val="tx2"/>
              </a:buClr>
              <a:buFont typeface="Wingdings" panose="05000000000000000000" pitchFamily="2" charset="2"/>
              <a:buChar char="q"/>
            </a:pPr>
            <a:r>
              <a:rPr lang="en-US" sz="1400" dirty="0">
                <a:latin typeface="Segoe UI Light (Body)"/>
              </a:rPr>
              <a:t> Public–Private Partnerships (PPP) – Encourage PPP models to build industrial parks in low-investment districts.</a:t>
            </a:r>
          </a:p>
        </p:txBody>
      </p:sp>
      <p:sp>
        <p:nvSpPr>
          <p:cNvPr id="16" name="TextBox 15">
            <a:extLst>
              <a:ext uri="{FF2B5EF4-FFF2-40B4-BE49-F238E27FC236}">
                <a16:creationId xmlns:a16="http://schemas.microsoft.com/office/drawing/2014/main" id="{8760C8A8-5FED-DF4D-84FB-4B16CD76BFFD}"/>
              </a:ext>
            </a:extLst>
          </p:cNvPr>
          <p:cNvSpPr txBox="1"/>
          <p:nvPr/>
        </p:nvSpPr>
        <p:spPr>
          <a:xfrm>
            <a:off x="5308847" y="6098957"/>
            <a:ext cx="2281562" cy="646331"/>
          </a:xfrm>
          <a:prstGeom prst="rect">
            <a:avLst/>
          </a:prstGeom>
          <a:noFill/>
        </p:spPr>
        <p:txBody>
          <a:bodyPr wrap="square" rtlCol="0">
            <a:spAutoFit/>
          </a:bodyPr>
          <a:lstStyle/>
          <a:p>
            <a:r>
              <a:rPr lang="en-US" sz="3600" b="1" dirty="0">
                <a:solidFill>
                  <a:srgbClr val="00B0F0"/>
                </a:solidFill>
              </a:rPr>
              <a:t>Thank you</a:t>
            </a:r>
            <a:r>
              <a:rPr lang="en-US" sz="3200" b="1" dirty="0">
                <a:solidFill>
                  <a:srgbClr val="00B0F0"/>
                </a:solidFill>
              </a:rPr>
              <a:t>.</a:t>
            </a:r>
          </a:p>
        </p:txBody>
      </p:sp>
      <p:sp>
        <p:nvSpPr>
          <p:cNvPr id="3" name="Slide Number Placeholder 2">
            <a:extLst>
              <a:ext uri="{FF2B5EF4-FFF2-40B4-BE49-F238E27FC236}">
                <a16:creationId xmlns:a16="http://schemas.microsoft.com/office/drawing/2014/main" id="{33B80945-53C6-76F3-510B-9FF81E4091B7}"/>
              </a:ext>
            </a:extLst>
          </p:cNvPr>
          <p:cNvSpPr>
            <a:spLocks noGrp="1"/>
          </p:cNvSpPr>
          <p:nvPr>
            <p:ph type="sldNum" sz="quarter" idx="12"/>
          </p:nvPr>
        </p:nvSpPr>
        <p:spPr/>
        <p:txBody>
          <a:bodyPr/>
          <a:lstStyle/>
          <a:p>
            <a:fld id="{06FEDF93-2BFD-41CA-ABC7-B039102F3792}" type="slidenum">
              <a:rPr lang="en-US" smtClean="0"/>
              <a:t>10</a:t>
            </a:fld>
            <a:endParaRPr lang="en-US" dirty="0"/>
          </a:p>
        </p:txBody>
      </p:sp>
    </p:spTree>
    <p:extLst>
      <p:ext uri="{BB962C8B-B14F-4D97-AF65-F5344CB8AC3E}">
        <p14:creationId xmlns:p14="http://schemas.microsoft.com/office/powerpoint/2010/main" val="2188359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theme/theme1.xml><?xml version="1.0" encoding="utf-8"?>
<a:theme xmlns:a="http://schemas.openxmlformats.org/drawingml/2006/main" name="Office Them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455520_Project analysis, from 24Slides_SL_V1.potx" id="{55E7247F-78B2-40DB-9AFE-D4DD42FA8F09}" vid="{22E2FD65-A32D-4798-AF43-CE42F250BD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C05513FE18E80458B27935EF13E2892" ma:contentTypeVersion="11" ma:contentTypeDescription="Create a new document." ma:contentTypeScope="" ma:versionID="542707ce32b3f2218c5b1f02f04c8349">
  <xsd:schema xmlns:xsd="http://www.w3.org/2001/XMLSchema" xmlns:xs="http://www.w3.org/2001/XMLSchema" xmlns:p="http://schemas.microsoft.com/office/2006/metadata/properties" xmlns:ns2="ba4bf151-6282-4192-8b77-7098cdc77383" targetNamespace="http://schemas.microsoft.com/office/2006/metadata/properties" ma:root="true" ma:fieldsID="7d8ac2882c8601a851ae037711890179" ns2:_="">
    <xsd:import namespace="ba4bf151-6282-4192-8b77-7098cdc7738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a4bf151-6282-4192-8b77-7098cdc7738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7dec0fe3-a424-415b-a0c1-54d1a780b527"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a4bf151-6282-4192-8b77-7098cdc7738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4C5B4CF-33F6-4163-8154-0901B6AC3912}"/>
</file>

<file path=customXml/itemProps2.xml><?xml version="1.0" encoding="utf-8"?>
<ds:datastoreItem xmlns:ds="http://schemas.openxmlformats.org/officeDocument/2006/customXml" ds:itemID="{2FD05317-60D6-4B3A-8545-888496D1A8EC}">
  <ds:schemaRefs>
    <ds:schemaRef ds:uri="http://schemas.microsoft.com/sharepoint/v3/contenttype/forms"/>
  </ds:schemaRefs>
</ds:datastoreItem>
</file>

<file path=customXml/itemProps3.xml><?xml version="1.0" encoding="utf-8"?>
<ds:datastoreItem xmlns:ds="http://schemas.openxmlformats.org/officeDocument/2006/customXml" ds:itemID="{EF609EDA-869E-4BE5-AE5D-B898C584B6FF}">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Project analysis, from 24Slides</Template>
  <TotalTime>278</TotalTime>
  <Words>1610</Words>
  <Application>Microsoft Office PowerPoint</Application>
  <PresentationFormat>Widescreen</PresentationFormat>
  <Paragraphs>155</Paragraphs>
  <Slides>10</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Abadi</vt:lpstr>
      <vt:lpstr>Arial</vt:lpstr>
      <vt:lpstr>Calibri</vt:lpstr>
      <vt:lpstr>Century Gothic</vt:lpstr>
      <vt:lpstr>Segoe UI</vt:lpstr>
      <vt:lpstr>Segoe UI Light</vt:lpstr>
      <vt:lpstr>Segoe UI Light (Body)</vt:lpstr>
      <vt:lpstr>Wingdings</vt:lpstr>
      <vt:lpstr>Office Theme</vt:lpstr>
      <vt:lpstr>INDUSTRIAL GROWTH IN TELANGANA BACKWARD DISTRICTS. BDM Capstone Project</vt:lpstr>
      <vt:lpstr>PowerPoint Presentation</vt:lpstr>
      <vt:lpstr>Project analysis slide 3</vt:lpstr>
      <vt:lpstr>Project analysis slide 8</vt:lpstr>
      <vt:lpstr>Project analysis slide 6</vt:lpstr>
      <vt:lpstr>Project analysis slide 6</vt:lpstr>
      <vt:lpstr>Project analysis slide 6</vt:lpstr>
      <vt:lpstr>Project analysis slide 6</vt:lpstr>
      <vt:lpstr>Project analysis slide 6</vt:lpstr>
      <vt:lpstr>Project analysis 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Palatla</dc:creator>
  <cp:lastModifiedBy>Srikanth Palatla</cp:lastModifiedBy>
  <cp:revision>11</cp:revision>
  <dcterms:created xsi:type="dcterms:W3CDTF">2025-08-25T17:53:43Z</dcterms:created>
  <dcterms:modified xsi:type="dcterms:W3CDTF">2025-08-25T22:34:18Z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0x0101007C05513FE18E80458B27935EF13E2892</vt:lpwstr>
  </property>
</Properties>
</file>